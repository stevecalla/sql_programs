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000"/>
              <a:t>SLIDE 1 — Title / Overview</a:t>
            </a:r>
            <a:endParaRPr lang="en-US" dirty="0"/>
          </a:p>
          <a:p/>
          <a:p>
            <a:r>
              <a:rPr sz="1000"/>
              <a:t>Context: This deck walks through a 6-step analysis of USAT sanctioned events: 2025 vs 2026 YoY.</a:t>
            </a:r>
          </a:p>
          <a:p/>
          <a:p>
            <a:r>
              <a:rPr sz="1000"/>
              <a:t>Headline numbers:</a:t>
            </a:r>
          </a:p>
          <a:p>
            <a:r>
              <a:rPr sz="1000"/>
              <a:t>- Net change: -12 events (1,178 to 1,166), a modest -1.0%</a:t>
            </a:r>
          </a:p>
          <a:p>
            <a:r>
              <a:rPr sz="1000"/>
              <a:t>- Composition matters more than the headline: Adult Clinic is the sole driver of the decline (-12.4%)</a:t>
            </a:r>
          </a:p>
          <a:p>
            <a:r>
              <a:rPr sz="1000"/>
              <a:t>- July and August are the two worst months (-16 and -18) with zero calendar explanation -- fully organic</a:t>
            </a:r>
          </a:p>
          <a:p>
            <a:r>
              <a:rPr sz="1000"/>
              <a:t>- Youth Clinic is the only event type growing (+17.2%) -- a genuine bright spot</a:t>
            </a:r>
          </a:p>
          <a:p/>
          <a:p>
            <a:r>
              <a:rPr sz="1000"/>
              <a:t>Data note: Excludes Cancelled, Declined, and Deleted events. Event-level matching is ~85-90% reliable. Working with Liz to clean remaining unmatched events for future automation.</a:t>
            </a:r>
          </a:p>
          <a:p/>
          <a:p>
            <a:r>
              <a:rPr sz="1000"/>
              <a:t>Framework overview:</a:t>
            </a:r>
          </a:p>
          <a:p>
            <a:r>
              <a:rPr sz="1000"/>
              <a:t>Step 0: What changed by type?</a:t>
            </a:r>
          </a:p>
          <a:p>
            <a:r>
              <a:rPr sz="1000"/>
              <a:t>Step 1: Which months drove the change?</a:t>
            </a:r>
          </a:p>
          <a:p>
            <a:r>
              <a:rPr sz="1000"/>
              <a:t>Step 2: Is the calendar to blame? (No.)</a:t>
            </a:r>
          </a:p>
          <a:p>
            <a:r>
              <a:rPr sz="1000"/>
              <a:t>Step 3: What is the true organic performance?</a:t>
            </a:r>
          </a:p>
          <a:p>
            <a:r>
              <a:rPr sz="1000"/>
              <a:t>Step 4: Did we really lose events at the event level?</a:t>
            </a:r>
          </a:p>
          <a:p>
            <a:r>
              <a:rPr sz="1000"/>
              <a:t>Step 5: What does the application pipeline tell us about opportunities?</a:t>
            </a:r>
          </a:p>
          <a:p>
            <a:r>
              <a:rPr sz="1000"/>
              <a:t>Step 6: What are the July/August win-back opportunities?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000"/>
              <a:t>SLIDE 2 — Step 0: What Changed? Event Counts by Type</a:t>
            </a:r>
            <a:endParaRPr lang="en-US" dirty="0"/>
          </a:p>
          <a:p/>
          <a:p>
            <a:r>
              <a:rPr sz="1000"/>
              <a:t>Key message: The -12 net decline is entirely explained by Adult Clinic. All other types are within normal variation.</a:t>
            </a:r>
          </a:p>
          <a:p/>
          <a:p>
            <a:r>
              <a:rPr sz="1000"/>
              <a:t>By type:</a:t>
            </a:r>
          </a:p>
          <a:p>
            <a:r>
              <a:rPr sz="1000"/>
              <a:t>- Adult Race: 823 to 822 (-1, -0.1%) -- essentially flat. No race product problem.</a:t>
            </a:r>
          </a:p>
          <a:p>
            <a:r>
              <a:rPr sz="1000"/>
              <a:t>- Youth Race: 229 to 225 (-4, -1.7%) -- mild softness, within normal range.</a:t>
            </a:r>
          </a:p>
          <a:p>
            <a:r>
              <a:rPr sz="1000"/>
              <a:t>- Adult Clinic: 97 to 85 (-12, -12.4%) -- structural contraction. This is the sole driver.</a:t>
            </a:r>
          </a:p>
          <a:p>
            <a:r>
              <a:rPr sz="1000"/>
              <a:t>- Youth Clinic: 29 to 34 (+5, +17.2%) -- the only growing type. Genuine organic growth.</a:t>
            </a:r>
          </a:p>
          <a:p>
            <a:r>
              <a:rPr sz="1000"/>
              <a:t>- TOTAL: 1,178 to 1,166 (-12, -1.0%)</a:t>
            </a:r>
          </a:p>
          <a:p/>
          <a:p>
            <a:r>
              <a:rPr sz="1000"/>
              <a:t>Talking point: If you exclude Adult Clinic, the race portfolio is flat. The question is whether the clinic decline is a demand problem, a supply problem, or a structural shift in how events are formatted.</a:t>
            </a:r>
          </a:p>
          <a:p/>
          <a:p>
            <a:r>
              <a:rPr sz="1000"/>
              <a:t>Youth Clinic growth (+17.2%) suggests appetite for shorter-format, lower-barrier youth programming is increasing. This may be a product and marketing opportunity.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000"/>
              <a:t>SLIDE 3 — Step 1: Monthly Breakdown</a:t>
            </a:r>
            <a:endParaRPr lang="en-US" dirty="0"/>
          </a:p>
          <a:p/>
          <a:p>
            <a:r>
              <a:rPr sz="1000"/>
              <a:t>Key message: July (-16) and August (-18) account for more than the full annual decline. Without those two months, the rest of the year is net positive.</a:t>
            </a:r>
          </a:p>
          <a:p/>
          <a:p>
            <a:r>
              <a:rPr sz="1000"/>
              <a:t>Monthly highlights:</a:t>
            </a:r>
          </a:p>
          <a:p>
            <a:r>
              <a:rPr sz="1000"/>
              <a:t>- Best months: June +10, October +11, March +8, April +5, January +7</a:t>
            </a:r>
          </a:p>
          <a:p>
            <a:r>
              <a:rPr sz="1000"/>
              <a:t>- Worst months: August -18, July -16, February -9, November -9</a:t>
            </a:r>
          </a:p>
          <a:p>
            <a:r>
              <a:rPr sz="1000"/>
              <a:t>- Full year: 1,178 to 1,166 = -12</a:t>
            </a:r>
          </a:p>
          <a:p/>
          <a:p>
            <a:r>
              <a:rPr sz="1000"/>
              <a:t>Type detail for July and August:</a:t>
            </a:r>
          </a:p>
          <a:p>
            <a:r>
              <a:rPr sz="1000"/>
              <a:t>- July: Adult Race -8, Youth Race -8. Clinics = 0 impact.</a:t>
            </a:r>
          </a:p>
          <a:p>
            <a:r>
              <a:rPr sz="1000"/>
              <a:t>- August: Adult Race -6, Youth Race -9, Youth Clinic -3.</a:t>
            </a:r>
          </a:p>
          <a:p>
            <a:r>
              <a:rPr sz="1000"/>
              <a:t>- The summer problem is a RACE product issue, not a clinic issue.</a:t>
            </a:r>
          </a:p>
          <a:p/>
          <a:p>
            <a:r>
              <a:rPr sz="1000"/>
              <a:t>Talking point: June (+10) and October (+11) are the two strongest months, driven by both organic demand and new event additions. The shoulder season is holding; the peak season is underperforming.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000"/>
              <a:t>SLIDE 4 — Step 2: Is This a Calendar Effect? No.</a:t>
            </a:r>
            <a:endParaRPr lang="en-US" dirty="0"/>
          </a:p>
          <a:p/>
          <a:p>
            <a:r>
              <a:rPr sz="1000"/>
              <a:t>Key message: July and August had ZERO change in weekend days between 2025 and 2026. There is no calendar alibi for the summer declines -- they are fully organic.</a:t>
            </a:r>
          </a:p>
          <a:p/>
          <a:p>
            <a:r>
              <a:rPr sz="1000"/>
              <a:t>Methodology: Counts Saturdays AND Sundays. Calendar Expected Delta = delta weekend days x 2025 events-per-weekend-day for that month/type. Organic Delta = Actual Delta minus Calendar Expected Delta.</a:t>
            </a:r>
          </a:p>
          <a:p/>
          <a:p>
            <a:r>
              <a:rPr sz="1000"/>
              <a:t>Key findings:</a:t>
            </a:r>
          </a:p>
          <a:p>
            <a:r>
              <a:rPr sz="1000"/>
              <a:t>- July: 0 weekend-day change, calendar expected 0, actual -16, organic -16 (fully organic)</a:t>
            </a:r>
          </a:p>
          <a:p>
            <a:r>
              <a:rPr sz="1000"/>
              <a:t>- August: 0 weekend-day change, calendar expected 0, actual -18, organic -18 (fully organic)</a:t>
            </a:r>
          </a:p>
          <a:p>
            <a:r>
              <a:rPr sz="1000"/>
              <a:t>- May: +1 Sunday, calendar expected +15.8, actual +3, organic -12.8 (most misleading raw number)</a:t>
            </a:r>
          </a:p>
          <a:p>
            <a:r>
              <a:rPr sz="1000"/>
              <a:t>- June: -1 Sunday, calendar expected -23.2, actual +10, organic +33.2 (strongest organic month)</a:t>
            </a:r>
          </a:p>
          <a:p>
            <a:r>
              <a:rPr sz="1000"/>
              <a:t>- October: +1 Saturday, calendar expected +7.5, actual +11, organic +3.5</a:t>
            </a:r>
          </a:p>
          <a:p/>
          <a:p>
            <a:r>
              <a:rPr sz="1000"/>
              <a:t>Event shifting note: 124 events (11%) moved months in 2026. Net shift for July was -3, August was 0 -- shifting explains almost none of the summer decline.</a:t>
            </a:r>
          </a:p>
          <a:p/>
          <a:p>
            <a:r>
              <a:rPr sz="1000"/>
              <a:t>Talking point: May is the most counter-intuitive data point. Raw +3 looks like a win but is actually -13 organic -- the calendar handed May an extra race day that events simply did not fill. June is the opposite: demand was strong enough to grow even after losing a Sunday.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000"/>
              <a:t>SLIDE 5 — Step 3: Organic Performance</a:t>
            </a:r>
            <a:endParaRPr lang="en-US" dirty="0"/>
          </a:p>
          <a:p/>
          <a:p>
            <a:r>
              <a:rPr sz="1000"/>
              <a:t>Key message: Once calendar noise is stripped, Adult Clinic is in structural decline (-10% organic) and Youth Clinic is the only type genuinely growing (+19.4% organic). The race product is stable.</a:t>
            </a:r>
          </a:p>
          <a:p/>
          <a:p>
            <a:r>
              <a:rPr sz="1000"/>
              <a:t>Organic results by type:</a:t>
            </a:r>
          </a:p>
          <a:p>
            <a:r>
              <a:rPr sz="1000"/>
              <a:t>- Adult Race: Raw -1, Calendar effect -2.4, Organic +1.4, Organic % +0.2% -- flat. No race product concern.</a:t>
            </a:r>
          </a:p>
          <a:p>
            <a:r>
              <a:rPr sz="1000"/>
              <a:t>- Youth Race: Raw -4, Calendar effect -1.2, Organic -2.8, Organic % -1.2% -- mild softness, monitor.</a:t>
            </a:r>
          </a:p>
          <a:p>
            <a:r>
              <a:rPr sz="1000"/>
              <a:t>- Adult Clinic: Raw -12, Calendar effect -2.0, Organic -10.0, Organic % -10.3% -- structural decline.</a:t>
            </a:r>
          </a:p>
          <a:p>
            <a:r>
              <a:rPr sz="1000"/>
              <a:t>- Youth Clinic: Raw +5, Calendar effect -0.6, Organic +5.6, Organic % +19.4% -- strong organic growth.</a:t>
            </a:r>
          </a:p>
          <a:p/>
          <a:p>
            <a:r>
              <a:rPr sz="1000"/>
              <a:t>Formula: Organic Delta = Actual Delta minus Calendar Expected Delta. Calendar effect = delta weekend days x 2025 events-per-weekend-day for that month and type.</a:t>
            </a:r>
          </a:p>
          <a:p/>
          <a:p>
            <a:r>
              <a:rPr sz="1000"/>
              <a:t>Best organic months (calendar-adjusted): June +33.2, March +13.4, January +5.8, April +5.0</a:t>
            </a:r>
          </a:p>
          <a:p>
            <a:r>
              <a:rPr sz="1000"/>
              <a:t>Worst organic months: August -18.0, July -16.0, May -12.8, November -6.8</a:t>
            </a:r>
          </a:p>
          <a:p/>
          <a:p>
            <a:r>
              <a:rPr sz="1000"/>
              <a:t>Talking point: The calendar was not a tailwind for Adult Clinic -- even after stripping the small -2.0 calendar effect, it is still -10.0 organic. This is a demand or supply issue that needs investigation, not a scheduling artifact.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000"/>
              <a:t>SLIDE 6 — Step 4: Did We Really Lose Events? Event-Level Disposition</a:t>
            </a:r>
            <a:endParaRPr lang="en-US" dirty="0"/>
          </a:p>
          <a:p/>
          <a:p>
            <a:r>
              <a:rPr sz="1000"/>
              <a:t>Key message: Yes -- 295 of 1,178 2025 events (25%) did not return in any form. But 263 new events and 33 recovered events partially offset this. The replacement gap is widest in the peak summer months.</a:t>
            </a:r>
          </a:p>
          <a:p/>
          <a:p>
            <a:r>
              <a:rPr sz="1000"/>
              <a:t>Segment breakdown (of 1,178 2025 events):</a:t>
            </a:r>
          </a:p>
          <a:p>
            <a:r>
              <a:rPr sz="1000"/>
              <a:t>- Retained: 746 (63%) -- same event, same month in 2026</a:t>
            </a:r>
          </a:p>
          <a:p>
            <a:r>
              <a:rPr sz="1000"/>
              <a:t>- Shifted: 124 (11%) -- same event, different month in 2026</a:t>
            </a:r>
          </a:p>
          <a:p>
            <a:r>
              <a:rPr sz="1000"/>
              <a:t>- Attrited: 295 (25%) -- did not return to 2026 in any form</a:t>
            </a:r>
          </a:p>
          <a:p>
            <a:r>
              <a:rPr sz="1000"/>
              <a:t>- New: 263 (22% of 2026 total) -- brand new events in 2026</a:t>
            </a:r>
          </a:p>
          <a:p>
            <a:r>
              <a:rPr sz="1000"/>
              <a:t>- Recovered: 33 -- were cancelled in 2025 but came back in 2026</a:t>
            </a:r>
          </a:p>
          <a:p>
            <a:r>
              <a:rPr sz="1000"/>
              <a:t>- Tried to Return: 13 -- filed a 2026 application but were cancelled/declined</a:t>
            </a:r>
          </a:p>
          <a:p/>
          <a:p>
            <a:r>
              <a:rPr sz="1000"/>
              <a:t>Summer replacement rates:</a:t>
            </a:r>
          </a:p>
          <a:p>
            <a:r>
              <a:rPr sz="1000"/>
              <a:t>- July: 181 events in 2025, 51 truly attrited, 46 replaced, replacement rate ~90%. Net -14.</a:t>
            </a:r>
          </a:p>
          <a:p>
            <a:r>
              <a:rPr sz="1000"/>
              <a:t>- August: 220 events in 2025, 57 truly attrited, 51 replaced, replacement rate ~93%. Net -16.</a:t>
            </a:r>
          </a:p>
          <a:p>
            <a:r>
              <a:rPr sz="1000"/>
              <a:t>- June: 209 events in 2025, replacement rate &gt;100% -- June is gaining events overall.</a:t>
            </a:r>
          </a:p>
          <a:p/>
          <a:p>
            <a:r>
              <a:rPr sz="1000"/>
              <a:t>Overall: 296 new/recovered events vs 308 truly lost = 96% gross replacement. But the weakest replacement is in July and August when it matters most.</a:t>
            </a:r>
          </a:p>
          <a:p/>
          <a:p>
            <a:r>
              <a:rPr sz="1000"/>
              <a:t>Note: Data is ~85-90% reliable at the event level. Liz is reviewing unmatched events for future automation.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000"/>
              <a:t>SLIDE 7 — Step 5: Application Pipeline and Opportunities</a:t>
            </a:r>
            <a:endParaRPr lang="en-US" dirty="0"/>
          </a:p>
          <a:p/>
          <a:p>
            <a:r>
              <a:rPr sz="1000"/>
              <a:t>Key message: The application pipeline for 2026 is running 16% ahead of 2025 pace through May (+48 in-year applications). The year-end event count will likely be higher than the May snapshot suggests.</a:t>
            </a:r>
          </a:p>
          <a:p/>
          <a:p>
            <a:r>
              <a:rPr sz="1000"/>
              <a:t>Application totals (prior-year + in-year through May):</a:t>
            </a:r>
          </a:p>
          <a:p>
            <a:r>
              <a:rPr sz="1000"/>
              <a:t>- Adult Race: 431 Q4 prior-yr + 129 in-yr Jan-May 2025 = 816 apps vs 409 + 173 = 814 in 2026. Flat total, but shift from prior-year to in-year (organizers applying later, not less).</a:t>
            </a:r>
          </a:p>
          <a:p>
            <a:r>
              <a:rPr sz="1000"/>
              <a:t>- Youth Race: 103 + 69 = 229 vs 101 + 91 = 226. Flat and healthy.</a:t>
            </a:r>
          </a:p>
          <a:p>
            <a:r>
              <a:rPr sz="1000"/>
              <a:t>- Adult Clinic: 22 + 55 = 97 vs 22 + 55 = 86. Prior-year AND in-year Jan-May are IDENTICAL. Shortfall comes from May-Dec late registrations (16 in 2025 vs 1 so far in 2026).</a:t>
            </a:r>
          </a:p>
          <a:p>
            <a:r>
              <a:rPr sz="1000"/>
              <a:t>- Youth Clinic: 8 + 10 = 29 vs 12 + 19 = 34. Q4 up 50%, in-year up 90%. Structural growth with conviction.</a:t>
            </a:r>
          </a:p>
          <a:p/>
          <a:p>
            <a:r>
              <a:rPr sz="1000"/>
              <a:t>In-year Jan-May comparison: 263 in 2025 vs 338 in 2026 = +75 (+28%).</a:t>
            </a:r>
          </a:p>
          <a:p>
            <a:r>
              <a:rPr sz="1000"/>
              <a:t>Total in-year through May: 299 (2025) vs 347 (2026) = +48 (+16%).</a:t>
            </a:r>
          </a:p>
          <a:p/>
          <a:p>
            <a:r>
              <a:rPr sz="1000"/>
              <a:t>Opportunities:</a:t>
            </a:r>
          </a:p>
          <a:p>
            <a:r>
              <a:rPr sz="1000"/>
              <a:t>1. Adult Clinic: Highest ROI. Target potential clinic organizers May-Aug before the spontaneous registration window closes. 10-15 recovered events would close the full -12 gap.</a:t>
            </a:r>
          </a:p>
          <a:p>
            <a:r>
              <a:rPr sz="1000"/>
              <a:t>2. Adult Race: Keep application channel open through September. Already running +34% in-year.</a:t>
            </a:r>
          </a:p>
          <a:p>
            <a:r>
              <a:rPr sz="1000"/>
              <a:t>3. Youth Clinic: Fast-track approvals so momentum is not lost to processing delays.</a:t>
            </a:r>
          </a:p>
          <a:p>
            <a:r>
              <a:rPr sz="1000"/>
              <a:t>4. Youth Race: Monitor only. Healthy pipeline, limited late-year upside.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000"/>
              <a:t>SLIDE 8 — Step 6: July &amp; August Win-Back Opportunity</a:t>
            </a:r>
            <a:endParaRPr lang="en-US" dirty="0"/>
          </a:p>
          <a:p/>
          <a:p>
            <a:r>
              <a:rPr sz="1000"/>
              <a:t>Key message: July and August lose ~50 events each but replace ~94-93% of them organically. The net decline is a volume math problem, not a demand collapse. The immediate opportunity is August; the strategic opportunity is diagnosing July.</a:t>
            </a:r>
          </a:p>
          <a:p/>
          <a:p>
            <a:r>
              <a:rPr sz="1000"/>
              <a:t>Disposition:</a:t>
            </a:r>
          </a:p>
          <a:p>
            <a:r>
              <a:rPr sz="1000"/>
              <a:t>- July: 179 events, 115 retained, 15 shifted out, 49 attrited, 12 shifted in, 34 new/recovered = 165 total. Replacement rate 94%.</a:t>
            </a:r>
          </a:p>
          <a:p>
            <a:r>
              <a:rPr sz="1000"/>
              <a:t>- August: 218 events, 148 retained, 15 shifted out, 55 attrited, 15 shifted in, 36 new/recovered = 202 total. Replacement rate 93%.</a:t>
            </a:r>
          </a:p>
          <a:p/>
          <a:p>
            <a:r>
              <a:rPr sz="1000"/>
              <a:t>Attrited events by type (Jul + Aug combined):</a:t>
            </a:r>
          </a:p>
          <a:p>
            <a:r>
              <a:rPr sz="1000"/>
              <a:t>- Adult Race: 30 + 29 = 59 (56% of summer attrition) -- core race product</a:t>
            </a:r>
          </a:p>
          <a:p>
            <a:r>
              <a:rPr sz="1000"/>
              <a:t>- Youth Race: 12 + 22 = 34 (33%) -- also core race</a:t>
            </a:r>
          </a:p>
          <a:p>
            <a:r>
              <a:rPr sz="1000"/>
              <a:t>- Adult Clinic: 7 (7%), Youth Clinic: 4 (4%) -- minor, address via Step 5 clinic outreach</a:t>
            </a:r>
          </a:p>
          <a:p/>
          <a:p>
            <a:r>
              <a:rPr sz="1000"/>
              <a:t>Two-speed action plan:</a:t>
            </a:r>
          </a:p>
          <a:p/>
          <a:p>
            <a:r>
              <a:rPr sz="1000"/>
              <a:t>AUGUST (act now -- 10-12 weeks away):</a:t>
            </a:r>
          </a:p>
          <a:p>
            <a:r>
              <a:rPr sz="1000"/>
              <a:t>- 55 attrited organizers are KNOWN contacts from 2025</a:t>
            </a:r>
          </a:p>
          <a:p>
            <a:r>
              <a:rPr sz="1000"/>
              <a:t>- Reach all by end of May</a:t>
            </a:r>
          </a:p>
          <a:p>
            <a:r>
              <a:rPr sz="1000"/>
              <a:t>- 20% win-back rate = ~11 events recovered, nearly closing the August gap</a:t>
            </a:r>
          </a:p>
          <a:p>
            <a:r>
              <a:rPr sz="1000"/>
              <a:t>- Focus on Adult Race (29) and Youth Race (22) organizers</a:t>
            </a:r>
          </a:p>
          <a:p/>
          <a:p>
            <a:r>
              <a:rPr sz="1000"/>
              <a:t>JULY (diagnose for 2027):</a:t>
            </a:r>
          </a:p>
          <a:p>
            <a:r>
              <a:rPr sz="1000"/>
              <a:t>- 49 attrited, too late for 2026 (6 weeks away)</a:t>
            </a:r>
          </a:p>
          <a:p>
            <a:r>
              <a:rPr sz="1000"/>
              <a:t>- Annual pattern: ~50 leave, ~50 replace -- treadmill with a net annual drift downward</a:t>
            </a:r>
          </a:p>
          <a:p>
            <a:r>
              <a:rPr sz="1000"/>
              <a:t>- Q3 2026: interview all 49 organizers to understand WHY they left</a:t>
            </a:r>
          </a:p>
          <a:p>
            <a:r>
              <a:rPr sz="1000"/>
              <a:t>  - Common reasons to probe: venue/permit issues, cost increase, organizer retirement, competition from other events, USAT process friction</a:t>
            </a:r>
          </a:p>
          <a:p>
            <a:r>
              <a:rPr sz="1000"/>
              <a:t>- Use findings to inform 2027 retention strategy before Q4 planning begins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F1B2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AA1524"/>
          </a:solidFill>
          <a:ln w="12700">
            <a:solidFill>
              <a:srgbClr val="AA1524"/>
            </a:solidFill>
            <a:prstDash val="solid"/>
          </a:ln>
        </p:spPr>
      </p:sp>
      <p:sp>
        <p:nvSpPr>
          <p:cNvPr id="3" name="Text 1"/>
          <p:cNvSpPr/>
          <p:nvPr/>
        </p:nvSpPr>
        <p:spPr>
          <a:xfrm>
            <a:off x="365760" y="137160"/>
            <a:ext cx="8229600" cy="502920"/>
          </a:xfrm>
          <a:prstGeom prst="rect">
            <a:avLst/>
          </a:prstGeom>
          <a:noFill/>
          <a:ln/>
        </p:spPr>
        <p:txBody>
          <a:bodyPr wrap="square" rtlCol="0" anchor="ctr"/>
          <a:lstStyle/>
          <a:p>
            <a:pPr indent="0" marL="0">
              <a:buNone/>
            </a:pPr>
            <a:r>
              <a:rPr lang="en-US" sz="1200" dirty="0">
                <a:solidFill>
                  <a:srgbClr val="FFAAAA"/>
                </a:solidFill>
                <a:latin typeface="Calibri" pitchFamily="34" charset="0"/>
                <a:ea typeface="Calibri" pitchFamily="34" charset="-122"/>
                <a:cs typeface="Calibri" pitchFamily="34" charset="-120"/>
              </a:rPr>
              <a:t>USAT  |  Sanctioned Events Analysis</a:t>
            </a:r>
            <a:endParaRPr lang="en-US" sz="1200" dirty="0"/>
          </a:p>
        </p:txBody>
      </p:sp>
      <p:sp>
        <p:nvSpPr>
          <p:cNvPr id="4" name="Text 2"/>
          <p:cNvSpPr/>
          <p:nvPr/>
        </p:nvSpPr>
        <p:spPr>
          <a:xfrm>
            <a:off x="365760" y="1051560"/>
            <a:ext cx="841248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Sanctioned Events</a:t>
            </a:r>
            <a:endParaRPr lang="en-US" sz="4000" dirty="0"/>
          </a:p>
        </p:txBody>
      </p:sp>
      <p:sp>
        <p:nvSpPr>
          <p:cNvPr id="5" name="Text 3"/>
          <p:cNvSpPr/>
          <p:nvPr/>
        </p:nvSpPr>
        <p:spPr>
          <a:xfrm>
            <a:off x="365760" y="1920240"/>
            <a:ext cx="8229600" cy="502920"/>
          </a:xfrm>
          <a:prstGeom prst="rect">
            <a:avLst/>
          </a:prstGeom>
          <a:noFill/>
          <a:ln/>
        </p:spPr>
        <p:txBody>
          <a:bodyPr wrap="square" rtlCol="0" anchor="ctr"/>
          <a:lstStyle/>
          <a:p>
            <a:pPr indent="0" marL="0">
              <a:buNone/>
            </a:pPr>
            <a:r>
              <a:rPr lang="en-US" sz="2000" dirty="0">
                <a:solidFill>
                  <a:srgbClr val="FFCCCC"/>
                </a:solidFill>
                <a:latin typeface="Calibri" pitchFamily="34" charset="0"/>
                <a:ea typeface="Calibri" pitchFamily="34" charset="-122"/>
                <a:cs typeface="Calibri" pitchFamily="34" charset="-120"/>
              </a:rPr>
              <a:t>2025 vs 2026  |  Year-over-Year Analysis</a:t>
            </a:r>
            <a:endParaRPr lang="en-US" sz="2000" dirty="0"/>
          </a:p>
        </p:txBody>
      </p:sp>
      <p:sp>
        <p:nvSpPr>
          <p:cNvPr id="6" name="Shape 4"/>
          <p:cNvSpPr/>
          <p:nvPr/>
        </p:nvSpPr>
        <p:spPr>
          <a:xfrm>
            <a:off x="365760" y="2697480"/>
            <a:ext cx="4114800" cy="548640"/>
          </a:xfrm>
          <a:prstGeom prst="rect">
            <a:avLst/>
          </a:prstGeom>
          <a:solidFill>
            <a:srgbClr val="E8F5E9"/>
          </a:solidFill>
          <a:ln w="12700">
            <a:solidFill>
              <a:srgbClr val="1E7D34"/>
            </a:solidFill>
            <a:prstDash val="solid"/>
          </a:ln>
        </p:spPr>
      </p:sp>
      <p:sp>
        <p:nvSpPr>
          <p:cNvPr id="7" name="Text 5"/>
          <p:cNvSpPr/>
          <p:nvPr/>
        </p:nvSpPr>
        <p:spPr>
          <a:xfrm>
            <a:off x="457200" y="2697480"/>
            <a:ext cx="3931920" cy="548640"/>
          </a:xfrm>
          <a:prstGeom prst="rect">
            <a:avLst/>
          </a:prstGeom>
          <a:noFill/>
          <a:ln/>
        </p:spPr>
        <p:txBody>
          <a:bodyPr wrap="square" rtlCol="0" anchor="ctr"/>
          <a:lstStyle/>
          <a:p>
            <a:pPr indent="0" marL="0">
              <a:buNone/>
            </a:pPr>
            <a:r>
              <a:rPr lang="en-US" sz="1000" b="1" dirty="0">
                <a:solidFill>
                  <a:srgbClr val="1E7D34"/>
                </a:solidFill>
                <a:latin typeface="Calibri" pitchFamily="34" charset="0"/>
                <a:ea typeface="Calibri" pitchFamily="34" charset="-122"/>
                <a:cs typeface="Calibri" pitchFamily="34" charset="-120"/>
              </a:rPr>
              <a:t>−12 events overall </a:t>
            </a:r>
            <a:pPr indent="0" marL="0">
              <a:buNone/>
            </a:pPr>
            <a:r>
              <a:rPr lang="en-US" sz="1000" dirty="0">
                <a:solidFill>
                  <a:srgbClr val="1E7D34"/>
                </a:solidFill>
                <a:latin typeface="Calibri" pitchFamily="34" charset="0"/>
                <a:ea typeface="Calibri" pitchFamily="34" charset="-122"/>
                <a:cs typeface="Calibri" pitchFamily="34" charset="-120"/>
              </a:rPr>
              <a:t>(−1.0% — modest headline, but composition matters)</a:t>
            </a:r>
            <a:endParaRPr lang="en-US" sz="1000" dirty="0"/>
          </a:p>
        </p:txBody>
      </p:sp>
      <p:sp>
        <p:nvSpPr>
          <p:cNvPr id="8" name="Shape 6"/>
          <p:cNvSpPr/>
          <p:nvPr/>
        </p:nvSpPr>
        <p:spPr>
          <a:xfrm>
            <a:off x="4754880" y="2697480"/>
            <a:ext cx="4114800" cy="548640"/>
          </a:xfrm>
          <a:prstGeom prst="rect">
            <a:avLst/>
          </a:prstGeom>
          <a:solidFill>
            <a:srgbClr val="FDECEA"/>
          </a:solidFill>
          <a:ln w="12700">
            <a:solidFill>
              <a:srgbClr val="C62828"/>
            </a:solidFill>
            <a:prstDash val="solid"/>
          </a:ln>
        </p:spPr>
      </p:sp>
      <p:sp>
        <p:nvSpPr>
          <p:cNvPr id="9" name="Text 7"/>
          <p:cNvSpPr/>
          <p:nvPr/>
        </p:nvSpPr>
        <p:spPr>
          <a:xfrm>
            <a:off x="4846320" y="269748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Adult Clinic −12.4% </a:t>
            </a:r>
            <a:pPr indent="0" marL="0">
              <a:buNone/>
            </a:pPr>
            <a:r>
              <a:rPr lang="en-US" sz="1000" dirty="0">
                <a:solidFill>
                  <a:srgbClr val="C62828"/>
                </a:solidFill>
                <a:latin typeface="Calibri" pitchFamily="34" charset="0"/>
                <a:ea typeface="Calibri" pitchFamily="34" charset="-122"/>
                <a:cs typeface="Calibri" pitchFamily="34" charset="-120"/>
              </a:rPr>
              <a:t>(Sole driver of the net decline)</a:t>
            </a:r>
            <a:endParaRPr lang="en-US" sz="1000" dirty="0"/>
          </a:p>
        </p:txBody>
      </p:sp>
      <p:sp>
        <p:nvSpPr>
          <p:cNvPr id="10" name="Shape 8"/>
          <p:cNvSpPr/>
          <p:nvPr/>
        </p:nvSpPr>
        <p:spPr>
          <a:xfrm>
            <a:off x="365760" y="3337560"/>
            <a:ext cx="4114800" cy="548640"/>
          </a:xfrm>
          <a:prstGeom prst="rect">
            <a:avLst/>
          </a:prstGeom>
          <a:solidFill>
            <a:srgbClr val="FDECEA"/>
          </a:solidFill>
          <a:ln w="12700">
            <a:solidFill>
              <a:srgbClr val="C62828"/>
            </a:solidFill>
            <a:prstDash val="solid"/>
          </a:ln>
        </p:spPr>
      </p:sp>
      <p:sp>
        <p:nvSpPr>
          <p:cNvPr id="11" name="Text 9"/>
          <p:cNvSpPr/>
          <p:nvPr/>
        </p:nvSpPr>
        <p:spPr>
          <a:xfrm>
            <a:off x="457200" y="333756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July &amp; August −34 </a:t>
            </a:r>
            <a:pPr indent="0" marL="0">
              <a:buNone/>
            </a:pPr>
            <a:r>
              <a:rPr lang="en-US" sz="1000" dirty="0">
                <a:solidFill>
                  <a:srgbClr val="C62828"/>
                </a:solidFill>
                <a:latin typeface="Calibri" pitchFamily="34" charset="0"/>
                <a:ea typeface="Calibri" pitchFamily="34" charset="-122"/>
                <a:cs typeface="Calibri" pitchFamily="34" charset="-120"/>
              </a:rPr>
              <a:t>(Zero calendar cover — purely organic losses)</a:t>
            </a:r>
            <a:endParaRPr lang="en-US" sz="1000" dirty="0"/>
          </a:p>
        </p:txBody>
      </p:sp>
      <p:sp>
        <p:nvSpPr>
          <p:cNvPr id="12" name="Shape 10"/>
          <p:cNvSpPr/>
          <p:nvPr/>
        </p:nvSpPr>
        <p:spPr>
          <a:xfrm>
            <a:off x="4754880" y="3337560"/>
            <a:ext cx="4114800" cy="548640"/>
          </a:xfrm>
          <a:prstGeom prst="rect">
            <a:avLst/>
          </a:prstGeom>
          <a:solidFill>
            <a:srgbClr val="E8F5E9"/>
          </a:solidFill>
          <a:ln w="12700">
            <a:solidFill>
              <a:srgbClr val="1E7D34"/>
            </a:solidFill>
            <a:prstDash val="solid"/>
          </a:ln>
        </p:spPr>
      </p:sp>
      <p:sp>
        <p:nvSpPr>
          <p:cNvPr id="13" name="Text 11"/>
          <p:cNvSpPr/>
          <p:nvPr/>
        </p:nvSpPr>
        <p:spPr>
          <a:xfrm>
            <a:off x="4846320" y="3337560"/>
            <a:ext cx="3931920" cy="548640"/>
          </a:xfrm>
          <a:prstGeom prst="rect">
            <a:avLst/>
          </a:prstGeom>
          <a:noFill/>
          <a:ln/>
        </p:spPr>
        <p:txBody>
          <a:bodyPr wrap="square" rtlCol="0" anchor="ctr"/>
          <a:lstStyle/>
          <a:p>
            <a:pPr indent="0" marL="0">
              <a:buNone/>
            </a:pPr>
            <a:r>
              <a:rPr lang="en-US" sz="1000" b="1" dirty="0">
                <a:solidFill>
                  <a:srgbClr val="1E7D34"/>
                </a:solidFill>
                <a:latin typeface="Calibri" pitchFamily="34" charset="0"/>
                <a:ea typeface="Calibri" pitchFamily="34" charset="-122"/>
                <a:cs typeface="Calibri" pitchFamily="34" charset="-120"/>
              </a:rPr>
              <a:t>Youth Clinic +17.2% </a:t>
            </a:r>
            <a:pPr indent="0" marL="0">
              <a:buNone/>
            </a:pPr>
            <a:r>
              <a:rPr lang="en-US" sz="1000" dirty="0">
                <a:solidFill>
                  <a:srgbClr val="1E7D34"/>
                </a:solidFill>
                <a:latin typeface="Calibri" pitchFamily="34" charset="0"/>
                <a:ea typeface="Calibri" pitchFamily="34" charset="-122"/>
                <a:cs typeface="Calibri" pitchFamily="34" charset="-120"/>
              </a:rPr>
              <a:t>(Only type growing — a genuine bright spot)</a:t>
            </a:r>
            <a:endParaRPr lang="en-US" sz="1000" dirty="0"/>
          </a:p>
        </p:txBody>
      </p:sp>
      <p:sp>
        <p:nvSpPr>
          <p:cNvPr id="14" name="Text 12"/>
          <p:cNvSpPr/>
          <p:nvPr/>
        </p:nvSpPr>
        <p:spPr>
          <a:xfrm>
            <a:off x="365760" y="4663440"/>
            <a:ext cx="8229600" cy="320040"/>
          </a:xfrm>
          <a:prstGeom prst="rect">
            <a:avLst/>
          </a:prstGeom>
          <a:noFill/>
          <a:ln/>
        </p:spPr>
        <p:txBody>
          <a:bodyPr wrap="square" rtlCol="0" anchor="ctr"/>
          <a:lstStyle/>
          <a:p>
            <a:pPr indent="0" marL="0">
              <a:buNone/>
            </a:pPr>
            <a:r>
              <a:rPr lang="en-US" sz="850" i="1" dirty="0">
                <a:solidFill>
                  <a:srgbClr val="FFAAAA"/>
                </a:solidFill>
                <a:latin typeface="Calibri" pitchFamily="34" charset="0"/>
                <a:ea typeface="Calibri" pitchFamily="34" charset="-122"/>
                <a:cs typeface="Calibri" pitchFamily="34" charset="-120"/>
              </a:rPr>
              <a:t>Data as of May 15, 2026  |  Excl. Cancelled / Declined / Deleted  |  ~85–90% event-level match confidence</a:t>
            </a:r>
            <a:endParaRPr lang="en-US" sz="850" dirty="0"/>
          </a:p>
        </p:txBody>
      </p:sp>
      <p:sp>
        <p:nvSpPr>
          <p:cNvPr id="15" name="Text 13"/>
          <p:cNvSpPr/>
          <p:nvPr/>
        </p:nvSpPr>
        <p:spPr>
          <a:xfrm>
            <a:off x="8458200" y="4919472"/>
            <a:ext cx="594360" cy="182880"/>
          </a:xfrm>
          <a:prstGeom prst="rect">
            <a:avLst/>
          </a:prstGeom>
          <a:noFill/>
          <a:ln/>
        </p:spPr>
        <p:txBody>
          <a:bodyPr wrap="square" rtlCol="0" anchor="ctr"/>
          <a:lstStyle/>
          <a:p>
            <a:pPr algn="r" indent="0" marL="0">
              <a:buNone/>
            </a:pPr>
            <a:r>
              <a:rPr lang="en-US" sz="850" dirty="0">
                <a:solidFill>
                  <a:srgbClr val="FFAAAA"/>
                </a:solidFill>
                <a:latin typeface="Calibri" pitchFamily="34" charset="0"/>
                <a:ea typeface="Calibri" pitchFamily="34" charset="-122"/>
                <a:cs typeface="Calibri" pitchFamily="34" charset="-120"/>
              </a:rPr>
              <a:t>1 /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0  —  What Changed? Event Counts by Type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2 / 8</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8595360" cy="2487168"/>
        </p:xfrm>
        <a:graphic>
          <a:graphicData uri="http://schemas.openxmlformats.org/drawingml/2006/table">
            <a:tbl>
              <a:tblPr/>
              <a:tblGrid>
                <a:gridCol w="1432560"/>
                <a:gridCol w="1432560"/>
                <a:gridCol w="1432560"/>
                <a:gridCol w="1432560"/>
                <a:gridCol w="1432560"/>
                <a:gridCol w="1432560"/>
              </a:tblGrid>
              <a:tr h="402336">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Δ Count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Δ %</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Read as...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402336">
                <a:tc>
                  <a:txBody>
                    <a:bodyPr/>
                    <a:lstStyle/>
                    <a:p>
                      <a:pPr algn="l" indent="0" marL="0">
                        <a:buNone/>
                      </a:pPr>
                      <a:r>
                        <a:rPr lang="en-US" sz="1000" b="1"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C62828"/>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50" dirty="0">
                          <a:solidFill>
                            <a:srgbClr val="222222"/>
                          </a:solidFill>
                        </a:rPr>
                        <a:t>Essentially flat — no race product problem</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402336">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50" dirty="0">
                          <a:solidFill>
                            <a:srgbClr val="222222"/>
                          </a:solidFill>
                        </a:rPr>
                        <a:t>Mild softness — monitor trend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97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85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50" b="1" dirty="0">
                          <a:solidFill>
                            <a:srgbClr val="C62828"/>
                          </a:solidFill>
                        </a:rPr>
                        <a:t>⚠ Structural contraction — sole driver of net decline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402336">
                <a:tc>
                  <a:txBody>
                    <a:bodyPr/>
                    <a:lstStyle/>
                    <a:p>
                      <a:pPr algn="l" indent="0" marL="0">
                        <a:buNone/>
                      </a:pPr>
                      <a:r>
                        <a:rPr lang="en-US" sz="1000" b="1" dirty="0">
                          <a:solidFill>
                            <a:srgbClr val="1E7D34"/>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+17.2%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1E7D34"/>
                          </a:solidFill>
                        </a:rPr>
                        <a:t>✓ Only type growing — genuine bright spot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402336">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 = full net decline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Shape 3"/>
          <p:cNvSpPr/>
          <p:nvPr/>
        </p:nvSpPr>
        <p:spPr>
          <a:xfrm>
            <a:off x="274320" y="3310128"/>
            <a:ext cx="8595360" cy="1005840"/>
          </a:xfrm>
          <a:prstGeom prst="rect">
            <a:avLst/>
          </a:prstGeom>
          <a:solidFill>
            <a:srgbClr val="ECEFF1"/>
          </a:solidFill>
          <a:ln w="12700">
            <a:solidFill>
              <a:srgbClr val="CCCCCC"/>
            </a:solidFill>
            <a:prstDash val="solid"/>
          </a:ln>
        </p:spPr>
      </p:sp>
      <p:sp>
        <p:nvSpPr>
          <p:cNvPr id="7" name="Text 4"/>
          <p:cNvSpPr/>
          <p:nvPr/>
        </p:nvSpPr>
        <p:spPr>
          <a:xfrm>
            <a:off x="384048" y="3355848"/>
            <a:ext cx="8321040" cy="91440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Narrative:  </a:t>
            </a:r>
            <a:pPr indent="0" marL="0">
              <a:buNone/>
            </a:pPr>
            <a:r>
              <a:rPr lang="en-US" sz="1000" dirty="0">
                <a:solidFill>
                  <a:srgbClr val="222222"/>
                </a:solidFill>
                <a:latin typeface="Calibri" pitchFamily="34" charset="0"/>
                <a:ea typeface="Calibri" pitchFamily="34" charset="-122"/>
                <a:cs typeface="Calibri" pitchFamily="34" charset="-120"/>
              </a:rPr>
              <a:t>The overall −12 is a modest headline but the composition tells a clearer story. Adult Clinic is down 12 events (−12.4%), which exactly accounts for the full net decline — meaning if you set clinics aside, the race portfolio is essentially holding flat. Adult Race is −1 and Youth Race is −4, both within normal variation. The one genuine growth story is Youth Clinic, up +5 events (+17.2% organically). This suggests demand for shorter-format youth programming is increasing while the traditional clinic model may be facing headwinds worth investigating.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1  —  Monthly Breakdown — July &amp; August Drive the Declines</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3 / 8</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3108960" cy="3493008"/>
        </p:xfrm>
        <a:graphic>
          <a:graphicData uri="http://schemas.openxmlformats.org/drawingml/2006/table">
            <a:tbl>
              <a:tblPr/>
              <a:tblGrid>
                <a:gridCol w="777240"/>
                <a:gridCol w="777240"/>
                <a:gridCol w="777240"/>
                <a:gridCol w="777240"/>
              </a:tblGrid>
              <a:tr h="24688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Var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46888">
                <a:tc>
                  <a:txBody>
                    <a:bodyPr/>
                    <a:lstStyle/>
                    <a:p>
                      <a:pPr algn="l" indent="0" marL="0">
                        <a:buNone/>
                      </a:pPr>
                      <a:r>
                        <a:rPr lang="en-US" sz="1000" dirty="0">
                          <a:solidFill>
                            <a:srgbClr val="1E7D34"/>
                          </a:solidFill>
                        </a:rPr>
                        <a:t>Jan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Feb</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46888">
                <a:tc>
                  <a:txBody>
                    <a:bodyPr/>
                    <a:lstStyle/>
                    <a:p>
                      <a:pPr algn="l" indent="0" marL="0">
                        <a:buNone/>
                      </a:pPr>
                      <a:r>
                        <a:rPr lang="en-US" sz="1000" b="1" dirty="0">
                          <a:solidFill>
                            <a:srgbClr val="1E7D34"/>
                          </a:solidFill>
                        </a:rPr>
                        <a:t>Mar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Apr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Jun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209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Jul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46888">
                <a:tc>
                  <a:txBody>
                    <a:bodyPr/>
                    <a:lstStyle/>
                    <a:p>
                      <a:pPr algn="l" indent="0" marL="0">
                        <a:buNone/>
                      </a:pPr>
                      <a:r>
                        <a:rPr lang="en-US" sz="1000" b="1" dirty="0">
                          <a:solidFill>
                            <a:srgbClr val="C62828"/>
                          </a:solidFill>
                        </a:rPr>
                        <a:t>Aug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202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46888">
                <a:tc>
                  <a:txBody>
                    <a:bodyPr/>
                    <a:lstStyle/>
                    <a:p>
                      <a:pPr algn="l" indent="0" marL="0">
                        <a:buNone/>
                      </a:pPr>
                      <a:r>
                        <a:rPr lang="en-US" sz="1000" dirty="0">
                          <a:solidFill>
                            <a:srgbClr val="222222"/>
                          </a:solidFill>
                        </a:rPr>
                        <a:t>Sep</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46888">
                <a:tc>
                  <a:txBody>
                    <a:bodyPr/>
                    <a:lstStyle/>
                    <a:p>
                      <a:pPr algn="l" indent="0" marL="0">
                        <a:buNone/>
                      </a:pPr>
                      <a:r>
                        <a:rPr lang="en-US" sz="1000" b="1" dirty="0">
                          <a:solidFill>
                            <a:srgbClr val="1E7D34"/>
                          </a:solidFill>
                        </a:rPr>
                        <a:t>Oct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Nov</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46888">
                <a:tc>
                  <a:txBody>
                    <a:bodyPr/>
                    <a:lstStyle/>
                    <a:p>
                      <a:pPr algn="l" indent="0" marL="0">
                        <a:buNone/>
                      </a:pPr>
                      <a:r>
                        <a:rPr lang="en-US" sz="1000" dirty="0">
                          <a:solidFill>
                            <a:srgbClr val="222222"/>
                          </a:solidFill>
                        </a:rPr>
                        <a:t>Dec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46888">
                <a:tc>
                  <a:txBody>
                    <a:bodyPr/>
                    <a:lstStyle/>
                    <a:p>
                      <a:pPr algn="ctr" indent="0" marL="0">
                        <a:buNone/>
                      </a:pPr>
                      <a:r>
                        <a:rPr lang="en-US" sz="1000" b="1" dirty="0">
                          <a:solidFill>
                            <a:srgbClr val="FFFFFF"/>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Text 3"/>
          <p:cNvSpPr/>
          <p:nvPr/>
        </p:nvSpPr>
        <p:spPr>
          <a:xfrm>
            <a:off x="3566160" y="694944"/>
            <a:ext cx="5394960" cy="256032"/>
          </a:xfrm>
          <a:prstGeom prst="rect">
            <a:avLst/>
          </a:prstGeom>
          <a:noFill/>
          <a:ln/>
        </p:spPr>
        <p:txBody>
          <a:bodyPr wrap="square" rtlCol="0" anchor="ctr"/>
          <a:lstStyle/>
          <a:p>
            <a:pPr indent="0" marL="0">
              <a:buNone/>
            </a:pPr>
            <a:r>
              <a:rPr lang="en-US" sz="1100" b="1" dirty="0">
                <a:solidFill>
                  <a:srgbClr val="222222"/>
                </a:solidFill>
                <a:latin typeface="Calibri" pitchFamily="34" charset="0"/>
                <a:ea typeface="Calibri" pitchFamily="34" charset="-122"/>
                <a:cs typeface="Calibri" pitchFamily="34" charset="-120"/>
              </a:rPr>
              <a:t>Type Detail — July &amp; August</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66160" y="987552"/>
          <a:ext cx="5394960" cy="1261872"/>
        </p:xfrm>
        <a:graphic>
          <a:graphicData uri="http://schemas.openxmlformats.org/drawingml/2006/table">
            <a:tbl>
              <a:tblPr/>
              <a:tblGrid>
                <a:gridCol w="899160"/>
                <a:gridCol w="899160"/>
                <a:gridCol w="899160"/>
                <a:gridCol w="899160"/>
                <a:gridCol w="899160"/>
                <a:gridCol w="899160"/>
              </a:tblGrid>
              <a:tr h="29260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9260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9260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C62828"/>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C62828"/>
                          </a:solidFill>
                        </a:rPr>
                        <a:t>-3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92608">
                <a:tc>
                  <a:txBody>
                    <a:bodyPr/>
                    <a:lstStyle/>
                    <a:p>
                      <a:pPr algn="l" indent="0" marL="0">
                        <a:buNone/>
                      </a:pPr>
                      <a:r>
                        <a:rPr lang="en-US" sz="1000" b="1" dirty="0">
                          <a:solidFill>
                            <a:srgbClr val="222222"/>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C62828"/>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C62828"/>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bl>
          </a:graphicData>
        </a:graphic>
      </p:graphicFrame>
      <p:sp>
        <p:nvSpPr>
          <p:cNvPr id="8" name="Shape 4"/>
          <p:cNvSpPr/>
          <p:nvPr/>
        </p:nvSpPr>
        <p:spPr>
          <a:xfrm>
            <a:off x="3566160" y="2340864"/>
            <a:ext cx="5394960" cy="658368"/>
          </a:xfrm>
          <a:prstGeom prst="rect">
            <a:avLst/>
          </a:prstGeom>
          <a:solidFill>
            <a:srgbClr val="FFCDD2"/>
          </a:solidFill>
          <a:ln w="12700">
            <a:solidFill>
              <a:srgbClr val="C62828"/>
            </a:solidFill>
            <a:prstDash val="solid"/>
          </a:ln>
        </p:spPr>
      </p:sp>
      <p:sp>
        <p:nvSpPr>
          <p:cNvPr id="9" name="Text 5"/>
          <p:cNvSpPr/>
          <p:nvPr/>
        </p:nvSpPr>
        <p:spPr>
          <a:xfrm>
            <a:off x="3630168" y="2340864"/>
            <a:ext cx="5266944" cy="6583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July &amp; August are both Adult Race and Youth Race driven — not clinic-related.</a:t>
            </a:r>
            <a:endParaRPr lang="en-US" sz="1000" dirty="0"/>
          </a:p>
          <a:p>
            <a:pPr algn="ctr" indent="0" marL="0">
              <a:buNone/>
            </a:pPr>
            <a:r>
              <a:rPr lang="en-US" sz="1000" b="1" dirty="0">
                <a:solidFill>
                  <a:srgbClr val="C62828"/>
                </a:solidFill>
                <a:latin typeface="Calibri" pitchFamily="34" charset="0"/>
                <a:ea typeface="Calibri" pitchFamily="34" charset="-122"/>
                <a:cs typeface="Calibri" pitchFamily="34" charset="-120"/>
              </a:rPr>
              <a:t>Clinic mix is flat or zero in both months.</a:t>
            </a:r>
            <a:endParaRPr lang="en-US" sz="1000" dirty="0"/>
          </a:p>
        </p:txBody>
      </p:sp>
      <p:sp>
        <p:nvSpPr>
          <p:cNvPr id="10" name="Shape 6"/>
          <p:cNvSpPr/>
          <p:nvPr/>
        </p:nvSpPr>
        <p:spPr>
          <a:xfrm>
            <a:off x="3566160" y="3090672"/>
            <a:ext cx="5394960" cy="914400"/>
          </a:xfrm>
          <a:prstGeom prst="rect">
            <a:avLst/>
          </a:prstGeom>
          <a:solidFill>
            <a:srgbClr val="C8E6C9"/>
          </a:solidFill>
          <a:ln w="12700">
            <a:solidFill>
              <a:srgbClr val="1E7D34"/>
            </a:solidFill>
            <a:prstDash val="solid"/>
          </a:ln>
        </p:spPr>
      </p:sp>
      <p:sp>
        <p:nvSpPr>
          <p:cNvPr id="11" name="Text 7"/>
          <p:cNvSpPr/>
          <p:nvPr/>
        </p:nvSpPr>
        <p:spPr>
          <a:xfrm>
            <a:off x="3630168" y="3090672"/>
            <a:ext cx="5266944" cy="914400"/>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June (+10) and October (+11) are the two strongest months.</a:t>
            </a:r>
            <a:endParaRPr lang="en-US" sz="1000" dirty="0"/>
          </a:p>
          <a:p>
            <a:pPr algn="ctr" indent="0" marL="0">
              <a:buNone/>
            </a:pPr>
            <a:r>
              <a:rPr lang="en-US" sz="1000" b="1" dirty="0">
                <a:solidFill>
                  <a:srgbClr val="1E7D34"/>
                </a:solidFill>
                <a:latin typeface="Calibri" pitchFamily="34" charset="0"/>
                <a:ea typeface="Calibri" pitchFamily="34" charset="-122"/>
                <a:cs typeface="Calibri" pitchFamily="34" charset="-120"/>
              </a:rPr>
              <a:t>Both show genuine organic strength plus new event additions — the bright spots in an otherwise soft summer.</a:t>
            </a:r>
            <a:endParaRPr lang="en-US" sz="1000" dirty="0"/>
          </a:p>
        </p:txBody>
      </p:sp>
      <p:sp>
        <p:nvSpPr>
          <p:cNvPr id="12" name="Shape 8"/>
          <p:cNvSpPr/>
          <p:nvPr/>
        </p:nvSpPr>
        <p:spPr>
          <a:xfrm>
            <a:off x="274320" y="4315968"/>
            <a:ext cx="8595360" cy="457200"/>
          </a:xfrm>
          <a:prstGeom prst="rect">
            <a:avLst/>
          </a:prstGeom>
          <a:solidFill>
            <a:srgbClr val="ECEFF1"/>
          </a:solidFill>
          <a:ln w="12700">
            <a:solidFill>
              <a:srgbClr val="CCCCCC"/>
            </a:solidFill>
            <a:prstDash val="solid"/>
          </a:ln>
        </p:spPr>
      </p:sp>
      <p:sp>
        <p:nvSpPr>
          <p:cNvPr id="13" name="Text 9"/>
          <p:cNvSpPr/>
          <p:nvPr/>
        </p:nvSpPr>
        <p:spPr>
          <a:xfrm>
            <a:off x="384048" y="4343400"/>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July (−16) and August (−18) are the two biggest problem months. The type breakdown shows losses split across Adult Race and Youth Race — clinics are flat in summer. June and October are performing well, partly offsetting the summer decline. The pattern suggests summer peak season demand is softening while shoulder months hold or grow.</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06064"/>
          </a:solidFill>
          <a:ln w="12700">
            <a:solidFill>
              <a:srgbClr val="006064"/>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2  —  Is This a Calendar Effect?  No — Not for July or August</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4 / 8</a:t>
            </a:r>
            <a:endParaRPr lang="en-US" sz="900" dirty="0"/>
          </a:p>
        </p:txBody>
      </p:sp>
      <p:sp>
        <p:nvSpPr>
          <p:cNvPr id="5" name="Shape 3"/>
          <p:cNvSpPr/>
          <p:nvPr/>
        </p:nvSpPr>
        <p:spPr>
          <a:xfrm>
            <a:off x="274320" y="694944"/>
            <a:ext cx="8595360" cy="566928"/>
          </a:xfrm>
          <a:prstGeom prst="rect">
            <a:avLst/>
          </a:prstGeom>
          <a:solidFill>
            <a:srgbClr val="FDECEA"/>
          </a:solidFill>
          <a:ln w="12700">
            <a:solidFill>
              <a:srgbClr val="C62828"/>
            </a:solidFill>
            <a:prstDash val="solid"/>
          </a:ln>
        </p:spPr>
      </p:sp>
      <p:sp>
        <p:nvSpPr>
          <p:cNvPr id="6" name="Text 4"/>
          <p:cNvSpPr/>
          <p:nvPr/>
        </p:nvSpPr>
        <p:spPr>
          <a:xfrm>
            <a:off x="420624" y="722376"/>
            <a:ext cx="8302752" cy="512064"/>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July and August had ZERO change in weekend days (Sat or Sun) between 2025 and 2026. There is no calendar explanation for the summer declines — they are fully organic.</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353312"/>
          <a:ext cx="8595360" cy="2231136"/>
        </p:xfrm>
        <a:graphic>
          <a:graphicData uri="http://schemas.openxmlformats.org/drawingml/2006/table">
            <a:tbl>
              <a:tblPr/>
              <a:tblGrid>
                <a:gridCol w="1432560"/>
                <a:gridCol w="1432560"/>
                <a:gridCol w="1432560"/>
                <a:gridCol w="1432560"/>
                <a:gridCol w="1432560"/>
                <a:gridCol w="1432560"/>
              </a:tblGrid>
              <a:tr h="33832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Δ Weekend Days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Calendar Expected Δ</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Actual Δ</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Organic Δ</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Interpretation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r>
              <a:tr h="33832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C62828"/>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00"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C62828"/>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00"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dirty="0">
                          <a:solidFill>
                            <a:srgbClr val="E65100"/>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E65100"/>
                          </a:solidFill>
                        </a:rPr>
                        <a:t>+1 Sunday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dirty="0">
                          <a:solidFill>
                            <a:srgbClr val="E65100"/>
                          </a:solidFill>
                        </a:rPr>
                        <a:t>+15.8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dirty="0">
                          <a:solidFill>
                            <a:srgbClr val="1E7D34"/>
                          </a:solidFill>
                        </a:rPr>
                        <a:t>+3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C62828"/>
                          </a:solidFill>
                        </a:rPr>
                        <a:t>-12.8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l" indent="0" marL="0">
                        <a:buNone/>
                      </a:pPr>
                      <a:r>
                        <a:rPr lang="en-US" sz="900" dirty="0">
                          <a:solidFill>
                            <a:srgbClr val="E65100"/>
                          </a:solidFill>
                        </a:rPr>
                        <a:t>Looks +3 raw — actually −13 organic (calendar gifted +16 that didn't fill)</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r>
              <a:tr h="338328">
                <a:tc>
                  <a:txBody>
                    <a:bodyPr/>
                    <a:lstStyle/>
                    <a:p>
                      <a:pPr algn="l" indent="0" marL="0">
                        <a:buNone/>
                      </a:pPr>
                      <a:r>
                        <a:rPr lang="en-US" sz="1000" dirty="0">
                          <a:solidFill>
                            <a:srgbClr val="1E7D34"/>
                          </a:solidFill>
                        </a:rPr>
                        <a:t>June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E65100"/>
                          </a:solidFill>
                        </a:rPr>
                        <a:t>-1 Sunday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dirty="0">
                          <a:solidFill>
                            <a:srgbClr val="E65100"/>
                          </a:solidFill>
                        </a:rPr>
                        <a:t>-23.2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1E7D34"/>
                          </a:solidFill>
                        </a:rPr>
                        <a:t>Lost a Sunday but organic demand drove +33. Strongest organic month.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dirty="0">
                          <a:solidFill>
                            <a:srgbClr val="1E7D34"/>
                          </a:solidFill>
                        </a:rPr>
                        <a:t>Oct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E65100"/>
                          </a:solidFill>
                        </a:rPr>
                        <a:t>+1 Saturday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dirty="0">
                          <a:solidFill>
                            <a:srgbClr val="E65100"/>
                          </a:solidFill>
                        </a:rPr>
                        <a:t>+7.5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1E7D34"/>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Calendar gave +8; organic gain +4 on top — both working</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8" name="Shape 5"/>
          <p:cNvSpPr/>
          <p:nvPr/>
        </p:nvSpPr>
        <p:spPr>
          <a:xfrm>
            <a:off x="274320" y="3675888"/>
            <a:ext cx="4160520" cy="566928"/>
          </a:xfrm>
          <a:prstGeom prst="rect">
            <a:avLst/>
          </a:prstGeom>
          <a:solidFill>
            <a:srgbClr val="E3F2FD"/>
          </a:solidFill>
          <a:ln w="12700">
            <a:solidFill>
              <a:srgbClr val="1565C0"/>
            </a:solidFill>
            <a:prstDash val="solid"/>
          </a:ln>
        </p:spPr>
      </p:sp>
      <p:sp>
        <p:nvSpPr>
          <p:cNvPr id="9" name="Text 6"/>
          <p:cNvSpPr/>
          <p:nvPr/>
        </p:nvSpPr>
        <p:spPr>
          <a:xfrm>
            <a:off x="384048" y="3694176"/>
            <a:ext cx="3931920" cy="530352"/>
          </a:xfrm>
          <a:prstGeom prst="rect">
            <a:avLst/>
          </a:prstGeom>
          <a:noFill/>
          <a:ln/>
        </p:spPr>
        <p:txBody>
          <a:bodyPr wrap="square" rtlCol="0" anchor="ctr"/>
          <a:lstStyle/>
          <a:p>
            <a:pPr indent="0" marL="0">
              <a:buNone/>
            </a:pPr>
            <a:r>
              <a:rPr lang="en-US" sz="950" dirty="0">
                <a:solidFill>
                  <a:srgbClr val="1565C0"/>
                </a:solidFill>
                <a:latin typeface="Calibri" pitchFamily="34" charset="0"/>
                <a:ea typeface="Calibri" pitchFamily="34" charset="-122"/>
                <a:cs typeface="Calibri" pitchFamily="34" charset="-120"/>
              </a:rPr>
              <a:t>Event shifting (124 events, 11%) explains little: net shift for July was −3, August was 0. Shifting barely moves the needle on summer.</a:t>
            </a:r>
            <a:endParaRPr lang="en-US" sz="950" dirty="0"/>
          </a:p>
        </p:txBody>
      </p:sp>
      <p:sp>
        <p:nvSpPr>
          <p:cNvPr id="10" name="Shape 7"/>
          <p:cNvSpPr/>
          <p:nvPr/>
        </p:nvSpPr>
        <p:spPr>
          <a:xfrm>
            <a:off x="4617720" y="3675888"/>
            <a:ext cx="4251960" cy="566928"/>
          </a:xfrm>
          <a:prstGeom prst="rect">
            <a:avLst/>
          </a:prstGeom>
          <a:solidFill>
            <a:srgbClr val="FFF8E1"/>
          </a:solidFill>
          <a:ln w="12700">
            <a:solidFill>
              <a:srgbClr val="E65100"/>
            </a:solidFill>
            <a:prstDash val="solid"/>
          </a:ln>
        </p:spPr>
      </p:sp>
      <p:sp>
        <p:nvSpPr>
          <p:cNvPr id="11" name="Text 8"/>
          <p:cNvSpPr/>
          <p:nvPr/>
        </p:nvSpPr>
        <p:spPr>
          <a:xfrm>
            <a:off x="4727448" y="3694176"/>
            <a:ext cx="4023360" cy="530352"/>
          </a:xfrm>
          <a:prstGeom prst="rect">
            <a:avLst/>
          </a:prstGeom>
          <a:noFill/>
          <a:ln/>
        </p:spPr>
        <p:txBody>
          <a:bodyPr wrap="square" rtlCol="0" anchor="ctr"/>
          <a:lstStyle/>
          <a:p>
            <a:pPr indent="0" marL="0">
              <a:buNone/>
            </a:pPr>
            <a:r>
              <a:rPr lang="en-US" sz="950" dirty="0">
                <a:solidFill>
                  <a:srgbClr val="E65100"/>
                </a:solidFill>
                <a:latin typeface="Calibri" pitchFamily="34" charset="0"/>
                <a:ea typeface="Calibri" pitchFamily="34" charset="-122"/>
                <a:cs typeface="Calibri" pitchFamily="34" charset="-120"/>
              </a:rPr>
              <a:t>May distortion: raw +3 masks −13 organic. An extra Sunday worth +16 expected events simply didn't materialise — the most misleading raw number in the data.</a:t>
            </a:r>
            <a:endParaRPr lang="en-US" sz="950" dirty="0"/>
          </a:p>
        </p:txBody>
      </p:sp>
      <p:sp>
        <p:nvSpPr>
          <p:cNvPr id="12" name="Shape 9"/>
          <p:cNvSpPr/>
          <p:nvPr/>
        </p:nvSpPr>
        <p:spPr>
          <a:xfrm>
            <a:off x="274320" y="4352544"/>
            <a:ext cx="8595360" cy="457200"/>
          </a:xfrm>
          <a:prstGeom prst="rect">
            <a:avLst/>
          </a:prstGeom>
          <a:solidFill>
            <a:srgbClr val="ECEFF1"/>
          </a:solidFill>
          <a:ln w="12700">
            <a:solidFill>
              <a:srgbClr val="CCCCCC"/>
            </a:solidFill>
            <a:prstDash val="solid"/>
          </a:ln>
        </p:spPr>
      </p:sp>
      <p:sp>
        <p:nvSpPr>
          <p:cNvPr id="13" name="Text 10"/>
          <p:cNvSpPr/>
          <p:nvPr/>
        </p:nvSpPr>
        <p:spPr>
          <a:xfrm>
            <a:off x="384048" y="4379976"/>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The calendar is not the explanation for July and August — both had flat weekend-day counts. The summer declines are fully organic. The most counter-intuitive finding is May: raw +3, but actually −13 organic because it was handed an extra race day that events didn't use. June is the reverse — lost a Sunday yet grew +10 on strong organic demand (+33 organically, the strongest month).</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4A148C"/>
          </a:solidFill>
          <a:ln w="12700">
            <a:solidFill>
              <a:srgbClr val="4A148C"/>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3  —  Organic Performance — True Signal After Removing Calendar Noise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5 / 8</a:t>
            </a:r>
            <a:endParaRPr lang="en-US" sz="900" dirty="0"/>
          </a:p>
        </p:txBody>
      </p:sp>
      <p:sp>
        <p:nvSpPr>
          <p:cNvPr id="5" name="Text 3"/>
          <p:cNvSpPr/>
          <p:nvPr/>
        </p:nvSpPr>
        <p:spPr>
          <a:xfrm>
            <a:off x="274320" y="694944"/>
            <a:ext cx="8595360" cy="237744"/>
          </a:xfrm>
          <a:prstGeom prst="rect">
            <a:avLst/>
          </a:prstGeom>
          <a:noFill/>
          <a:ln/>
        </p:spPr>
        <p:txBody>
          <a:bodyPr wrap="square" rtlCol="0" anchor="ctr"/>
          <a:lstStyle/>
          <a:p>
            <a:pPr indent="0" marL="0">
              <a:buNone/>
            </a:pPr>
            <a:r>
              <a:rPr lang="en-US" sz="1100" dirty="0">
                <a:solidFill>
                  <a:srgbClr val="222222"/>
                </a:solidFill>
                <a:latin typeface="Calibri" pitchFamily="34" charset="0"/>
                <a:ea typeface="Calibri" pitchFamily="34" charset="-122"/>
                <a:cs typeface="Calibri" pitchFamily="34" charset="-120"/>
              </a:rPr>
              <a:t>Once calendar effects are stripped, the real performance picture: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69264"/>
          <a:ext cx="8595360" cy="1664208"/>
        </p:xfrm>
        <a:graphic>
          <a:graphicData uri="http://schemas.openxmlformats.org/drawingml/2006/table">
            <a:tbl>
              <a:tblPr/>
              <a:tblGrid>
                <a:gridCol w="1719072"/>
                <a:gridCol w="1719072"/>
                <a:gridCol w="1719072"/>
                <a:gridCol w="1719072"/>
                <a:gridCol w="1719072"/>
              </a:tblGrid>
              <a:tr h="292608">
                <a:tc>
                  <a:txBody>
                    <a:bodyPr/>
                    <a:lstStyle/>
                    <a:p>
                      <a:pPr algn="ctr" indent="0" marL="0">
                        <a:buNone/>
                      </a:pPr>
                      <a:r>
                        <a:rPr lang="en-US" sz="1050" b="1" dirty="0">
                          <a:solidFill>
                            <a:srgbClr val="FFFFFF"/>
                          </a:solidFill>
                        </a:rPr>
                        <a:t>Event Type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Raw Δ</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Calendar Effect</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Δ</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r>
              <a:tr h="292608">
                <a:tc>
                  <a:txBody>
                    <a:bodyPr/>
                    <a:lstStyle/>
                    <a:p>
                      <a:pPr algn="l" indent="0" marL="0">
                        <a:buNone/>
                      </a:pPr>
                      <a:r>
                        <a:rPr lang="en-US" sz="1100" b="1" dirty="0">
                          <a:solidFill>
                            <a:srgbClr val="222222"/>
                          </a:solidFill>
                        </a:rPr>
                        <a:t>Adult Race</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C62828"/>
                          </a:solidFill>
                        </a:rPr>
                        <a:t>-1</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100" dirty="0">
                          <a:solidFill>
                            <a:srgbClr val="E65100"/>
                          </a:solidFill>
                        </a:rPr>
                        <a:t>-2.4</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1E7D34"/>
                          </a:solidFill>
                        </a:rPr>
                        <a:t>+1.4</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1E7D34"/>
                          </a:solidFill>
                        </a:rPr>
                        <a:t>+0.2%</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100" dirty="0">
                          <a:solidFill>
                            <a:srgbClr val="222222"/>
                          </a:solidFill>
                        </a:rPr>
                        <a:t>Youth Race</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62828"/>
                          </a:solidFill>
                        </a:rPr>
                        <a:t>-4</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100" dirty="0">
                          <a:solidFill>
                            <a:srgbClr val="E65100"/>
                          </a:solidFill>
                        </a:rPr>
                        <a:t>-1.2</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C62828"/>
                          </a:solidFill>
                        </a:rPr>
                        <a:t>-2.8</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100" dirty="0">
                          <a:solidFill>
                            <a:srgbClr val="C62828"/>
                          </a:solidFill>
                        </a:rPr>
                        <a:t>-1.2%</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92608">
                <a:tc>
                  <a:txBody>
                    <a:bodyPr/>
                    <a:lstStyle/>
                    <a:p>
                      <a:pPr algn="l" indent="0" marL="0">
                        <a:buNone/>
                      </a:pPr>
                      <a:r>
                        <a:rPr lang="en-US" sz="1100" b="1" dirty="0">
                          <a:solidFill>
                            <a:srgbClr val="C62828"/>
                          </a:solidFill>
                        </a:rPr>
                        <a:t>Adult Clinic</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100" b="1" dirty="0">
                          <a:solidFill>
                            <a:srgbClr val="C62828"/>
                          </a:solidFill>
                        </a:rPr>
                        <a:t>-12</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100" dirty="0">
                          <a:solidFill>
                            <a:srgbClr val="E65100"/>
                          </a:solidFill>
                        </a:rPr>
                        <a:t>-2.0</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100" b="1" dirty="0">
                          <a:solidFill>
                            <a:srgbClr val="C62828"/>
                          </a:solidFill>
                        </a:rPr>
                        <a:t>-10.0</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100" b="1" dirty="0">
                          <a:solidFill>
                            <a:srgbClr val="C62828"/>
                          </a:solidFill>
                        </a:rPr>
                        <a:t>-10.3%</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292608">
                <a:tc>
                  <a:txBody>
                    <a:bodyPr/>
                    <a:lstStyle/>
                    <a:p>
                      <a:pPr algn="l" indent="0" marL="0">
                        <a:buNone/>
                      </a:pPr>
                      <a:r>
                        <a:rPr lang="en-US" sz="1100" b="1" dirty="0">
                          <a:solidFill>
                            <a:srgbClr val="1E7D34"/>
                          </a:solidFill>
                        </a:rPr>
                        <a:t>Youth Clinic</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1E7D34"/>
                          </a:solidFill>
                        </a:rPr>
                        <a:t>+5</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E65100"/>
                          </a:solidFill>
                        </a:rPr>
                        <a:t>-0.6</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1E7D34"/>
                          </a:solidFill>
                        </a:rPr>
                        <a:t>+5.6</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b="1" dirty="0">
                          <a:solidFill>
                            <a:srgbClr val="1E7D34"/>
                          </a:solidFill>
                        </a:rPr>
                        <a:t>+19.4%</a:t>
                      </a:r>
                      <a:endParaRPr lang="en-US" sz="11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743200"/>
            <a:ext cx="8595360" cy="365760"/>
          </a:xfrm>
          <a:prstGeom prst="rect">
            <a:avLst/>
          </a:prstGeom>
          <a:solidFill>
            <a:srgbClr val="E3F2FD"/>
          </a:solidFill>
          <a:ln w="12700">
            <a:solidFill>
              <a:srgbClr val="1565C0"/>
            </a:solidFill>
            <a:prstDash val="solid"/>
          </a:ln>
        </p:spPr>
      </p:sp>
      <p:sp>
        <p:nvSpPr>
          <p:cNvPr id="8" name="Text 5"/>
          <p:cNvSpPr/>
          <p:nvPr/>
        </p:nvSpPr>
        <p:spPr>
          <a:xfrm>
            <a:off x="384048" y="2761488"/>
            <a:ext cx="8321040" cy="329184"/>
          </a:xfrm>
          <a:prstGeom prst="rect">
            <a:avLst/>
          </a:prstGeom>
          <a:noFill/>
          <a:ln/>
        </p:spPr>
        <p:txBody>
          <a:bodyPr wrap="square" rtlCol="0" anchor="ctr"/>
          <a:lstStyle/>
          <a:p>
            <a:pPr indent="0" marL="0">
              <a:buNone/>
            </a:pPr>
            <a:r>
              <a:rPr lang="en-US" sz="950" i="1" dirty="0">
                <a:solidFill>
                  <a:srgbClr val="1565C0"/>
                </a:solidFill>
                <a:latin typeface="Calibri" pitchFamily="34" charset="0"/>
                <a:ea typeface="Calibri" pitchFamily="34" charset="-122"/>
                <a:cs typeface="Calibri" pitchFamily="34" charset="-120"/>
              </a:rPr>
              <a:t>Organic Δ = Actual Δ − Calendar Expected Δ.   Calendar effect = Δ weekend days × 2025 events-per-weekend-day for that month &amp; type.</a:t>
            </a:r>
            <a:endParaRPr lang="en-US" sz="950" dirty="0"/>
          </a:p>
        </p:txBody>
      </p:sp>
      <p:sp>
        <p:nvSpPr>
          <p:cNvPr id="9" name="Shape 6"/>
          <p:cNvSpPr/>
          <p:nvPr/>
        </p:nvSpPr>
        <p:spPr>
          <a:xfrm>
            <a:off x="274320" y="3218688"/>
            <a:ext cx="4160520" cy="713232"/>
          </a:xfrm>
          <a:prstGeom prst="rect">
            <a:avLst/>
          </a:prstGeom>
          <a:solidFill>
            <a:srgbClr val="FDECEA"/>
          </a:solidFill>
          <a:ln w="12700">
            <a:solidFill>
              <a:srgbClr val="C62828"/>
            </a:solidFill>
            <a:prstDash val="solid"/>
          </a:ln>
        </p:spPr>
      </p:sp>
      <p:sp>
        <p:nvSpPr>
          <p:cNvPr id="10" name="Text 7"/>
          <p:cNvSpPr/>
          <p:nvPr/>
        </p:nvSpPr>
        <p:spPr>
          <a:xfrm>
            <a:off x="384048" y="3236976"/>
            <a:ext cx="3931920" cy="676656"/>
          </a:xfrm>
          <a:prstGeom prst="rect">
            <a:avLst/>
          </a:prstGeom>
          <a:noFill/>
          <a:ln/>
        </p:spPr>
        <p:txBody>
          <a:bodyPr wrap="square" rtlCol="0" anchor="ctr"/>
          <a:lstStyle/>
          <a:p>
            <a:pPr indent="0" marL="0">
              <a:buNone/>
            </a:pPr>
            <a:r>
              <a:rPr lang="en-US" sz="950" dirty="0">
                <a:solidFill>
                  <a:srgbClr val="C62828"/>
                </a:solidFill>
                <a:latin typeface="Calibri" pitchFamily="34" charset="0"/>
                <a:ea typeface="Calibri" pitchFamily="34" charset="-122"/>
                <a:cs typeface="Calibri" pitchFamily="34" charset="-120"/>
              </a:rPr>
              <a:t>⚠  Adult Clinic: −10.0 organic (−10.3%)</a:t>
            </a:r>
            <a:endParaRPr lang="en-US" sz="950" dirty="0"/>
          </a:p>
          <a:p>
            <a:pPr indent="0" marL="0">
              <a:buNone/>
            </a:pPr>
            <a:r>
              <a:rPr lang="en-US" sz="950" dirty="0">
                <a:solidFill>
                  <a:srgbClr val="C62828"/>
                </a:solidFill>
                <a:latin typeface="Calibri" pitchFamily="34" charset="0"/>
                <a:ea typeface="Calibri" pitchFamily="34" charset="-122"/>
                <a:cs typeface="Calibri" pitchFamily="34" charset="-120"/>
              </a:rPr>
              <a:t>Structurally declining — the sole driver of the net −12.</a:t>
            </a:r>
            <a:endParaRPr lang="en-US" sz="950" dirty="0"/>
          </a:p>
          <a:p>
            <a:pPr indent="0" marL="0">
              <a:buNone/>
            </a:pPr>
            <a:r>
              <a:rPr lang="en-US" sz="950" dirty="0">
                <a:solidFill>
                  <a:srgbClr val="C62828"/>
                </a:solidFill>
                <a:latin typeface="Calibri" pitchFamily="34" charset="0"/>
                <a:ea typeface="Calibri" pitchFamily="34" charset="-122"/>
                <a:cs typeface="Calibri" pitchFamily="34" charset="-120"/>
              </a:rPr>
              <a:t>Calendar noise cannot explain it.</a:t>
            </a:r>
            <a:endParaRPr lang="en-US" sz="950" dirty="0"/>
          </a:p>
        </p:txBody>
      </p:sp>
      <p:sp>
        <p:nvSpPr>
          <p:cNvPr id="11" name="Shape 8"/>
          <p:cNvSpPr/>
          <p:nvPr/>
        </p:nvSpPr>
        <p:spPr>
          <a:xfrm>
            <a:off x="4617720" y="3218688"/>
            <a:ext cx="4251960" cy="713232"/>
          </a:xfrm>
          <a:prstGeom prst="rect">
            <a:avLst/>
          </a:prstGeom>
          <a:solidFill>
            <a:srgbClr val="E8F5E9"/>
          </a:solidFill>
          <a:ln w="12700">
            <a:solidFill>
              <a:srgbClr val="1E7D34"/>
            </a:solidFill>
            <a:prstDash val="solid"/>
          </a:ln>
        </p:spPr>
      </p:sp>
      <p:sp>
        <p:nvSpPr>
          <p:cNvPr id="12" name="Text 9"/>
          <p:cNvSpPr/>
          <p:nvPr/>
        </p:nvSpPr>
        <p:spPr>
          <a:xfrm>
            <a:off x="4727448" y="3236976"/>
            <a:ext cx="4023360" cy="676656"/>
          </a:xfrm>
          <a:prstGeom prst="rect">
            <a:avLst/>
          </a:prstGeom>
          <a:noFill/>
          <a:ln/>
        </p:spPr>
        <p:txBody>
          <a:bodyPr wrap="square" rtlCol="0" anchor="ctr"/>
          <a:lstStyle/>
          <a:p>
            <a:pPr indent="0" marL="0">
              <a:buNone/>
            </a:pPr>
            <a:r>
              <a:rPr lang="en-US" sz="950" dirty="0">
                <a:solidFill>
                  <a:srgbClr val="1E7D34"/>
                </a:solidFill>
                <a:latin typeface="Calibri" pitchFamily="34" charset="0"/>
                <a:ea typeface="Calibri" pitchFamily="34" charset="-122"/>
                <a:cs typeface="Calibri" pitchFamily="34" charset="-120"/>
              </a:rPr>
              <a:t>✓  Youth Clinic: +5.6 organic (+19.4%)</a:t>
            </a:r>
            <a:endParaRPr lang="en-US" sz="950" dirty="0"/>
          </a:p>
          <a:p>
            <a:pPr indent="0" marL="0">
              <a:buNone/>
            </a:pPr>
            <a:r>
              <a:rPr lang="en-US" sz="950" dirty="0">
                <a:solidFill>
                  <a:srgbClr val="1E7D34"/>
                </a:solidFill>
                <a:latin typeface="Calibri" pitchFamily="34" charset="0"/>
                <a:ea typeface="Calibri" pitchFamily="34" charset="-122"/>
                <a:cs typeface="Calibri" pitchFamily="34" charset="-120"/>
              </a:rPr>
              <a:t>Only type genuinely growing — no calendar help.</a:t>
            </a:r>
            <a:endParaRPr lang="en-US" sz="950" dirty="0"/>
          </a:p>
          <a:p>
            <a:pPr indent="0" marL="0">
              <a:buNone/>
            </a:pPr>
            <a:r>
              <a:rPr lang="en-US" sz="950" dirty="0">
                <a:solidFill>
                  <a:srgbClr val="1E7D34"/>
                </a:solidFill>
                <a:latin typeface="Calibri" pitchFamily="34" charset="0"/>
                <a:ea typeface="Calibri" pitchFamily="34" charset="-122"/>
                <a:cs typeface="Calibri" pitchFamily="34" charset="-120"/>
              </a:rPr>
              <a:t>Adult &amp; Youth Race are near-flat after stripping noise.</a:t>
            </a:r>
            <a:endParaRPr lang="en-US" sz="950" dirty="0"/>
          </a:p>
        </p:txBody>
      </p:sp>
      <p:sp>
        <p:nvSpPr>
          <p:cNvPr id="13" name="Text 10"/>
          <p:cNvSpPr/>
          <p:nvPr/>
        </p:nvSpPr>
        <p:spPr>
          <a:xfrm>
            <a:off x="274320" y="4041648"/>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Best &amp; worst organic months (calendar-adjusted):</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274320" y="4315968"/>
          <a:ext cx="8595360" cy="603504"/>
        </p:xfrm>
        <a:graphic>
          <a:graphicData uri="http://schemas.openxmlformats.org/drawingml/2006/table">
            <a:tbl>
              <a:tblPr/>
              <a:tblGrid>
                <a:gridCol w="1719072"/>
                <a:gridCol w="1719072"/>
                <a:gridCol w="1719072"/>
                <a:gridCol w="1719072"/>
                <a:gridCol w="1719072"/>
              </a:tblGrid>
              <a:tr h="283464">
                <a:tc>
                  <a:txBody>
                    <a:bodyPr/>
                    <a:lstStyle/>
                    <a:p>
                      <a:pPr algn="ctr" indent="0" marL="0">
                        <a:buNone/>
                      </a:pPr>
                      <a:r>
                        <a:rPr lang="en-US" sz="1000" b="1" dirty="0">
                          <a:solidFill>
                            <a:srgbClr val="FFFFFF"/>
                          </a:solidFill>
                        </a:rPr>
                        <a:t>Strongest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June +33.2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March +13.4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January +5.8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April +5.0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3A047"/>
                    </a:solidFill>
                  </a:tcPr>
                </a:tc>
              </a:tr>
              <a:tr h="283464">
                <a:tc>
                  <a:txBody>
                    <a:bodyPr/>
                    <a:lstStyle/>
                    <a:p>
                      <a:pPr algn="ctr" indent="0" marL="0">
                        <a:buNone/>
                      </a:pPr>
                      <a:r>
                        <a:rPr lang="en-US" sz="1000" b="1" dirty="0">
                          <a:solidFill>
                            <a:srgbClr val="FFFFFF"/>
                          </a:solidFill>
                        </a:rPr>
                        <a:t>Weakest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August −18.0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July −16.0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May −12.8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5100"/>
                    </a:solidFill>
                  </a:tcPr>
                </a:tc>
                <a:tc>
                  <a:txBody>
                    <a:bodyPr/>
                    <a:lstStyle/>
                    <a:p>
                      <a:pPr algn="ctr" indent="0" marL="0">
                        <a:buNone/>
                      </a:pPr>
                      <a:r>
                        <a:rPr lang="en-US" sz="1000" b="1" dirty="0">
                          <a:solidFill>
                            <a:srgbClr val="FFFFFF"/>
                          </a:solidFill>
                        </a:rPr>
                        <a:t>November −6.8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r>
            </a:tbl>
          </a:graphicData>
        </a:graphic>
      </p:graphicFrame>
      <p:sp>
        <p:nvSpPr>
          <p:cNvPr id="15" name="Shape 11"/>
          <p:cNvSpPr/>
          <p:nvPr/>
        </p:nvSpPr>
        <p:spPr>
          <a:xfrm>
            <a:off x="274320" y="4956048"/>
            <a:ext cx="8595360" cy="128016"/>
          </a:xfrm>
          <a:prstGeom prst="rect">
            <a:avLst/>
          </a:prstGeom>
          <a:solidFill>
            <a:srgbClr val="ECEFF1"/>
          </a:solidFill>
          <a:ln w="12700">
            <a:solidFill>
              <a:srgbClr val="CCCCCC"/>
            </a:solidFill>
            <a:prstDash val="solid"/>
          </a:ln>
        </p:spPr>
      </p:sp>
      <p:sp>
        <p:nvSpPr>
          <p:cNvPr id="16" name="Text 12"/>
          <p:cNvSpPr/>
          <p:nvPr/>
        </p:nvSpPr>
        <p:spPr>
          <a:xfrm>
            <a:off x="384048" y="4965192"/>
            <a:ext cx="8321040" cy="118872"/>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Adult Race and Youth Race are near-flat organically — the race product is holding. Adult Clinic is in structural contraction. Youth Clinic is the only growth story.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7474F"/>
          </a:solidFill>
          <a:ln w="12700">
            <a:solidFill>
              <a:srgbClr val="37474F"/>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4  —  Did We Really Lose Events?  Event-Level Disposition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6 / 8</a:t>
            </a:r>
            <a:endParaRPr lang="en-US" sz="900" dirty="0"/>
          </a:p>
        </p:txBody>
      </p:sp>
      <p:sp>
        <p:nvSpPr>
          <p:cNvPr id="5" name="Shape 3"/>
          <p:cNvSpPr/>
          <p:nvPr/>
        </p:nvSpPr>
        <p:spPr>
          <a:xfrm>
            <a:off x="274320" y="694944"/>
            <a:ext cx="2029968" cy="1152144"/>
          </a:xfrm>
          <a:prstGeom prst="rect">
            <a:avLst/>
          </a:prstGeom>
          <a:solidFill>
            <a:srgbClr val="E8F5E9"/>
          </a:solidFill>
          <a:ln w="12700">
            <a:solidFill>
              <a:srgbClr val="1E7D34"/>
            </a:solidFill>
            <a:prstDash val="solid"/>
          </a:ln>
        </p:spPr>
      </p:sp>
      <p:sp>
        <p:nvSpPr>
          <p:cNvPr id="6" name="Text 4"/>
          <p:cNvSpPr/>
          <p:nvPr/>
        </p:nvSpPr>
        <p:spPr>
          <a:xfrm>
            <a:off x="274320" y="722376"/>
            <a:ext cx="2029968" cy="475488"/>
          </a:xfrm>
          <a:prstGeom prst="rect">
            <a:avLst/>
          </a:prstGeom>
          <a:noFill/>
          <a:ln/>
        </p:spPr>
        <p:txBody>
          <a:bodyPr wrap="square" rtlCol="0" anchor="ctr"/>
          <a:lstStyle/>
          <a:p>
            <a:pPr algn="ctr" indent="0" marL="0">
              <a:buNone/>
            </a:pPr>
            <a:r>
              <a:rPr lang="en-US" sz="2700" b="1" dirty="0">
                <a:solidFill>
                  <a:srgbClr val="1E7D34"/>
                </a:solidFill>
                <a:latin typeface="Calibri" pitchFamily="34" charset="0"/>
                <a:ea typeface="Calibri" pitchFamily="34" charset="-122"/>
                <a:cs typeface="Calibri" pitchFamily="34" charset="-120"/>
              </a:rPr>
              <a:t>746</a:t>
            </a:r>
            <a:endParaRPr lang="en-US" sz="2700" dirty="0"/>
          </a:p>
        </p:txBody>
      </p:sp>
      <p:sp>
        <p:nvSpPr>
          <p:cNvPr id="7" name="Text 5"/>
          <p:cNvSpPr/>
          <p:nvPr/>
        </p:nvSpPr>
        <p:spPr>
          <a:xfrm>
            <a:off x="274320" y="1161288"/>
            <a:ext cx="2029968" cy="201168"/>
          </a:xfrm>
          <a:prstGeom prst="rect">
            <a:avLst/>
          </a:prstGeom>
          <a:noFill/>
          <a:ln/>
        </p:spPr>
        <p:txBody>
          <a:bodyPr wrap="square" rtlCol="0" anchor="ctr"/>
          <a:lstStyle/>
          <a:p>
            <a:pPr algn="ctr" indent="0" marL="0">
              <a:buNone/>
            </a:pPr>
            <a:r>
              <a:rPr lang="en-US" sz="900" i="1" dirty="0">
                <a:solidFill>
                  <a:srgbClr val="1E7D34"/>
                </a:solidFill>
                <a:latin typeface="Calibri" pitchFamily="34" charset="0"/>
                <a:ea typeface="Calibri" pitchFamily="34" charset="-122"/>
                <a:cs typeface="Calibri" pitchFamily="34" charset="-120"/>
              </a:rPr>
              <a:t>63% of 2025</a:t>
            </a:r>
            <a:endParaRPr lang="en-US" sz="900" dirty="0"/>
          </a:p>
        </p:txBody>
      </p:sp>
      <p:sp>
        <p:nvSpPr>
          <p:cNvPr id="8" name="Text 6"/>
          <p:cNvSpPr/>
          <p:nvPr/>
        </p:nvSpPr>
        <p:spPr>
          <a:xfrm>
            <a:off x="274320" y="1344168"/>
            <a:ext cx="2029968" cy="201168"/>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Retained</a:t>
            </a:r>
            <a:endParaRPr lang="en-US" sz="1000" dirty="0"/>
          </a:p>
        </p:txBody>
      </p:sp>
      <p:sp>
        <p:nvSpPr>
          <p:cNvPr id="9" name="Text 7"/>
          <p:cNvSpPr/>
          <p:nvPr/>
        </p:nvSpPr>
        <p:spPr>
          <a:xfrm>
            <a:off x="274320"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same month</a:t>
            </a:r>
            <a:endParaRPr lang="en-US" sz="850" dirty="0"/>
          </a:p>
        </p:txBody>
      </p:sp>
      <p:sp>
        <p:nvSpPr>
          <p:cNvPr id="10" name="Shape 8"/>
          <p:cNvSpPr/>
          <p:nvPr/>
        </p:nvSpPr>
        <p:spPr>
          <a:xfrm>
            <a:off x="2450592" y="694944"/>
            <a:ext cx="2029968" cy="1152144"/>
          </a:xfrm>
          <a:prstGeom prst="rect">
            <a:avLst/>
          </a:prstGeom>
          <a:solidFill>
            <a:srgbClr val="FFF8E1"/>
          </a:solidFill>
          <a:ln w="12700">
            <a:solidFill>
              <a:srgbClr val="E65100"/>
            </a:solidFill>
            <a:prstDash val="solid"/>
          </a:ln>
        </p:spPr>
      </p:sp>
      <p:sp>
        <p:nvSpPr>
          <p:cNvPr id="11" name="Text 9"/>
          <p:cNvSpPr/>
          <p:nvPr/>
        </p:nvSpPr>
        <p:spPr>
          <a:xfrm>
            <a:off x="2450592" y="722376"/>
            <a:ext cx="2029968" cy="475488"/>
          </a:xfrm>
          <a:prstGeom prst="rect">
            <a:avLst/>
          </a:prstGeom>
          <a:noFill/>
          <a:ln/>
        </p:spPr>
        <p:txBody>
          <a:bodyPr wrap="square" rtlCol="0" anchor="ctr"/>
          <a:lstStyle/>
          <a:p>
            <a:pPr algn="ctr" indent="0" marL="0">
              <a:buNone/>
            </a:pPr>
            <a:r>
              <a:rPr lang="en-US" sz="2700" b="1" dirty="0">
                <a:solidFill>
                  <a:srgbClr val="E65100"/>
                </a:solidFill>
                <a:latin typeface="Calibri" pitchFamily="34" charset="0"/>
                <a:ea typeface="Calibri" pitchFamily="34" charset="-122"/>
                <a:cs typeface="Calibri" pitchFamily="34" charset="-120"/>
              </a:rPr>
              <a:t>124</a:t>
            </a:r>
            <a:endParaRPr lang="en-US" sz="2700" dirty="0"/>
          </a:p>
        </p:txBody>
      </p:sp>
      <p:sp>
        <p:nvSpPr>
          <p:cNvPr id="12" name="Text 10"/>
          <p:cNvSpPr/>
          <p:nvPr/>
        </p:nvSpPr>
        <p:spPr>
          <a:xfrm>
            <a:off x="2450592" y="1161288"/>
            <a:ext cx="2029968" cy="201168"/>
          </a:xfrm>
          <a:prstGeom prst="rect">
            <a:avLst/>
          </a:prstGeom>
          <a:noFill/>
          <a:ln/>
        </p:spPr>
        <p:txBody>
          <a:bodyPr wrap="square" rtlCol="0" anchor="ctr"/>
          <a:lstStyle/>
          <a:p>
            <a:pPr algn="ctr" indent="0" marL="0">
              <a:buNone/>
            </a:pPr>
            <a:r>
              <a:rPr lang="en-US" sz="900" i="1" dirty="0">
                <a:solidFill>
                  <a:srgbClr val="E65100"/>
                </a:solidFill>
                <a:latin typeface="Calibri" pitchFamily="34" charset="0"/>
                <a:ea typeface="Calibri" pitchFamily="34" charset="-122"/>
                <a:cs typeface="Calibri" pitchFamily="34" charset="-120"/>
              </a:rPr>
              <a:t>11% of 2025</a:t>
            </a:r>
            <a:endParaRPr lang="en-US" sz="900" dirty="0"/>
          </a:p>
        </p:txBody>
      </p:sp>
      <p:sp>
        <p:nvSpPr>
          <p:cNvPr id="13" name="Text 11"/>
          <p:cNvSpPr/>
          <p:nvPr/>
        </p:nvSpPr>
        <p:spPr>
          <a:xfrm>
            <a:off x="2450592" y="1344168"/>
            <a:ext cx="2029968" cy="201168"/>
          </a:xfrm>
          <a:prstGeom prst="rect">
            <a:avLst/>
          </a:prstGeom>
          <a:noFill/>
          <a:ln/>
        </p:spPr>
        <p:txBody>
          <a:bodyPr wrap="square" rtlCol="0" anchor="ctr"/>
          <a:lstStyle/>
          <a:p>
            <a:pPr algn="ctr" indent="0" marL="0">
              <a:buNone/>
            </a:pPr>
            <a:r>
              <a:rPr lang="en-US" sz="1000" b="1" dirty="0">
                <a:solidFill>
                  <a:srgbClr val="E65100"/>
                </a:solidFill>
                <a:latin typeface="Calibri" pitchFamily="34" charset="0"/>
                <a:ea typeface="Calibri" pitchFamily="34" charset="-122"/>
                <a:cs typeface="Calibri" pitchFamily="34" charset="-120"/>
              </a:rPr>
              <a:t>Shifted</a:t>
            </a:r>
            <a:endParaRPr lang="en-US" sz="1000" dirty="0"/>
          </a:p>
        </p:txBody>
      </p:sp>
      <p:sp>
        <p:nvSpPr>
          <p:cNvPr id="14" name="Text 12"/>
          <p:cNvSpPr/>
          <p:nvPr/>
        </p:nvSpPr>
        <p:spPr>
          <a:xfrm>
            <a:off x="2450592"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different month</a:t>
            </a:r>
            <a:endParaRPr lang="en-US" sz="850" dirty="0"/>
          </a:p>
        </p:txBody>
      </p:sp>
      <p:sp>
        <p:nvSpPr>
          <p:cNvPr id="15" name="Shape 13"/>
          <p:cNvSpPr/>
          <p:nvPr/>
        </p:nvSpPr>
        <p:spPr>
          <a:xfrm>
            <a:off x="4626864" y="694944"/>
            <a:ext cx="2029968" cy="1152144"/>
          </a:xfrm>
          <a:prstGeom prst="rect">
            <a:avLst/>
          </a:prstGeom>
          <a:solidFill>
            <a:srgbClr val="FFCDD2"/>
          </a:solidFill>
          <a:ln w="12700">
            <a:solidFill>
              <a:srgbClr val="C62828"/>
            </a:solidFill>
            <a:prstDash val="solid"/>
          </a:ln>
        </p:spPr>
      </p:sp>
      <p:sp>
        <p:nvSpPr>
          <p:cNvPr id="16" name="Text 14"/>
          <p:cNvSpPr/>
          <p:nvPr/>
        </p:nvSpPr>
        <p:spPr>
          <a:xfrm>
            <a:off x="4626864" y="722376"/>
            <a:ext cx="2029968" cy="475488"/>
          </a:xfrm>
          <a:prstGeom prst="rect">
            <a:avLst/>
          </a:prstGeom>
          <a:noFill/>
          <a:ln/>
        </p:spPr>
        <p:txBody>
          <a:bodyPr wrap="square" rtlCol="0" anchor="ctr"/>
          <a:lstStyle/>
          <a:p>
            <a:pPr algn="ctr" indent="0" marL="0">
              <a:buNone/>
            </a:pPr>
            <a:r>
              <a:rPr lang="en-US" sz="2700" b="1" dirty="0">
                <a:solidFill>
                  <a:srgbClr val="C62828"/>
                </a:solidFill>
                <a:latin typeface="Calibri" pitchFamily="34" charset="0"/>
                <a:ea typeface="Calibri" pitchFamily="34" charset="-122"/>
                <a:cs typeface="Calibri" pitchFamily="34" charset="-120"/>
              </a:rPr>
              <a:t>295</a:t>
            </a:r>
            <a:endParaRPr lang="en-US" sz="2700" dirty="0"/>
          </a:p>
        </p:txBody>
      </p:sp>
      <p:sp>
        <p:nvSpPr>
          <p:cNvPr id="17" name="Text 15"/>
          <p:cNvSpPr/>
          <p:nvPr/>
        </p:nvSpPr>
        <p:spPr>
          <a:xfrm>
            <a:off x="4626864" y="1161288"/>
            <a:ext cx="2029968" cy="201168"/>
          </a:xfrm>
          <a:prstGeom prst="rect">
            <a:avLst/>
          </a:prstGeom>
          <a:noFill/>
          <a:ln/>
        </p:spPr>
        <p:txBody>
          <a:bodyPr wrap="square" rtlCol="0" anchor="ctr"/>
          <a:lstStyle/>
          <a:p>
            <a:pPr algn="ctr" indent="0" marL="0">
              <a:buNone/>
            </a:pPr>
            <a:r>
              <a:rPr lang="en-US" sz="900" i="1" dirty="0">
                <a:solidFill>
                  <a:srgbClr val="C62828"/>
                </a:solidFill>
                <a:latin typeface="Calibri" pitchFamily="34" charset="0"/>
                <a:ea typeface="Calibri" pitchFamily="34" charset="-122"/>
                <a:cs typeface="Calibri" pitchFamily="34" charset="-120"/>
              </a:rPr>
              <a:t>25% of 2025</a:t>
            </a:r>
            <a:endParaRPr lang="en-US" sz="900" dirty="0"/>
          </a:p>
        </p:txBody>
      </p:sp>
      <p:sp>
        <p:nvSpPr>
          <p:cNvPr id="18" name="Text 16"/>
          <p:cNvSpPr/>
          <p:nvPr/>
        </p:nvSpPr>
        <p:spPr>
          <a:xfrm>
            <a:off x="4626864" y="1344168"/>
            <a:ext cx="2029968" cy="2011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Attrited</a:t>
            </a:r>
            <a:endParaRPr lang="en-US" sz="1000" dirty="0"/>
          </a:p>
        </p:txBody>
      </p:sp>
      <p:sp>
        <p:nvSpPr>
          <p:cNvPr id="19" name="Text 17"/>
          <p:cNvSpPr/>
          <p:nvPr/>
        </p:nvSpPr>
        <p:spPr>
          <a:xfrm>
            <a:off x="4626864"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Did not return to 2026</a:t>
            </a:r>
            <a:endParaRPr lang="en-US" sz="850" dirty="0"/>
          </a:p>
        </p:txBody>
      </p:sp>
      <p:sp>
        <p:nvSpPr>
          <p:cNvPr id="20" name="Shape 18"/>
          <p:cNvSpPr/>
          <p:nvPr/>
        </p:nvSpPr>
        <p:spPr>
          <a:xfrm>
            <a:off x="6803136" y="694944"/>
            <a:ext cx="2029968" cy="1152144"/>
          </a:xfrm>
          <a:prstGeom prst="rect">
            <a:avLst/>
          </a:prstGeom>
          <a:solidFill>
            <a:srgbClr val="E3F2FD"/>
          </a:solidFill>
          <a:ln w="12700">
            <a:solidFill>
              <a:srgbClr val="1565C0"/>
            </a:solidFill>
            <a:prstDash val="solid"/>
          </a:ln>
        </p:spPr>
      </p:sp>
      <p:sp>
        <p:nvSpPr>
          <p:cNvPr id="21" name="Text 19"/>
          <p:cNvSpPr/>
          <p:nvPr/>
        </p:nvSpPr>
        <p:spPr>
          <a:xfrm>
            <a:off x="6803136" y="722376"/>
            <a:ext cx="2029968" cy="475488"/>
          </a:xfrm>
          <a:prstGeom prst="rect">
            <a:avLst/>
          </a:prstGeom>
          <a:noFill/>
          <a:ln/>
        </p:spPr>
        <p:txBody>
          <a:bodyPr wrap="square" rtlCol="0" anchor="ctr"/>
          <a:lstStyle/>
          <a:p>
            <a:pPr algn="ctr" indent="0" marL="0">
              <a:buNone/>
            </a:pPr>
            <a:r>
              <a:rPr lang="en-US" sz="2700" b="1" dirty="0">
                <a:solidFill>
                  <a:srgbClr val="1565C0"/>
                </a:solidFill>
                <a:latin typeface="Calibri" pitchFamily="34" charset="0"/>
                <a:ea typeface="Calibri" pitchFamily="34" charset="-122"/>
                <a:cs typeface="Calibri" pitchFamily="34" charset="-120"/>
              </a:rPr>
              <a:t>263</a:t>
            </a:r>
            <a:endParaRPr lang="en-US" sz="2700" dirty="0"/>
          </a:p>
        </p:txBody>
      </p:sp>
      <p:sp>
        <p:nvSpPr>
          <p:cNvPr id="22" name="Text 20"/>
          <p:cNvSpPr/>
          <p:nvPr/>
        </p:nvSpPr>
        <p:spPr>
          <a:xfrm>
            <a:off x="6803136" y="1161288"/>
            <a:ext cx="2029968" cy="201168"/>
          </a:xfrm>
          <a:prstGeom prst="rect">
            <a:avLst/>
          </a:prstGeom>
          <a:noFill/>
          <a:ln/>
        </p:spPr>
        <p:txBody>
          <a:bodyPr wrap="square" rtlCol="0" anchor="ctr"/>
          <a:lstStyle/>
          <a:p>
            <a:pPr algn="ctr" indent="0" marL="0">
              <a:buNone/>
            </a:pPr>
            <a:r>
              <a:rPr lang="en-US" sz="900" i="1" dirty="0">
                <a:solidFill>
                  <a:srgbClr val="1565C0"/>
                </a:solidFill>
                <a:latin typeface="Calibri" pitchFamily="34" charset="0"/>
                <a:ea typeface="Calibri" pitchFamily="34" charset="-122"/>
                <a:cs typeface="Calibri" pitchFamily="34" charset="-120"/>
              </a:rPr>
              <a:t>22% of 2025</a:t>
            </a:r>
            <a:endParaRPr lang="en-US" sz="900" dirty="0"/>
          </a:p>
        </p:txBody>
      </p:sp>
      <p:sp>
        <p:nvSpPr>
          <p:cNvPr id="23" name="Text 21"/>
          <p:cNvSpPr/>
          <p:nvPr/>
        </p:nvSpPr>
        <p:spPr>
          <a:xfrm>
            <a:off x="6803136" y="1344168"/>
            <a:ext cx="2029968" cy="201168"/>
          </a:xfrm>
          <a:prstGeom prst="rect">
            <a:avLst/>
          </a:prstGeom>
          <a:noFill/>
          <a:ln/>
        </p:spPr>
        <p:txBody>
          <a:bodyPr wrap="square" rtlCol="0" anchor="ctr"/>
          <a:lstStyle/>
          <a:p>
            <a:pPr algn="ctr" indent="0" marL="0">
              <a:buNone/>
            </a:pPr>
            <a:r>
              <a:rPr lang="en-US" sz="1000" b="1" dirty="0">
                <a:solidFill>
                  <a:srgbClr val="1565C0"/>
                </a:solidFill>
                <a:latin typeface="Calibri" pitchFamily="34" charset="0"/>
                <a:ea typeface="Calibri" pitchFamily="34" charset="-122"/>
                <a:cs typeface="Calibri" pitchFamily="34" charset="-120"/>
              </a:rPr>
              <a:t>New</a:t>
            </a:r>
            <a:endParaRPr lang="en-US" sz="1000" dirty="0"/>
          </a:p>
        </p:txBody>
      </p:sp>
      <p:sp>
        <p:nvSpPr>
          <p:cNvPr id="24" name="Text 22"/>
          <p:cNvSpPr/>
          <p:nvPr/>
        </p:nvSpPr>
        <p:spPr>
          <a:xfrm>
            <a:off x="6803136"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Brand new to 2026</a:t>
            </a:r>
            <a:endParaRPr lang="en-US" sz="850" dirty="0"/>
          </a:p>
        </p:txBody>
      </p:sp>
      <p:sp>
        <p:nvSpPr>
          <p:cNvPr id="25" name="Text 23"/>
          <p:cNvSpPr/>
          <p:nvPr/>
        </p:nvSpPr>
        <p:spPr>
          <a:xfrm>
            <a:off x="274320" y="1920240"/>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Summer Replacement Rates — July &amp; August:</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2194560"/>
          <a:ext cx="8595360" cy="1261872"/>
        </p:xfrm>
        <a:graphic>
          <a:graphicData uri="http://schemas.openxmlformats.org/drawingml/2006/table">
            <a:tbl>
              <a:tblPr/>
              <a:tblGrid>
                <a:gridCol w="955040"/>
                <a:gridCol w="955040"/>
                <a:gridCol w="955040"/>
                <a:gridCol w="955040"/>
                <a:gridCol w="955040"/>
                <a:gridCol w="955040"/>
                <a:gridCol w="955040"/>
                <a:gridCol w="955040"/>
                <a:gridCol w="955040"/>
              </a:tblGrid>
              <a:tr h="347472">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Events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Retained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Out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5100"/>
                    </a:solidFill>
                  </a:tcPr>
                </a:tc>
                <a:tc>
                  <a:txBody>
                    <a:bodyPr/>
                    <a:lstStyle/>
                    <a:p>
                      <a:pPr algn="ctr" indent="0" marL="0">
                        <a:buNone/>
                      </a:pPr>
                      <a:r>
                        <a:rPr lang="en-US" sz="1000" b="1" dirty="0">
                          <a:solidFill>
                            <a:srgbClr val="FFFFFF"/>
                          </a:solidFill>
                        </a:rPr>
                        <a:t>Attrited</a:t>
                      </a:r>
                      <a:endParaRPr lang="en-US" sz="1000" dirty="0"/>
                    </a:p>
                    <a:p>
                      <a:pPr algn="ctr" indent="0" marL="0">
                        <a:buNone/>
                      </a:pPr>
                      <a:r>
                        <a:rPr lang="en-US" sz="1000" b="1" dirty="0">
                          <a:solidFill>
                            <a:srgbClr val="FFFFFF"/>
                          </a:solidFill>
                        </a:rPr>
                        <a:t>(truly lost)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In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New</a:t>
                      </a:r>
                      <a:endParaRPr lang="en-US" sz="1000" dirty="0"/>
                    </a:p>
                    <a:p>
                      <a:pPr algn="ctr" indent="0" marL="0">
                        <a:buNone/>
                      </a:pPr>
                      <a:r>
                        <a:rPr lang="en-US" sz="1000" b="1" dirty="0">
                          <a:solidFill>
                            <a:srgbClr val="FFFFFF"/>
                          </a:solidFill>
                        </a:rPr>
                        <a:t>Added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Repl.</a:t>
                      </a:r>
                      <a:endParaRPr lang="en-US" sz="1000" dirty="0"/>
                    </a:p>
                    <a:p>
                      <a:pPr algn="ctr" indent="0" marL="0">
                        <a:buNone/>
                      </a:pPr>
                      <a:r>
                        <a:rPr lang="en-US" sz="1000" b="1" dirty="0">
                          <a:solidFill>
                            <a:srgbClr val="FFFFFF"/>
                          </a:solidFill>
                        </a:rPr>
                        <a:t>Rate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347472">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51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148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57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202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68%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1E7D34"/>
                          </a:solidFill>
                        </a:rPr>
                        <a:t>June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209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1565C0"/>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77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E7D34"/>
                          </a:solidFill>
                        </a:rPr>
                        <a:t>219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&gt;100%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27" name="Shape 24"/>
          <p:cNvSpPr/>
          <p:nvPr/>
        </p:nvSpPr>
        <p:spPr>
          <a:xfrm>
            <a:off x="274320" y="3547872"/>
            <a:ext cx="4160520" cy="548640"/>
          </a:xfrm>
          <a:prstGeom prst="rect">
            <a:avLst/>
          </a:prstGeom>
          <a:solidFill>
            <a:srgbClr val="F3E5F5"/>
          </a:solidFill>
          <a:ln w="12700">
            <a:solidFill>
              <a:srgbClr val="6A1B9A"/>
            </a:solidFill>
            <a:prstDash val="solid"/>
          </a:ln>
        </p:spPr>
      </p:sp>
      <p:sp>
        <p:nvSpPr>
          <p:cNvPr id="28" name="Text 25"/>
          <p:cNvSpPr/>
          <p:nvPr/>
        </p:nvSpPr>
        <p:spPr>
          <a:xfrm>
            <a:off x="384048" y="3566160"/>
            <a:ext cx="3931920" cy="512064"/>
          </a:xfrm>
          <a:prstGeom prst="rect">
            <a:avLst/>
          </a:prstGeom>
          <a:noFill/>
          <a:ln/>
        </p:spPr>
        <p:txBody>
          <a:bodyPr wrap="square" rtlCol="0" anchor="ctr"/>
          <a:lstStyle/>
          <a:p>
            <a:pPr indent="0" marL="0">
              <a:buNone/>
            </a:pPr>
            <a:r>
              <a:rPr lang="en-US" sz="950" dirty="0">
                <a:solidFill>
                  <a:srgbClr val="6A1B9A"/>
                </a:solidFill>
                <a:latin typeface="Calibri" pitchFamily="34" charset="0"/>
                <a:ea typeface="Calibri" pitchFamily="34" charset="-122"/>
                <a:cs typeface="Calibri" pitchFamily="34" charset="-120"/>
              </a:rPr>
              <a:t>13 events Tried to Return — filed a 2026 application but were cancelled/declined.</a:t>
            </a:r>
            <a:endParaRPr lang="en-US" sz="950" dirty="0"/>
          </a:p>
          <a:p>
            <a:pPr indent="0" marL="0">
              <a:buNone/>
            </a:pPr>
            <a:r>
              <a:rPr lang="en-US" sz="950" dirty="0">
                <a:solidFill>
                  <a:srgbClr val="6A1B9A"/>
                </a:solidFill>
                <a:latin typeface="Calibri" pitchFamily="34" charset="0"/>
                <a:ea typeface="Calibri" pitchFamily="34" charset="-122"/>
                <a:cs typeface="Calibri" pitchFamily="34" charset="-120"/>
              </a:rPr>
              <a:t>33 events Recovered — cancelled in 2025 but came back in 2026.</a:t>
            </a:r>
            <a:endParaRPr lang="en-US" sz="950" dirty="0"/>
          </a:p>
        </p:txBody>
      </p:sp>
      <p:sp>
        <p:nvSpPr>
          <p:cNvPr id="29" name="Shape 26"/>
          <p:cNvSpPr/>
          <p:nvPr/>
        </p:nvSpPr>
        <p:spPr>
          <a:xfrm>
            <a:off x="4617720" y="3547872"/>
            <a:ext cx="4251960" cy="548640"/>
          </a:xfrm>
          <a:prstGeom prst="rect">
            <a:avLst/>
          </a:prstGeom>
          <a:solidFill>
            <a:srgbClr val="ECEFF1"/>
          </a:solidFill>
          <a:ln w="12700">
            <a:solidFill>
              <a:srgbClr val="555555"/>
            </a:solidFill>
            <a:prstDash val="solid"/>
          </a:ln>
        </p:spPr>
      </p:sp>
      <p:sp>
        <p:nvSpPr>
          <p:cNvPr id="30" name="Text 27"/>
          <p:cNvSpPr/>
          <p:nvPr/>
        </p:nvSpPr>
        <p:spPr>
          <a:xfrm>
            <a:off x="4727448" y="3566160"/>
            <a:ext cx="4023360" cy="512064"/>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Overall replacement rate: 296 new/recovered events added vs 308 truly lost — 96% gross replacement, but weakest in summer peak months.</a:t>
            </a:r>
            <a:endParaRPr lang="en-US" sz="950" dirty="0"/>
          </a:p>
        </p:txBody>
      </p:sp>
      <p:sp>
        <p:nvSpPr>
          <p:cNvPr id="31" name="Shape 28"/>
          <p:cNvSpPr/>
          <p:nvPr/>
        </p:nvSpPr>
        <p:spPr>
          <a:xfrm>
            <a:off x="274320" y="4206240"/>
            <a:ext cx="8595360" cy="594360"/>
          </a:xfrm>
          <a:prstGeom prst="rect">
            <a:avLst/>
          </a:prstGeom>
          <a:solidFill>
            <a:srgbClr val="ECEFF1"/>
          </a:solidFill>
          <a:ln w="12700">
            <a:solidFill>
              <a:srgbClr val="CCCCCC"/>
            </a:solidFill>
            <a:prstDash val="solid"/>
          </a:ln>
        </p:spPr>
      </p:sp>
      <p:sp>
        <p:nvSpPr>
          <p:cNvPr id="32" name="Text 29"/>
          <p:cNvSpPr/>
          <p:nvPr/>
        </p:nvSpPr>
        <p:spPr>
          <a:xfrm>
            <a:off x="384048" y="4233672"/>
            <a:ext cx="8321040" cy="53949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Yes — we really did lose events. 295 of 1,178 2025 events (25%) did not return in any form. The portfolio added 263 genuinely new events plus 33 recovered from 2025 cancellations — but the replacement rate in July (75%) and August (68%) is the weakest of any month and explains why the summer declines are real and structural. The data is ~85–90% reliable; working with Liz to clean remaining matches for automation.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5E20"/>
          </a:solidFill>
          <a:ln w="12700">
            <a:solidFill>
              <a:srgbClr val="1B5E20"/>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5  —  Application Pipeline — Who Is Filing, When, and Where the Opportunities Are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7 / 8</a:t>
            </a:r>
            <a:endParaRPr lang="en-US" sz="900" dirty="0"/>
          </a:p>
        </p:txBody>
      </p:sp>
      <p:sp>
        <p:nvSpPr>
          <p:cNvPr id="5" name="Text 3"/>
          <p:cNvSpPr/>
          <p:nvPr/>
        </p:nvSpPr>
        <p:spPr>
          <a:xfrm>
            <a:off x="274320" y="694944"/>
            <a:ext cx="8595360" cy="219456"/>
          </a:xfrm>
          <a:prstGeom prst="rect">
            <a:avLst/>
          </a:prstGeom>
          <a:noFill/>
          <a:ln/>
        </p:spPr>
        <p:txBody>
          <a:bodyPr wrap="square"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Total applications are nearly identical year-over-year (~1,178 vs ~1,167). The story is in WHEN and WHICH type is filing:</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950976"/>
          <a:ext cx="8595360" cy="1591056"/>
        </p:xfrm>
        <a:graphic>
          <a:graphicData uri="http://schemas.openxmlformats.org/drawingml/2006/table">
            <a:tbl>
              <a:tblPr/>
              <a:tblGrid>
                <a:gridCol w="955040"/>
                <a:gridCol w="955040"/>
                <a:gridCol w="955040"/>
                <a:gridCol w="955040"/>
                <a:gridCol w="955040"/>
                <a:gridCol w="955040"/>
                <a:gridCol w="955040"/>
                <a:gridCol w="955040"/>
                <a:gridCol w="955040"/>
              </a:tblGrid>
              <a:tr h="256032">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2024</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2025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2025</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2026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Δ Q4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Δ In-Yr</a:t>
                      </a:r>
                      <a:endParaRPr lang="en-US" sz="1000" dirty="0"/>
                    </a:p>
                    <a:p>
                      <a:pPr algn="ctr" indent="0" marL="0">
                        <a:buNone/>
                      </a:pPr>
                      <a:r>
                        <a:rPr lang="en-US" sz="1000" b="1" dirty="0">
                          <a:solidFill>
                            <a:srgbClr val="FFFFFF"/>
                          </a:solidFill>
                        </a:rPr>
                        <a:t>(YTD)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56032">
                <a:tc>
                  <a:txBody>
                    <a:bodyPr/>
                    <a:lstStyle/>
                    <a:p>
                      <a:pPr algn="l" indent="0" marL="0">
                        <a:buNone/>
                      </a:pPr>
                      <a:r>
                        <a:rPr lang="en-US" sz="1000" b="1"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409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173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222222"/>
                          </a:solidFill>
                        </a:rPr>
                        <a:t>814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1E7D34"/>
                          </a:solidFill>
                        </a:rPr>
                        <a:t>+44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69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222222"/>
                          </a:solidFill>
                        </a:rPr>
                        <a:t>226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1E7D34"/>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97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C62828"/>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C62828"/>
                          </a:solidFill>
                        </a:rPr>
                        <a:t>86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56032">
                <a:tc>
                  <a:txBody>
                    <a:bodyPr/>
                    <a:lstStyle/>
                    <a:p>
                      <a:pPr algn="l" indent="0" marL="0">
                        <a:buNone/>
                      </a:pPr>
                      <a:r>
                        <a:rPr lang="en-US" sz="1000" b="1" dirty="0">
                          <a:solidFill>
                            <a:srgbClr val="1E7D34"/>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564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263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544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+75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7" name="Text 4"/>
          <p:cNvSpPr/>
          <p:nvPr/>
        </p:nvSpPr>
        <p:spPr>
          <a:xfrm>
            <a:off x="274320" y="2633472"/>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Highest-Probability Opportunities — May through December 2026:</a:t>
            </a:r>
            <a:endParaRPr lang="en-US" sz="1050" dirty="0"/>
          </a:p>
        </p:txBody>
      </p:sp>
      <p:sp>
        <p:nvSpPr>
          <p:cNvPr id="8" name="Shape 5"/>
          <p:cNvSpPr/>
          <p:nvPr/>
        </p:nvSpPr>
        <p:spPr>
          <a:xfrm>
            <a:off x="274320" y="2907792"/>
            <a:ext cx="4160520" cy="914400"/>
          </a:xfrm>
          <a:prstGeom prst="rect">
            <a:avLst/>
          </a:prstGeom>
          <a:solidFill>
            <a:srgbClr val="FDECEA"/>
          </a:solidFill>
          <a:ln w="12700">
            <a:solidFill>
              <a:srgbClr val="C62828"/>
            </a:solidFill>
            <a:prstDash val="solid"/>
          </a:ln>
        </p:spPr>
      </p:sp>
      <p:sp>
        <p:nvSpPr>
          <p:cNvPr id="9" name="Text 6"/>
          <p:cNvSpPr/>
          <p:nvPr/>
        </p:nvSpPr>
        <p:spPr>
          <a:xfrm>
            <a:off x="384048" y="2944368"/>
            <a:ext cx="3931920" cy="84124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  Adult Clinic — Highest ROI Opportunity
</a:t>
            </a:r>
            <a:pPr indent="0" marL="0">
              <a:buNone/>
            </a:pPr>
            <a:r>
              <a:rPr lang="en-US" sz="950" dirty="0">
                <a:solidFill>
                  <a:srgbClr val="C62828"/>
                </a:solidFill>
                <a:latin typeface="Calibri" pitchFamily="34" charset="0"/>
                <a:ea typeface="Calibri" pitchFamily="34" charset="-122"/>
                <a:cs typeface="Calibri" pitchFamily="34" charset="-120"/>
              </a:rPr>
              <a:t>Early pipeline is FLAT vs 2025 (Q4 identical; Jan–May identical). In 2025, 16 additional clinics were filed spontaneously May–Dec — in 2026 only 1 has filed so far. Proactive outreach May–Aug could recover 10–15 events and effectively close the full −12 gap.</a:t>
            </a:r>
            <a:endParaRPr lang="en-US" sz="950" dirty="0"/>
          </a:p>
        </p:txBody>
      </p:sp>
      <p:sp>
        <p:nvSpPr>
          <p:cNvPr id="10" name="Shape 7"/>
          <p:cNvSpPr/>
          <p:nvPr/>
        </p:nvSpPr>
        <p:spPr>
          <a:xfrm>
            <a:off x="4617720" y="2907792"/>
            <a:ext cx="4251960" cy="914400"/>
          </a:xfrm>
          <a:prstGeom prst="rect">
            <a:avLst/>
          </a:prstGeom>
          <a:solidFill>
            <a:srgbClr val="E8F5E9"/>
          </a:solidFill>
          <a:ln w="12700">
            <a:solidFill>
              <a:srgbClr val="1E7D34"/>
            </a:solidFill>
            <a:prstDash val="solid"/>
          </a:ln>
        </p:spPr>
      </p:sp>
      <p:sp>
        <p:nvSpPr>
          <p:cNvPr id="11" name="Text 8"/>
          <p:cNvSpPr/>
          <p:nvPr/>
        </p:nvSpPr>
        <p:spPr>
          <a:xfrm>
            <a:off x="4727448" y="2944368"/>
            <a:ext cx="4023360" cy="841248"/>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  Adult Race &amp; Youth Clinic — Reinforce
</a:t>
            </a:r>
            <a:pPr indent="0" marL="0">
              <a:buNone/>
            </a:pPr>
            <a:r>
              <a:rPr lang="en-US" sz="950" dirty="0">
                <a:solidFill>
                  <a:srgbClr val="1E7D34"/>
                </a:solidFill>
                <a:latin typeface="Calibri" pitchFamily="34" charset="0"/>
                <a:ea typeface="Calibri" pitchFamily="34" charset="-122"/>
                <a:cs typeface="Calibri" pitchFamily="34" charset="-120"/>
              </a:rPr>
              <a:t>Adult Race in-year apps are +34% ahead (Jan–May). Jul–Sep historically adds 15–20 more — keep the channel open. Youth Clinic is +90% in-year and +50% in Q4 pre-filing — growth is structural. Fast-track approvals so momentum isn't lost to processing.</a:t>
            </a:r>
            <a:endParaRPr lang="en-US" sz="950" dirty="0"/>
          </a:p>
        </p:txBody>
      </p:sp>
      <p:sp>
        <p:nvSpPr>
          <p:cNvPr id="12" name="Shape 9"/>
          <p:cNvSpPr/>
          <p:nvPr/>
        </p:nvSpPr>
        <p:spPr>
          <a:xfrm>
            <a:off x="274320" y="3913632"/>
            <a:ext cx="4160520" cy="457200"/>
          </a:xfrm>
          <a:prstGeom prst="rect">
            <a:avLst/>
          </a:prstGeom>
          <a:solidFill>
            <a:srgbClr val="FFCDD2"/>
          </a:solidFill>
          <a:ln w="12700">
            <a:solidFill>
              <a:srgbClr val="C62828"/>
            </a:solidFill>
            <a:prstDash val="solid"/>
          </a:ln>
        </p:spPr>
      </p:sp>
      <p:sp>
        <p:nvSpPr>
          <p:cNvPr id="13" name="Text 10"/>
          <p:cNvSpPr/>
          <p:nvPr/>
        </p:nvSpPr>
        <p:spPr>
          <a:xfrm>
            <a:off x="384048" y="3931920"/>
            <a:ext cx="3931920" cy="420624"/>
          </a:xfrm>
          <a:prstGeom prst="rect">
            <a:avLst/>
          </a:prstGeom>
          <a:noFill/>
          <a:ln/>
        </p:spPr>
        <p:txBody>
          <a:bodyPr wrap="square" rtlCol="0" anchor="ctr"/>
          <a:lstStyle/>
          <a:p>
            <a:pPr indent="0" marL="0">
              <a:buNone/>
            </a:pPr>
            <a:r>
              <a:rPr lang="en-US" sz="900" dirty="0">
                <a:solidFill>
                  <a:srgbClr val="C62828"/>
                </a:solidFill>
                <a:latin typeface="Calibri" pitchFamily="34" charset="0"/>
                <a:ea typeface="Calibri" pitchFamily="34" charset="-122"/>
                <a:cs typeface="Calibri" pitchFamily="34" charset="-120"/>
              </a:rPr>
              <a:t>Adult Clinic action: Target clinic organizers May–Aug before spontaneous window closes. Low effort, high impact.</a:t>
            </a:r>
            <a:endParaRPr lang="en-US" sz="900" dirty="0"/>
          </a:p>
        </p:txBody>
      </p:sp>
      <p:sp>
        <p:nvSpPr>
          <p:cNvPr id="14" name="Shape 11"/>
          <p:cNvSpPr/>
          <p:nvPr/>
        </p:nvSpPr>
        <p:spPr>
          <a:xfrm>
            <a:off x="4617720" y="3913632"/>
            <a:ext cx="4251960" cy="457200"/>
          </a:xfrm>
          <a:prstGeom prst="rect">
            <a:avLst/>
          </a:prstGeom>
          <a:solidFill>
            <a:srgbClr val="E3F2FD"/>
          </a:solidFill>
          <a:ln w="12700">
            <a:solidFill>
              <a:srgbClr val="1565C0"/>
            </a:solidFill>
            <a:prstDash val="solid"/>
          </a:ln>
        </p:spPr>
      </p:sp>
      <p:sp>
        <p:nvSpPr>
          <p:cNvPr id="15" name="Text 12"/>
          <p:cNvSpPr/>
          <p:nvPr/>
        </p:nvSpPr>
        <p:spPr>
          <a:xfrm>
            <a:off x="4727448" y="3931920"/>
            <a:ext cx="4023360" cy="420624"/>
          </a:xfrm>
          <a:prstGeom prst="rect">
            <a:avLst/>
          </a:prstGeom>
          <a:noFill/>
          <a:ln/>
        </p:spPr>
        <p:txBody>
          <a:bodyPr wrap="square" rtlCol="0" anchor="ctr"/>
          <a:lstStyle/>
          <a:p>
            <a:pPr indent="0" marL="0">
              <a:buNone/>
            </a:pPr>
            <a:r>
              <a:rPr lang="en-US" sz="900" dirty="0">
                <a:solidFill>
                  <a:srgbClr val="1565C0"/>
                </a:solidFill>
                <a:latin typeface="Calibri" pitchFamily="34" charset="0"/>
                <a:ea typeface="Calibri" pitchFamily="34" charset="-122"/>
                <a:cs typeface="Calibri" pitchFamily="34" charset="-120"/>
              </a:rPr>
              <a:t>Overall pipeline is 16% ahead (+48 in-yr apps) of 2025 pace through May. Year-end active count will likely be higher than the May snapshot shows.</a:t>
            </a:r>
            <a:endParaRPr lang="en-US" sz="900" dirty="0"/>
          </a:p>
        </p:txBody>
      </p:sp>
      <p:sp>
        <p:nvSpPr>
          <p:cNvPr id="16" name="Shape 13"/>
          <p:cNvSpPr/>
          <p:nvPr/>
        </p:nvSpPr>
        <p:spPr>
          <a:xfrm>
            <a:off x="274320" y="4480560"/>
            <a:ext cx="8595360" cy="420624"/>
          </a:xfrm>
          <a:prstGeom prst="rect">
            <a:avLst/>
          </a:prstGeom>
          <a:solidFill>
            <a:srgbClr val="ECEFF1"/>
          </a:solidFill>
          <a:ln w="12700">
            <a:solidFill>
              <a:srgbClr val="CCCCCC"/>
            </a:solidFill>
            <a:prstDash val="solid"/>
          </a:ln>
        </p:spPr>
      </p:sp>
      <p:sp>
        <p:nvSpPr>
          <p:cNvPr id="17" name="Text 14"/>
          <p:cNvSpPr/>
          <p:nvPr/>
        </p:nvSpPr>
        <p:spPr>
          <a:xfrm>
            <a:off x="384048" y="4507992"/>
            <a:ext cx="8321040" cy="38404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The application data tells a more optimistic story than the active-event snapshot. Total volume is nearly flat and in-year applications are running 16% ahead of 2025 pace. The single highest-ROI action is Adult Clinic outreach (May–Aug) — early signals are flat, not falling, but the late-year spontaneous apps that filled 2025 haven't materialized yet. Youth Clinic and Adult Race pipelines are healthy and self-sustaining.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62828"/>
          </a:solidFill>
          <a:ln w="12700">
            <a:solidFill>
              <a:srgbClr val="C62828"/>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6  —  July &amp; August: Organic Churn and the Win-Back Opportunity</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8 / 8</a:t>
            </a:r>
            <a:endParaRPr lang="en-US" sz="900" dirty="0"/>
          </a:p>
        </p:txBody>
      </p:sp>
      <p:sp>
        <p:nvSpPr>
          <p:cNvPr id="5" name="Text 3"/>
          <p:cNvSpPr/>
          <p:nvPr/>
        </p:nvSpPr>
        <p:spPr>
          <a:xfrm>
            <a:off x="274320" y="694944"/>
            <a:ext cx="8595360" cy="18288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Replacement is near-complete — the net declines come from month-shifting, not failed attrition recovery. But the churn volume itself is the problem:</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4160520" cy="1335024"/>
        </p:xfrm>
        <a:graphic>
          <a:graphicData uri="http://schemas.openxmlformats.org/drawingml/2006/table">
            <a:tbl>
              <a:tblPr/>
              <a:tblGrid>
                <a:gridCol w="1386840"/>
                <a:gridCol w="1386840"/>
                <a:gridCol w="1386840"/>
              </a:tblGrid>
              <a:tr h="210312">
                <a:tc>
                  <a:txBody>
                    <a:bodyPr/>
                    <a:lstStyle/>
                    <a:p>
                      <a:pPr algn="ctr" indent="0" marL="0">
                        <a:buNone/>
                      </a:pPr>
                      <a:r>
                        <a:rPr lang="en-US" sz="950" b="1" dirty="0">
                          <a:solidFill>
                            <a:srgbClr val="FFFFFF"/>
                          </a:solidFill>
                        </a:rPr>
                        <a:t>July</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Attrited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322576"/>
            <a:ext cx="4160520" cy="329184"/>
          </a:xfrm>
          <a:prstGeom prst="rect">
            <a:avLst/>
          </a:prstGeom>
          <a:solidFill>
            <a:srgbClr val="37474F"/>
          </a:solidFill>
          <a:ln w="12700">
            <a:solidFill>
              <a:srgbClr val="37474F"/>
            </a:solidFill>
            <a:prstDash val="solid"/>
          </a:ln>
        </p:spPr>
      </p:sp>
      <p:sp>
        <p:nvSpPr>
          <p:cNvPr id="8" name="Text 5"/>
          <p:cNvSpPr/>
          <p:nvPr/>
        </p:nvSpPr>
        <p:spPr>
          <a:xfrm>
            <a:off x="292608" y="2331720"/>
            <a:ext cx="411480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179 events  →  2026: 165       Replacement: 46/49 = 94%</a:t>
            </a:r>
            <a:endParaRPr lang="en-US" sz="9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17720" y="914400"/>
          <a:ext cx="4251960" cy="1335024"/>
        </p:xfrm>
        <a:graphic>
          <a:graphicData uri="http://schemas.openxmlformats.org/drawingml/2006/table">
            <a:tbl>
              <a:tblPr/>
              <a:tblGrid>
                <a:gridCol w="1417320"/>
                <a:gridCol w="1417320"/>
                <a:gridCol w="1417320"/>
              </a:tblGrid>
              <a:tr h="210312">
                <a:tc>
                  <a:txBody>
                    <a:bodyPr/>
                    <a:lstStyle/>
                    <a:p>
                      <a:pPr algn="ctr" indent="0" marL="0">
                        <a:buNone/>
                      </a:pPr>
                      <a:r>
                        <a:rPr lang="en-US" sz="950" b="1" dirty="0">
                          <a:solidFill>
                            <a:srgbClr val="FFFFFF"/>
                          </a:solidFill>
                        </a:rPr>
                        <a:t>August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148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148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Attrited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10" name="Shape 6"/>
          <p:cNvSpPr/>
          <p:nvPr/>
        </p:nvSpPr>
        <p:spPr>
          <a:xfrm>
            <a:off x="4617720" y="2322576"/>
            <a:ext cx="4251960" cy="329184"/>
          </a:xfrm>
          <a:prstGeom prst="rect">
            <a:avLst/>
          </a:prstGeom>
          <a:solidFill>
            <a:srgbClr val="37474F"/>
          </a:solidFill>
          <a:ln w="12700">
            <a:solidFill>
              <a:srgbClr val="37474F"/>
            </a:solidFill>
            <a:prstDash val="solid"/>
          </a:ln>
        </p:spPr>
      </p:sp>
      <p:sp>
        <p:nvSpPr>
          <p:cNvPr id="11" name="Text 7"/>
          <p:cNvSpPr/>
          <p:nvPr/>
        </p:nvSpPr>
        <p:spPr>
          <a:xfrm>
            <a:off x="4636008" y="2331720"/>
            <a:ext cx="420624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218 events  →  2026: 202       Replacement: 51/55 = 93%</a:t>
            </a:r>
            <a:endParaRPr lang="en-US" sz="900" dirty="0"/>
          </a:p>
        </p:txBody>
      </p:sp>
      <p:sp>
        <p:nvSpPr>
          <p:cNvPr id="12" name="Text 8"/>
          <p:cNvSpPr/>
          <p:nvPr/>
        </p:nvSpPr>
        <p:spPr>
          <a:xfrm>
            <a:off x="274320" y="2743200"/>
            <a:ext cx="8595360" cy="164592"/>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Attrited events by type (combined Jul + Aug) — race product is 89% of losses:</a:t>
            </a:r>
            <a:endParaRPr lang="en-US" sz="10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274320" y="2944368"/>
          <a:ext cx="8595360" cy="621792"/>
        </p:xfrm>
        <a:graphic>
          <a:graphicData uri="http://schemas.openxmlformats.org/drawingml/2006/table">
            <a:tbl>
              <a:tblPr/>
              <a:tblGrid>
                <a:gridCol w="1719072"/>
                <a:gridCol w="1719072"/>
                <a:gridCol w="1719072"/>
                <a:gridCol w="1719072"/>
                <a:gridCol w="1719072"/>
              </a:tblGrid>
              <a:tr h="201168">
                <a:tc>
                  <a:txBody>
                    <a:bodyPr/>
                    <a:lstStyle/>
                    <a:p>
                      <a:pPr algn="ctr" indent="0" marL="0">
                        <a:buNone/>
                      </a:pPr>
                      <a:r>
                        <a:rPr lang="en-US" sz="950" b="1" dirty="0">
                          <a:solidFill>
                            <a:srgbClr val="FFFFFF"/>
                          </a:solidFill>
                        </a:rPr>
                        <a:t>Type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Jul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Aug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Combined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Share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01168">
                <a:tc>
                  <a:txBody>
                    <a:bodyPr/>
                    <a:lstStyle/>
                    <a:p>
                      <a:pPr algn="l" indent="0" marL="0">
                        <a:buNone/>
                      </a:pPr>
                      <a:r>
                        <a:rPr lang="en-US" sz="1000" b="1"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30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01168">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C62828"/>
                          </a:solidFill>
                        </a:rPr>
                        <a:t>33%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14" name="Text 9"/>
          <p:cNvSpPr/>
          <p:nvPr/>
        </p:nvSpPr>
        <p:spPr>
          <a:xfrm>
            <a:off x="274320" y="3602736"/>
            <a:ext cx="8595360" cy="137160"/>
          </a:xfrm>
          <a:prstGeom prst="rect">
            <a:avLst/>
          </a:prstGeom>
          <a:noFill/>
          <a:ln/>
        </p:spPr>
        <p:txBody>
          <a:bodyPr wrap="square"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Adult Clinic: 7 attrited (7%)  |  Youth Clinic: 4 attrited (4%)  —  minor; not material to win-back prioritisation</a:t>
            </a:r>
            <a:endParaRPr lang="en-US" sz="850" dirty="0"/>
          </a:p>
        </p:txBody>
      </p:sp>
      <p:sp>
        <p:nvSpPr>
          <p:cNvPr id="15" name="Shape 10"/>
          <p:cNvSpPr/>
          <p:nvPr/>
        </p:nvSpPr>
        <p:spPr>
          <a:xfrm>
            <a:off x="274320" y="3785616"/>
            <a:ext cx="4160520" cy="713232"/>
          </a:xfrm>
          <a:prstGeom prst="rect">
            <a:avLst/>
          </a:prstGeom>
          <a:solidFill>
            <a:srgbClr val="FFCDD2"/>
          </a:solidFill>
          <a:ln w="12700">
            <a:solidFill>
              <a:srgbClr val="C62828"/>
            </a:solidFill>
            <a:prstDash val="solid"/>
          </a:ln>
        </p:spPr>
      </p:sp>
      <p:sp>
        <p:nvSpPr>
          <p:cNvPr id="16" name="Text 11"/>
          <p:cNvSpPr/>
          <p:nvPr/>
        </p:nvSpPr>
        <p:spPr>
          <a:xfrm>
            <a:off x="384048" y="3813048"/>
            <a:ext cx="3931920" cy="65836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August — Act Now (2026 Window)
</a:t>
            </a:r>
            <a:pPr indent="0" marL="0">
              <a:buNone/>
            </a:pPr>
            <a:r>
              <a:rPr lang="en-US" sz="950" dirty="0">
                <a:solidFill>
                  <a:srgbClr val="C62828"/>
                </a:solidFill>
                <a:latin typeface="Calibri" pitchFamily="34" charset="0"/>
                <a:ea typeface="Calibri" pitchFamily="34" charset="-122"/>
                <a:cs typeface="Calibri" pitchFamily="34" charset="-120"/>
              </a:rPr>
              <a:t>55 attrited: 29 Adult Race + 22 Youth Race. Events are 10–12 weeks out — some organizers are still recruitable. Reach all known 2025 August organizers by end of May. A 20% win-back rate recovers ~11 events and nearly closes the gap.</a:t>
            </a:r>
            <a:endParaRPr lang="en-US" sz="1050" dirty="0"/>
          </a:p>
        </p:txBody>
      </p:sp>
      <p:sp>
        <p:nvSpPr>
          <p:cNvPr id="17" name="Shape 12"/>
          <p:cNvSpPr/>
          <p:nvPr/>
        </p:nvSpPr>
        <p:spPr>
          <a:xfrm>
            <a:off x="4617720" y="3785616"/>
            <a:ext cx="4251960" cy="713232"/>
          </a:xfrm>
          <a:prstGeom prst="rect">
            <a:avLst/>
          </a:prstGeom>
          <a:solidFill>
            <a:srgbClr val="E3F2FD"/>
          </a:solidFill>
          <a:ln w="12700">
            <a:solidFill>
              <a:srgbClr val="1565C0"/>
            </a:solidFill>
            <a:prstDash val="solid"/>
          </a:ln>
        </p:spPr>
      </p:sp>
      <p:sp>
        <p:nvSpPr>
          <p:cNvPr id="18" name="Text 13"/>
          <p:cNvSpPr/>
          <p:nvPr/>
        </p:nvSpPr>
        <p:spPr>
          <a:xfrm>
            <a:off x="4727448" y="3813048"/>
            <a:ext cx="4023360" cy="65836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July — Diagnose for 2027
</a:t>
            </a:r>
            <a:pPr indent="0" marL="0">
              <a:buNone/>
            </a:pPr>
            <a:r>
              <a:rPr lang="en-US" sz="950" dirty="0">
                <a:solidFill>
                  <a:srgbClr val="1565C0"/>
                </a:solidFill>
                <a:latin typeface="Calibri" pitchFamily="34" charset="0"/>
                <a:ea typeface="Calibri" pitchFamily="34" charset="-122"/>
                <a:cs typeface="Calibri" pitchFamily="34" charset="-120"/>
              </a:rPr>
              <a:t>49 attrited: 30 Adult Race + 12 Youth Race. Too late for 2026 (6 weeks away). But ~50 events leave July annually and ~50 replace them — a treadmill. Q3 outreach to all 49 organizers to understand WHY they left is the highest-ROI 2027 planning action.</a:t>
            </a:r>
            <a:endParaRPr lang="en-US" sz="1050" dirty="0"/>
          </a:p>
        </p:txBody>
      </p:sp>
      <p:sp>
        <p:nvSpPr>
          <p:cNvPr id="19" name="Shape 14"/>
          <p:cNvSpPr/>
          <p:nvPr/>
        </p:nvSpPr>
        <p:spPr>
          <a:xfrm>
            <a:off x="274320" y="4590288"/>
            <a:ext cx="8595360" cy="329184"/>
          </a:xfrm>
          <a:prstGeom prst="rect">
            <a:avLst/>
          </a:prstGeom>
          <a:solidFill>
            <a:srgbClr val="ECEFF1"/>
          </a:solidFill>
          <a:ln w="12700">
            <a:solidFill>
              <a:srgbClr val="CCCCCC"/>
            </a:solidFill>
            <a:prstDash val="solid"/>
          </a:ln>
        </p:spPr>
      </p:sp>
      <p:sp>
        <p:nvSpPr>
          <p:cNvPr id="20" name="Text 15"/>
          <p:cNvSpPr/>
          <p:nvPr/>
        </p:nvSpPr>
        <p:spPr>
          <a:xfrm>
            <a:off x="384048" y="4608576"/>
            <a:ext cx="8321040" cy="29260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July and August each lose ~50 events and replace ~94–93% of them organically — the ecosystem is self-replenishing but not fast enough to fully offset churn. The net decline is a volume problem, not a demand collapse. The immediate 2026 action is August win-back outreach (end of May). The strategic action is diagnosing July's churn before Q4 planning to protect 2027.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Sanctioned Events 2025 vs 2026</dc:title>
  <dc:subject>PptxGenJS Presentation</dc:subject>
  <dc:creator>PptxGenJS</dc:creator>
  <cp:lastModifiedBy>PptxGenJS</cp:lastModifiedBy>
  <cp:revision>1</cp:revision>
  <dcterms:created xsi:type="dcterms:W3CDTF">2026-05-16T19:32:57Z</dcterms:created>
  <dcterms:modified xsi:type="dcterms:W3CDTF">2026-05-16T19:32:57Z</dcterms:modified>
</cp:coreProperties>
</file>