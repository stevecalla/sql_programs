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frames the headline: net decline, principal decliners/growers flagged, replacement rate context. Tone is unflinching—we're not growing; we're managing decline. The Youth Clinic win is isolated and insufficient to offset clinic-wide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headline—down 13. Then immediately expose the deception: calendar accounting masked organic erosion of −11. This is the core narrative: organic demand is the real story, and it's negative. Two sentences, no hedging.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worst months explicitly: August (−19 organic) and July (−16 organic) are the culprits. Note that summer is a disaster zone. June's +33 organic is a recovery, not a trend—it's downstream of May's calendar pull-forward. Keep it short and factual.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benefited from calendar alignment (Memorial Day on Monday, July 4 on Friday, Labor Day early). 2026's calendar is neutral or slightly unfavorable (July 4 on Saturday, Labor Day late). Holiday list provided: Year A had 6 holidays; Year B has 6 holidays, but day-of-week alignment differs. The verdict: calendar was a one-time tailwind. Organic fixes are mandatory.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Adult Race: stable but stagnant (−0.1%). Youth Race: declining (−1.7%, −2.8% organic). Adult Clinic: in freefall (−13.4%, −11.3% organic). Youth Clinic: surging (+17.2%, +19.4% organic). The split is stark: adult events are dying; youth clinics are thriving. This is a portfolio rebalancing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Retention at 63.4% (746 of 1,178) is the baseline. Attrition at 25.1% (296 lost) is the problem. New events and recovered events plug the gap, but only to breakeven. Replacement rate of 100% means zero net growth, which is failure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123 shifted events suggest organizer migration or venue relocation—activity is moving, not multiplying. The 265 new events are real adds, but they're not enough to overcome 296 losses. Pipeline is weak: we're not attracting enough new organizers to fuel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events attempted return; 31 recovered. That's a 70% recovery success rate (31 of attempted-plus-recovered pool), but the numerator is tiny. We have 296 targets to chase; recovery program is severely underfunded or underfocused. Opportunity: scale win-back campaigns targeting the 283 lost-and-not-recovered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F1B2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AA1524"/>
          </a:solidFill>
          <a:ln w="12700">
            <a:solidFill>
              <a:srgbClr val="AA1524"/>
            </a:solidFill>
            <a:prstDash val="solid"/>
          </a:ln>
        </p:spPr>
      </p:sp>
      <p:sp>
        <p:nvSpPr>
          <p:cNvPr id="3" name="Text 1"/>
          <p:cNvSpPr/>
          <p:nvPr/>
        </p:nvSpPr>
        <p:spPr>
          <a:xfrm>
            <a:off x="365760" y="137160"/>
            <a:ext cx="8229600" cy="502920"/>
          </a:xfrm>
          <a:prstGeom prst="rect">
            <a:avLst/>
          </a:prstGeom>
          <a:noFill/>
          <a:ln/>
        </p:spPr>
        <p:txBody>
          <a:bodyPr wrap="square" rtlCol="0" anchor="ctr"/>
          <a:lstStyle/>
          <a:p>
            <a:pPr indent="0" marL="0">
              <a:buNone/>
            </a:pPr>
            <a:r>
              <a:rPr lang="en-US" sz="1200" dirty="0">
                <a:solidFill>
                  <a:srgbClr val="FFAAAA"/>
                </a:solidFill>
                <a:latin typeface="Calibri" pitchFamily="34" charset="0"/>
                <a:ea typeface="Calibri" pitchFamily="34" charset="-122"/>
                <a:cs typeface="Calibri" pitchFamily="34" charset="-120"/>
              </a:rPr>
              <a:t>USAT  |  Sanctioned Events Analysis</a:t>
            </a:r>
            <a:endParaRPr lang="en-US" sz="1200" dirty="0"/>
          </a:p>
        </p:txBody>
      </p:sp>
      <p:sp>
        <p:nvSpPr>
          <p:cNvPr id="4" name="Text 2"/>
          <p:cNvSpPr/>
          <p:nvPr/>
        </p:nvSpPr>
        <p:spPr>
          <a:xfrm>
            <a:off x="365760" y="1051560"/>
            <a:ext cx="8412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Sanctioned Events</a:t>
            </a:r>
            <a:endParaRPr lang="en-US" sz="4000" dirty="0"/>
          </a:p>
        </p:txBody>
      </p:sp>
      <p:sp>
        <p:nvSpPr>
          <p:cNvPr id="5" name="Text 3"/>
          <p:cNvSpPr/>
          <p:nvPr/>
        </p:nvSpPr>
        <p:spPr>
          <a:xfrm>
            <a:off x="365760" y="1920240"/>
            <a:ext cx="8229600" cy="502920"/>
          </a:xfrm>
          <a:prstGeom prst="rect">
            <a:avLst/>
          </a:prstGeom>
          <a:noFill/>
          <a:ln/>
        </p:spPr>
        <p:txBody>
          <a:bodyPr wrap="square" rtlCol="0" anchor="ctr"/>
          <a:lstStyle/>
          <a:p>
            <a:pPr indent="0" marL="0">
              <a:buNone/>
            </a:pPr>
            <a:r>
              <a:rPr lang="en-US" sz="2000" dirty="0">
                <a:solidFill>
                  <a:srgbClr val="FFCCCC"/>
                </a:solidFill>
                <a:latin typeface="Calibri" pitchFamily="34" charset="0"/>
                <a:ea typeface="Calibri" pitchFamily="34" charset="-122"/>
                <a:cs typeface="Calibri" pitchFamily="34" charset="-120"/>
              </a:rPr>
              <a:t>2025 vs 2026  |  Year-over-Year Analysis</a:t>
            </a:r>
            <a:endParaRPr lang="en-US" sz="2000" dirty="0"/>
          </a:p>
        </p:txBody>
      </p:sp>
      <p:sp>
        <p:nvSpPr>
          <p:cNvPr id="6" name="Shape 4"/>
          <p:cNvSpPr/>
          <p:nvPr/>
        </p:nvSpPr>
        <p:spPr>
          <a:xfrm>
            <a:off x="365760" y="2697480"/>
            <a:ext cx="4114800" cy="548640"/>
          </a:xfrm>
          <a:prstGeom prst="rect">
            <a:avLst/>
          </a:prstGeom>
          <a:solidFill>
            <a:srgbClr val="FDECEA"/>
          </a:solidFill>
          <a:ln w="12700">
            <a:solidFill>
              <a:srgbClr val="C62828"/>
            </a:solidFill>
            <a:prstDash val="solid"/>
          </a:ln>
        </p:spPr>
      </p:sp>
      <p:sp>
        <p:nvSpPr>
          <p:cNvPr id="7" name="Text 5"/>
          <p:cNvSpPr/>
          <p:nvPr/>
        </p:nvSpPr>
        <p:spPr>
          <a:xfrm>
            <a:off x="45720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Total Events </a:t>
            </a:r>
            <a:pPr indent="0" marL="0">
              <a:buNone/>
            </a:pPr>
            <a:r>
              <a:rPr lang="en-US" sz="1000" dirty="0">
                <a:solidFill>
                  <a:srgbClr val="C62828"/>
                </a:solidFill>
                <a:latin typeface="Calibri" pitchFamily="34" charset="0"/>
                <a:ea typeface="Calibri" pitchFamily="34" charset="-122"/>
                <a:cs typeface="Calibri" pitchFamily="34" charset="-120"/>
              </a:rPr>
              <a:t>(Down 13 YoY. Organic erosion masks calendar gains.)</a:t>
            </a:r>
            <a:endParaRPr lang="en-US" sz="1000" dirty="0"/>
          </a:p>
        </p:txBody>
      </p:sp>
      <p:sp>
        <p:nvSpPr>
          <p:cNvPr id="8" name="Shape 6"/>
          <p:cNvSpPr/>
          <p:nvPr/>
        </p:nvSpPr>
        <p:spPr>
          <a:xfrm>
            <a:off x="4754880" y="2697480"/>
            <a:ext cx="4114800" cy="548640"/>
          </a:xfrm>
          <a:prstGeom prst="rect">
            <a:avLst/>
          </a:prstGeom>
          <a:solidFill>
            <a:srgbClr val="FDECEA"/>
          </a:solidFill>
          <a:ln w="12700">
            <a:solidFill>
              <a:srgbClr val="C62828"/>
            </a:solidFill>
            <a:prstDash val="solid"/>
          </a:ln>
        </p:spPr>
      </p:sp>
      <p:sp>
        <p:nvSpPr>
          <p:cNvPr id="9" name="Text 7"/>
          <p:cNvSpPr/>
          <p:nvPr/>
        </p:nvSpPr>
        <p:spPr>
          <a:xfrm>
            <a:off x="484632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Adult Clinics </a:t>
            </a:r>
            <a:pPr indent="0" marL="0">
              <a:buNone/>
            </a:pPr>
            <a:r>
              <a:rPr lang="en-US" sz="1000" dirty="0">
                <a:solidFill>
                  <a:srgbClr val="C62828"/>
                </a:solidFill>
                <a:latin typeface="Calibri" pitchFamily="34" charset="0"/>
                <a:ea typeface="Calibri" pitchFamily="34" charset="-122"/>
                <a:cs typeface="Calibri" pitchFamily="34" charset="-120"/>
              </a:rPr>
              <a:t>(⚠ Hemorrhaging −13.4%. Urgent intervention required.)</a:t>
            </a:r>
            <a:endParaRPr lang="en-US" sz="1000" dirty="0"/>
          </a:p>
        </p:txBody>
      </p:sp>
      <p:sp>
        <p:nvSpPr>
          <p:cNvPr id="10" name="Shape 8"/>
          <p:cNvSpPr/>
          <p:nvPr/>
        </p:nvSpPr>
        <p:spPr>
          <a:xfrm>
            <a:off x="365760" y="3337560"/>
            <a:ext cx="4114800" cy="548640"/>
          </a:xfrm>
          <a:prstGeom prst="rect">
            <a:avLst/>
          </a:prstGeom>
          <a:solidFill>
            <a:srgbClr val="E8F5E9"/>
          </a:solidFill>
          <a:ln w="12700">
            <a:solidFill>
              <a:srgbClr val="1E7D34"/>
            </a:solidFill>
            <a:prstDash val="solid"/>
          </a:ln>
        </p:spPr>
      </p:sp>
      <p:sp>
        <p:nvSpPr>
          <p:cNvPr id="11" name="Text 9"/>
          <p:cNvSpPr/>
          <p:nvPr/>
        </p:nvSpPr>
        <p:spPr>
          <a:xfrm>
            <a:off x="457200" y="3337560"/>
            <a:ext cx="3931920" cy="548640"/>
          </a:xfrm>
          <a:prstGeom prst="rect">
            <a:avLst/>
          </a:prstGeom>
          <a:noFill/>
          <a:ln/>
        </p:spPr>
        <p:txBody>
          <a:bodyPr wrap="square" rtlCol="0" anchor="ctr"/>
          <a:lstStyle/>
          <a:p>
            <a:pPr indent="0" marL="0">
              <a:buNone/>
            </a:pPr>
            <a:r>
              <a:rPr lang="en-US" sz="1000" b="1" dirty="0">
                <a:solidFill>
                  <a:srgbClr val="1E7D34"/>
                </a:solidFill>
                <a:latin typeface="Calibri" pitchFamily="34" charset="0"/>
                <a:ea typeface="Calibri" pitchFamily="34" charset="-122"/>
                <a:cs typeface="Calibri" pitchFamily="34" charset="-120"/>
              </a:rPr>
              <a:t>Youth Clinics </a:t>
            </a:r>
            <a:pPr indent="0" marL="0">
              <a:buNone/>
            </a:pPr>
            <a:r>
              <a:rPr lang="en-US" sz="1000" dirty="0">
                <a:solidFill>
                  <a:srgbClr val="1E7D34"/>
                </a:solidFill>
                <a:latin typeface="Calibri" pitchFamily="34" charset="0"/>
                <a:ea typeface="Calibri" pitchFamily="34" charset="-122"/>
                <a:cs typeface="Calibri" pitchFamily="34" charset="-120"/>
              </a:rPr>
              <a:t>(✓ Only growth segment. +17.2% signals strong momentum.)</a:t>
            </a:r>
            <a:endParaRPr lang="en-US" sz="1000" dirty="0"/>
          </a:p>
        </p:txBody>
      </p:sp>
      <p:sp>
        <p:nvSpPr>
          <p:cNvPr id="12" name="Shape 10"/>
          <p:cNvSpPr/>
          <p:nvPr/>
        </p:nvSpPr>
        <p:spPr>
          <a:xfrm>
            <a:off x="4754880" y="3337560"/>
            <a:ext cx="4114800" cy="548640"/>
          </a:xfrm>
          <a:prstGeom prst="rect">
            <a:avLst/>
          </a:prstGeom>
          <a:solidFill>
            <a:srgbClr val="FDECEA"/>
          </a:solidFill>
          <a:ln w="12700">
            <a:solidFill>
              <a:srgbClr val="C62828"/>
            </a:solidFill>
            <a:prstDash val="solid"/>
          </a:ln>
        </p:spPr>
      </p:sp>
      <p:sp>
        <p:nvSpPr>
          <p:cNvPr id="13" name="Text 11"/>
          <p:cNvSpPr/>
          <p:nvPr/>
        </p:nvSpPr>
        <p:spPr>
          <a:xfrm>
            <a:off x="4846320" y="333756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Attrition Rate </a:t>
            </a:r>
            <a:pPr indent="0" marL="0">
              <a:buNone/>
            </a:pPr>
            <a:r>
              <a:rPr lang="en-US" sz="1000" dirty="0">
                <a:solidFill>
                  <a:srgbClr val="C62828"/>
                </a:solidFill>
                <a:latin typeface="Calibri" pitchFamily="34" charset="0"/>
                <a:ea typeface="Calibri" pitchFamily="34" charset="-122"/>
                <a:cs typeface="Calibri" pitchFamily="34" charset="-120"/>
              </a:rPr>
              <a:t>(296 events lost. Replacement rate barely breakeven at 100%.)</a:t>
            </a:r>
            <a:endParaRPr lang="en-US" sz="1000" dirty="0"/>
          </a:p>
        </p:txBody>
      </p:sp>
      <p:sp>
        <p:nvSpPr>
          <p:cNvPr id="14" name="Text 12"/>
          <p:cNvSpPr/>
          <p:nvPr/>
        </p:nvSpPr>
        <p:spPr>
          <a:xfrm>
            <a:off x="365760" y="4663440"/>
            <a:ext cx="8229600" cy="320040"/>
          </a:xfrm>
          <a:prstGeom prst="rect">
            <a:avLst/>
          </a:prstGeom>
          <a:noFill/>
          <a:ln/>
        </p:spPr>
        <p:txBody>
          <a:bodyPr wrap="square" rtlCol="0" anchor="ctr"/>
          <a:lstStyle/>
          <a:p>
            <a:pPr indent="0" marL="0">
              <a:buNone/>
            </a:pPr>
            <a:r>
              <a:rPr lang="en-US" sz="850" i="1" dirty="0">
                <a:solidFill>
                  <a:srgbClr val="FFAAAA"/>
                </a:solidFill>
                <a:latin typeface="Calibri" pitchFamily="34" charset="0"/>
                <a:ea typeface="Calibri" pitchFamily="34" charset="-122"/>
                <a:cs typeface="Calibri" pitchFamily="34" charset="-120"/>
              </a:rPr>
              <a:t>Data as of May 17, 2026  |  Excl. Cancelled / Declined / Deleted  |  ~85–90% event-level match confidence</a:t>
            </a:r>
            <a:endParaRPr lang="en-US" sz="850" dirty="0"/>
          </a:p>
        </p:txBody>
      </p:sp>
      <p:sp>
        <p:nvSpPr>
          <p:cNvPr id="15" name="Text 13"/>
          <p:cNvSpPr/>
          <p:nvPr/>
        </p:nvSpPr>
        <p:spPr>
          <a:xfrm>
            <a:off x="8458200" y="4919472"/>
            <a:ext cx="594360" cy="182880"/>
          </a:xfrm>
          <a:prstGeom prst="rect">
            <a:avLst/>
          </a:prstGeom>
          <a:noFill/>
          <a:ln/>
        </p:spPr>
        <p:txBody>
          <a:bodyPr wrap="square" rtlCol="0" anchor="ctr"/>
          <a:lstStyle/>
          <a:p>
            <a:pPr algn="r" indent="0" marL="0">
              <a:buNone/>
            </a:pPr>
            <a:r>
              <a:rPr lang="en-US" sz="850" dirty="0">
                <a:solidFill>
                  <a:srgbClr val="FFAAAA"/>
                </a:solidFill>
                <a:latin typeface="Calibri" pitchFamily="34" charset="0"/>
                <a:ea typeface="Calibri" pitchFamily="34" charset="-122"/>
                <a:cs typeface="Calibri" pitchFamily="34" charset="-120"/>
              </a:rPr>
              <a:t>1 /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0  —  What Changed? Event Counts by Type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2 / 8</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8595360" cy="2487168"/>
        </p:xfrm>
        <a:graphic>
          <a:graphicData uri="http://schemas.openxmlformats.org/drawingml/2006/table">
            <a:tbl>
              <a:tblPr/>
              <a:tblGrid>
                <a:gridCol w="1432560"/>
                <a:gridCol w="1432560"/>
                <a:gridCol w="1432560"/>
                <a:gridCol w="1432560"/>
                <a:gridCol w="1432560"/>
                <a:gridCol w="1432560"/>
              </a:tblGrid>
              <a:tr h="402336">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Count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Read as...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402336">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Essentially flat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02336">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Mild softness</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97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84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C62828"/>
                          </a:solidFill>
                        </a:rPr>
                        <a:t>Structural contraction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402336">
                <a:tc>
                  <a:txBody>
                    <a:bodyPr/>
                    <a:lstStyle/>
                    <a:p>
                      <a:pPr algn="l" indent="0" marL="0">
                        <a:buNone/>
                      </a:pPr>
                      <a:r>
                        <a:rPr lang="en-US" sz="1000" b="1" dirty="0">
                          <a:solidFill>
                            <a:srgbClr val="1E7D34"/>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+17.2%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1E7D34"/>
                          </a:solidFill>
                        </a:rPr>
                        <a:t>Growing (+5)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402336">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 drives the decline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Shape 3"/>
          <p:cNvSpPr/>
          <p:nvPr/>
        </p:nvSpPr>
        <p:spPr>
          <a:xfrm>
            <a:off x="274320" y="3310128"/>
            <a:ext cx="8595360" cy="1005840"/>
          </a:xfrm>
          <a:prstGeom prst="rect">
            <a:avLst/>
          </a:prstGeom>
          <a:solidFill>
            <a:srgbClr val="ECEFF1"/>
          </a:solidFill>
          <a:ln w="12700">
            <a:solidFill>
              <a:srgbClr val="CCCCCC"/>
            </a:solidFill>
            <a:prstDash val="solid"/>
          </a:ln>
        </p:spPr>
      </p:sp>
      <p:sp>
        <p:nvSpPr>
          <p:cNvPr id="7" name="Text 4"/>
          <p:cNvSpPr/>
          <p:nvPr/>
        </p:nvSpPr>
        <p:spPr>
          <a:xfrm>
            <a:off x="384048" y="3355848"/>
            <a:ext cx="8321040" cy="91440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Narrative:  </a:t>
            </a:r>
            <a:pPr indent="0" marL="0">
              <a:buNone/>
            </a:pPr>
            <a:r>
              <a:rPr lang="en-US" sz="1000" dirty="0">
                <a:solidFill>
                  <a:srgbClr val="222222"/>
                </a:solidFill>
                <a:latin typeface="Calibri" pitchFamily="34" charset="0"/>
                <a:ea typeface="Calibri" pitchFamily="34" charset="-122"/>
                <a:cs typeface="Calibri" pitchFamily="34" charset="-120"/>
              </a:rPr>
              <a:t>We're down 13 events (−1.1%) year-over-year, a flatline masked by calendar manipulation. Organic demand dropped −11 events, buried under a +3 calendar boost that won't repeat.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1  —  Monthly Breakdown — July and August Drive the Declines</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3 / 8</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3108960" cy="3493008"/>
        </p:xfrm>
        <a:graphic>
          <a:graphicData uri="http://schemas.openxmlformats.org/drawingml/2006/table">
            <a:tbl>
              <a:tblPr/>
              <a:tblGrid>
                <a:gridCol w="777240"/>
                <a:gridCol w="777240"/>
                <a:gridCol w="777240"/>
                <a:gridCol w="777240"/>
              </a:tblGrid>
              <a:tr h="24688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Var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46888">
                <a:tc>
                  <a:txBody>
                    <a:bodyPr/>
                    <a:lstStyle/>
                    <a:p>
                      <a:pPr algn="l" indent="0" marL="0">
                        <a:buNone/>
                      </a:pPr>
                      <a:r>
                        <a:rPr lang="en-US" sz="1000" dirty="0">
                          <a:solidFill>
                            <a:srgbClr val="1E7D34"/>
                          </a:solidFill>
                        </a:rPr>
                        <a:t>Jan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Feb</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Mar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Apr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Jun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Jul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Aug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Sep</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Oct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Nov</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Dec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46888">
                <a:tc>
                  <a:txBody>
                    <a:bodyPr/>
                    <a:lstStyle/>
                    <a:p>
                      <a:pPr algn="ctr" indent="0" marL="0">
                        <a:buNone/>
                      </a:pPr>
                      <a:r>
                        <a:rPr lang="en-US" sz="1000" b="1" dirty="0">
                          <a:solidFill>
                            <a:srgbClr val="FFFFFF"/>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Text 3"/>
          <p:cNvSpPr/>
          <p:nvPr/>
        </p:nvSpPr>
        <p:spPr>
          <a:xfrm>
            <a:off x="3566160" y="694944"/>
            <a:ext cx="5394960" cy="256032"/>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Type Detail — July and August</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66160" y="987552"/>
          <a:ext cx="5394960" cy="1261872"/>
        </p:xfrm>
        <a:graphic>
          <a:graphicData uri="http://schemas.openxmlformats.org/drawingml/2006/table">
            <a:tbl>
              <a:tblPr/>
              <a:tblGrid>
                <a:gridCol w="899160"/>
                <a:gridCol w="899160"/>
                <a:gridCol w="899160"/>
                <a:gridCol w="899160"/>
                <a:gridCol w="899160"/>
                <a:gridCol w="899160"/>
              </a:tblGrid>
              <a:tr h="29260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9260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222222"/>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8" name="Shape 4"/>
          <p:cNvSpPr/>
          <p:nvPr/>
        </p:nvSpPr>
        <p:spPr>
          <a:xfrm>
            <a:off x="3566160" y="2340864"/>
            <a:ext cx="5394960" cy="658368"/>
          </a:xfrm>
          <a:prstGeom prst="rect">
            <a:avLst/>
          </a:prstGeom>
          <a:solidFill>
            <a:srgbClr val="FFCDD2"/>
          </a:solidFill>
          <a:ln w="12700">
            <a:solidFill>
              <a:srgbClr val="C62828"/>
            </a:solidFill>
            <a:prstDash val="solid"/>
          </a:ln>
        </p:spPr>
      </p:sp>
      <p:sp>
        <p:nvSpPr>
          <p:cNvPr id="9" name="Text 5"/>
          <p:cNvSpPr/>
          <p:nvPr/>
        </p:nvSpPr>
        <p:spPr>
          <a:xfrm>
            <a:off x="3630168" y="2340864"/>
            <a:ext cx="5266944" cy="6583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July and August are driven by Youth Race and Adult Race — not clinic-related.</a:t>
            </a:r>
            <a:endParaRPr lang="en-US" sz="1000" dirty="0"/>
          </a:p>
        </p:txBody>
      </p:sp>
      <p:sp>
        <p:nvSpPr>
          <p:cNvPr id="10" name="Shape 6"/>
          <p:cNvSpPr/>
          <p:nvPr/>
        </p:nvSpPr>
        <p:spPr>
          <a:xfrm>
            <a:off x="3566160" y="3090672"/>
            <a:ext cx="5394960" cy="914400"/>
          </a:xfrm>
          <a:prstGeom prst="rect">
            <a:avLst/>
          </a:prstGeom>
          <a:solidFill>
            <a:srgbClr val="C8E6C9"/>
          </a:solidFill>
          <a:ln w="12700">
            <a:solidFill>
              <a:srgbClr val="1E7D34"/>
            </a:solidFill>
            <a:prstDash val="solid"/>
          </a:ln>
        </p:spPr>
      </p:sp>
      <p:sp>
        <p:nvSpPr>
          <p:cNvPr id="11" name="Text 7"/>
          <p:cNvSpPr/>
          <p:nvPr/>
        </p:nvSpPr>
        <p:spPr>
          <a:xfrm>
            <a:off x="3630168" y="3090672"/>
            <a:ext cx="5266944" cy="914400"/>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October (+11) and June (+10) are the strongest months. Both show genuine organic strength plus new event additions.</a:t>
            </a:r>
            <a:endParaRPr lang="en-US" sz="1000" dirty="0"/>
          </a:p>
        </p:txBody>
      </p:sp>
      <p:sp>
        <p:nvSpPr>
          <p:cNvPr id="12" name="Shape 8"/>
          <p:cNvSpPr/>
          <p:nvPr/>
        </p:nvSpPr>
        <p:spPr>
          <a:xfrm>
            <a:off x="274320" y="4315968"/>
            <a:ext cx="8595360" cy="457200"/>
          </a:xfrm>
          <a:prstGeom prst="rect">
            <a:avLst/>
          </a:prstGeom>
          <a:solidFill>
            <a:srgbClr val="ECEFF1"/>
          </a:solidFill>
          <a:ln w="12700">
            <a:solidFill>
              <a:srgbClr val="CCCCCC"/>
            </a:solidFill>
            <a:prstDash val="solid"/>
          </a:ln>
        </p:spPr>
      </p:sp>
      <p:sp>
        <p:nvSpPr>
          <p:cNvPr id="13" name="Text 9"/>
          <p:cNvSpPr/>
          <p:nvPr/>
        </p:nvSpPr>
        <p:spPr>
          <a:xfrm>
            <a:off x="384048" y="4343400"/>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August and July hammered us hardest—losing 19 and 16 events organically respectively. June, March, and October recovered slightly, but summer bleeding overwhelmed spring and fall gains.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06064"/>
          </a:solidFill>
          <a:ln w="12700">
            <a:solidFill>
              <a:srgbClr val="006064"/>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2  —  Is This a Calendar Effect?  No — Not for July and August</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4 / 8</a:t>
            </a:r>
            <a:endParaRPr lang="en-US" sz="900" dirty="0"/>
          </a:p>
        </p:txBody>
      </p:sp>
      <p:sp>
        <p:nvSpPr>
          <p:cNvPr id="5" name="Shape 3"/>
          <p:cNvSpPr/>
          <p:nvPr/>
        </p:nvSpPr>
        <p:spPr>
          <a:xfrm>
            <a:off x="274320" y="694944"/>
            <a:ext cx="8595360" cy="566928"/>
          </a:xfrm>
          <a:prstGeom prst="rect">
            <a:avLst/>
          </a:prstGeom>
          <a:solidFill>
            <a:srgbClr val="FDECEA"/>
          </a:solidFill>
          <a:ln w="12700">
            <a:solidFill>
              <a:srgbClr val="C62828"/>
            </a:solidFill>
            <a:prstDash val="solid"/>
          </a:ln>
        </p:spPr>
      </p:sp>
      <p:sp>
        <p:nvSpPr>
          <p:cNvPr id="6" name="Text 4"/>
          <p:cNvSpPr/>
          <p:nvPr/>
        </p:nvSpPr>
        <p:spPr>
          <a:xfrm>
            <a:off x="420624" y="722376"/>
            <a:ext cx="8302752" cy="512064"/>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July and August had ZERO change in weekend days (Sat or Sun) between 2025 and 2026. There is no calendar explanation for the declines — they are fully organic.</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2231136"/>
        </p:xfrm>
        <a:graphic>
          <a:graphicData uri="http://schemas.openxmlformats.org/drawingml/2006/table">
            <a:tbl>
              <a:tblPr/>
              <a:tblGrid>
                <a:gridCol w="1432560"/>
                <a:gridCol w="1432560"/>
                <a:gridCol w="1432560"/>
                <a:gridCol w="1432560"/>
                <a:gridCol w="1432560"/>
                <a:gridCol w="1432560"/>
              </a:tblGrid>
              <a:tr h="33832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Weekend Days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Calendar Expected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Actual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Organic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Interpretation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r>
              <a:tr h="338328">
                <a:tc>
                  <a:txBody>
                    <a:bodyPr/>
                    <a:lstStyle/>
                    <a:p>
                      <a:pPr algn="l" indent="0" marL="0">
                        <a:buNone/>
                      </a:pPr>
                      <a:r>
                        <a:rPr lang="en-US" sz="1000" b="1" dirty="0">
                          <a:solidFill>
                            <a:srgbClr val="1E7D34"/>
                          </a:solidFill>
                        </a:rPr>
                        <a:t>March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+15.8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Looks +4 raw -- actually −11.8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1E7D34"/>
                          </a:solidFill>
                        </a:rPr>
                        <a:t>June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−23.2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8" name="Shape 5"/>
          <p:cNvSpPr/>
          <p:nvPr/>
        </p:nvSpPr>
        <p:spPr>
          <a:xfrm>
            <a:off x="274320" y="3675888"/>
            <a:ext cx="4160520" cy="566928"/>
          </a:xfrm>
          <a:prstGeom prst="rect">
            <a:avLst/>
          </a:prstGeom>
          <a:solidFill>
            <a:srgbClr val="E3F2FD"/>
          </a:solidFill>
          <a:ln w="12700">
            <a:solidFill>
              <a:srgbClr val="1565C0"/>
            </a:solidFill>
            <a:prstDash val="solid"/>
          </a:ln>
        </p:spPr>
      </p:sp>
      <p:sp>
        <p:nvSpPr>
          <p:cNvPr id="9" name="Text 6"/>
          <p:cNvSpPr/>
          <p:nvPr/>
        </p:nvSpPr>
        <p:spPr>
          <a:xfrm>
            <a:off x="384048" y="3694176"/>
            <a:ext cx="3931920" cy="530352"/>
          </a:xfrm>
          <a:prstGeom prst="rect">
            <a:avLst/>
          </a:prstGeom>
          <a:noFill/>
          <a:ln/>
        </p:spPr>
        <p:txBody>
          <a:bodyPr wrap="square" rtlCol="0" anchor="ctr"/>
          <a:lstStyle/>
          <a:p>
            <a:pPr indent="0" marL="0">
              <a:buNone/>
            </a:pPr>
            <a:r>
              <a:rPr lang="en-US" sz="950" dirty="0">
                <a:solidFill>
                  <a:srgbClr val="1565C0"/>
                </a:solidFill>
                <a:latin typeface="Calibri" pitchFamily="34" charset="0"/>
                <a:ea typeface="Calibri" pitchFamily="34" charset="-122"/>
                <a:cs typeface="Calibri" pitchFamily="34" charset="-120"/>
              </a:rPr>
              <a:t>Event shifting (123 events, 10%) explains a small share of monthly net changes.</a:t>
            </a:r>
            <a:endParaRPr lang="en-US" sz="950" dirty="0"/>
          </a:p>
        </p:txBody>
      </p:sp>
      <p:sp>
        <p:nvSpPr>
          <p:cNvPr id="10" name="Shape 7"/>
          <p:cNvSpPr/>
          <p:nvPr/>
        </p:nvSpPr>
        <p:spPr>
          <a:xfrm>
            <a:off x="4617720" y="3675888"/>
            <a:ext cx="4251960" cy="566928"/>
          </a:xfrm>
          <a:prstGeom prst="rect">
            <a:avLst/>
          </a:prstGeom>
          <a:solidFill>
            <a:srgbClr val="FFF8E1"/>
          </a:solidFill>
          <a:ln w="12700">
            <a:solidFill>
              <a:srgbClr val="E65100"/>
            </a:solidFill>
            <a:prstDash val="solid"/>
          </a:ln>
        </p:spPr>
      </p:sp>
      <p:sp>
        <p:nvSpPr>
          <p:cNvPr id="11" name="Text 8"/>
          <p:cNvSpPr/>
          <p:nvPr/>
        </p:nvSpPr>
        <p:spPr>
          <a:xfrm>
            <a:off x="4727448" y="3694176"/>
            <a:ext cx="4023360" cy="530352"/>
          </a:xfrm>
          <a:prstGeom prst="rect">
            <a:avLst/>
          </a:prstGeom>
          <a:noFill/>
          <a:ln/>
        </p:spPr>
        <p:txBody>
          <a:bodyPr wrap="square" rtlCol="0" anchor="ctr"/>
          <a:lstStyle/>
          <a:p>
            <a:pPr indent="0" marL="0">
              <a:buNone/>
            </a:pPr>
            <a:r>
              <a:rPr lang="en-US" sz="950" dirty="0">
                <a:solidFill>
                  <a:srgbClr val="E65100"/>
                </a:solidFill>
                <a:latin typeface="Calibri" pitchFamily="34" charset="0"/>
                <a:ea typeface="Calibri" pitchFamily="34" charset="-122"/>
                <a:cs typeface="Calibri" pitchFamily="34" charset="-120"/>
              </a:rPr>
              <a:t>May distortion: raw +4 masks −11.8 organic. Calendar effect was +15.8.</a:t>
            </a:r>
            <a:endParaRPr lang="en-US" sz="950" dirty="0"/>
          </a:p>
        </p:txBody>
      </p:sp>
      <p:sp>
        <p:nvSpPr>
          <p:cNvPr id="12" name="Shape 9"/>
          <p:cNvSpPr/>
          <p:nvPr/>
        </p:nvSpPr>
        <p:spPr>
          <a:xfrm>
            <a:off x="274320" y="4352544"/>
            <a:ext cx="8595360" cy="457200"/>
          </a:xfrm>
          <a:prstGeom prst="rect">
            <a:avLst/>
          </a:prstGeom>
          <a:solidFill>
            <a:srgbClr val="ECEFF1"/>
          </a:solidFill>
          <a:ln w="12700">
            <a:solidFill>
              <a:srgbClr val="CCCCCC"/>
            </a:solidFill>
            <a:prstDash val="solid"/>
          </a:ln>
        </p:spPr>
      </p:sp>
      <p:sp>
        <p:nvSpPr>
          <p:cNvPr id="13" name="Text 10"/>
          <p:cNvSpPr/>
          <p:nvPr/>
        </p:nvSpPr>
        <p:spPr>
          <a:xfrm>
            <a:off x="384048" y="4379976"/>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The 2025 calendar gifted us 3 extra events; 2026's calendar will offer nothing. Without structural fixes to organic demand, we're headed for a sharper decline next year.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4A148C"/>
          </a:solidFill>
          <a:ln w="12700">
            <a:solidFill>
              <a:srgbClr val="4A148C"/>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3  —  Organic Performance -- True Signal After Removing Calendar Noise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5 / 8</a:t>
            </a:r>
            <a:endParaRPr lang="en-US" sz="900" dirty="0"/>
          </a:p>
        </p:txBody>
      </p:sp>
      <p:sp>
        <p:nvSpPr>
          <p:cNvPr id="5" name="Text 3"/>
          <p:cNvSpPr/>
          <p:nvPr/>
        </p:nvSpPr>
        <p:spPr>
          <a:xfrm>
            <a:off x="274320" y="694944"/>
            <a:ext cx="8595360" cy="237744"/>
          </a:xfrm>
          <a:prstGeom prst="rect">
            <a:avLst/>
          </a:prstGeom>
          <a:noFill/>
          <a:ln/>
        </p:spPr>
        <p:txBody>
          <a:bodyPr wrap="square" rtlCol="0" anchor="ctr"/>
          <a:lstStyle/>
          <a:p>
            <a:pPr indent="0" marL="0">
              <a:buNone/>
            </a:pPr>
            <a:r>
              <a:rPr lang="en-US" sz="1100" dirty="0">
                <a:solidFill>
                  <a:srgbClr val="222222"/>
                </a:solidFill>
                <a:latin typeface="Calibri" pitchFamily="34" charset="0"/>
                <a:ea typeface="Calibri" pitchFamily="34" charset="-122"/>
                <a:cs typeface="Calibri" pitchFamily="34" charset="-120"/>
              </a:rPr>
              <a:t>Once calendar effects are stripped, the real performance picture: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69264"/>
          <a:ext cx="8595360" cy="1828800"/>
        </p:xfrm>
        <a:graphic>
          <a:graphicData uri="http://schemas.openxmlformats.org/drawingml/2006/table">
            <a:tbl>
              <a:tblPr/>
              <a:tblGrid>
                <a:gridCol w="1719072"/>
                <a:gridCol w="1719072"/>
                <a:gridCol w="1719072"/>
                <a:gridCol w="1719072"/>
                <a:gridCol w="1719072"/>
              </a:tblGrid>
              <a:tr h="329184">
                <a:tc>
                  <a:txBody>
                    <a:bodyPr/>
                    <a:lstStyle/>
                    <a:p>
                      <a:pPr algn="ctr" indent="0" marL="0">
                        <a:buNone/>
                      </a:pPr>
                      <a:r>
                        <a:rPr lang="en-US" sz="1050" b="1" dirty="0">
                          <a:solidFill>
                            <a:srgbClr val="FFFFFF"/>
                          </a:solidFill>
                        </a:rPr>
                        <a:t>Event Type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Raw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Calendar Effect</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r>
              <a:tr h="329184">
                <a:tc>
                  <a:txBody>
                    <a:bodyPr/>
                    <a:lstStyle/>
                    <a:p>
                      <a:pPr algn="l" indent="0" marL="0">
                        <a:buNone/>
                      </a:pPr>
                      <a:r>
                        <a:rPr lang="en-US" sz="1050" dirty="0">
                          <a:solidFill>
                            <a:srgbClr val="222222"/>
                          </a:solidFill>
                        </a:rPr>
                        <a:t>Adult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1E7D34"/>
                          </a:solidFill>
                        </a:rPr>
                        <a:t>−1</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+1.4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+0.2%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29184">
                <a:tc>
                  <a:txBody>
                    <a:bodyPr/>
                    <a:lstStyle/>
                    <a:p>
                      <a:pPr algn="l" indent="0" marL="0">
                        <a:buNone/>
                      </a:pPr>
                      <a:r>
                        <a:rPr lang="en-US" sz="1050" dirty="0">
                          <a:solidFill>
                            <a:srgbClr val="222222"/>
                          </a:solidFill>
                        </a:rPr>
                        <a:t>Youth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7D34"/>
                          </a:solidFill>
                        </a:rPr>
                        <a:t>−4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−2.8</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C62828"/>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C62828"/>
                          </a:solidFill>
                        </a:rPr>
                        <a:t>Adult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b="1" dirty="0">
                          <a:solidFill>
                            <a:srgbClr val="1E7D34"/>
                          </a:solidFill>
                        </a:rPr>
                        <a:t>−13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b="1" dirty="0">
                          <a:solidFill>
                            <a:srgbClr val="1E7D34"/>
                          </a:solidFill>
                        </a:rPr>
                        <a:t>−11.0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C62828"/>
                          </a:solidFill>
                        </a:rPr>
                        <a:t>-11.3%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1E7D34"/>
                          </a:solidFill>
                        </a:rPr>
                        <a:t>Youth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+5</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−0.6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+5.6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1E7D34"/>
                          </a:solidFill>
                        </a:rPr>
                        <a:t>+19.4%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889504"/>
            <a:ext cx="8595360" cy="402336"/>
          </a:xfrm>
          <a:prstGeom prst="rect">
            <a:avLst/>
          </a:prstGeom>
          <a:solidFill>
            <a:srgbClr val="E3F2FD"/>
          </a:solidFill>
          <a:ln w="12700">
            <a:solidFill>
              <a:srgbClr val="1565C0"/>
            </a:solidFill>
            <a:prstDash val="solid"/>
          </a:ln>
        </p:spPr>
      </p:sp>
      <p:sp>
        <p:nvSpPr>
          <p:cNvPr id="8" name="Text 5"/>
          <p:cNvSpPr/>
          <p:nvPr/>
        </p:nvSpPr>
        <p:spPr>
          <a:xfrm>
            <a:off x="384048" y="2907792"/>
            <a:ext cx="8321040" cy="365760"/>
          </a:xfrm>
          <a:prstGeom prst="rect">
            <a:avLst/>
          </a:prstGeom>
          <a:noFill/>
          <a:ln/>
        </p:spPr>
        <p:txBody>
          <a:bodyPr wrap="square"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Organic Delta = Actual Delta - Calendar Expected Delta.   Calendar effect = Delta weekend days x 2025 events-per-weekend-day for that month &amp; type.</a:t>
            </a:r>
            <a:endParaRPr lang="en-US" sz="950" dirty="0"/>
          </a:p>
        </p:txBody>
      </p:sp>
      <p:sp>
        <p:nvSpPr>
          <p:cNvPr id="9" name="Shape 6"/>
          <p:cNvSpPr/>
          <p:nvPr/>
        </p:nvSpPr>
        <p:spPr>
          <a:xfrm>
            <a:off x="274320" y="3218688"/>
            <a:ext cx="4160520" cy="713232"/>
          </a:xfrm>
          <a:prstGeom prst="rect">
            <a:avLst/>
          </a:prstGeom>
          <a:solidFill>
            <a:srgbClr val="FDECEA"/>
          </a:solidFill>
          <a:ln w="12700">
            <a:solidFill>
              <a:srgbClr val="C62828"/>
            </a:solidFill>
            <a:prstDash val="solid"/>
          </a:ln>
        </p:spPr>
      </p:sp>
      <p:sp>
        <p:nvSpPr>
          <p:cNvPr id="10" name="Text 7"/>
          <p:cNvSpPr/>
          <p:nvPr/>
        </p:nvSpPr>
        <p:spPr>
          <a:xfrm>
            <a:off x="384048" y="3246120"/>
            <a:ext cx="3931920" cy="676656"/>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−11.3% organic
</a:t>
            </a:r>
            <a:pPr indent="0" marL="0">
              <a:buNone/>
            </a:pPr>
            <a:r>
              <a:rPr lang="en-US" sz="950" dirty="0">
                <a:solidFill>
                  <a:srgbClr val="C62828"/>
                </a:solidFill>
                <a:latin typeface="Calibri" pitchFamily="34" charset="0"/>
                <a:ea typeface="Calibri" pitchFamily="34" charset="-122"/>
                <a:cs typeface="Calibri" pitchFamily="34" charset="-120"/>
              </a:rPr>
              <a:t>Organic delta −11.0 (-11.3%). Calendar noise cannot explain it.</a:t>
            </a:r>
            <a:endParaRPr lang="en-US" sz="950" dirty="0"/>
          </a:p>
        </p:txBody>
      </p:sp>
      <p:sp>
        <p:nvSpPr>
          <p:cNvPr id="11" name="Shape 8"/>
          <p:cNvSpPr/>
          <p:nvPr/>
        </p:nvSpPr>
        <p:spPr>
          <a:xfrm>
            <a:off x="4617720" y="3218688"/>
            <a:ext cx="4251960" cy="713232"/>
          </a:xfrm>
          <a:prstGeom prst="rect">
            <a:avLst/>
          </a:prstGeom>
          <a:solidFill>
            <a:srgbClr val="E8F5E9"/>
          </a:solidFill>
          <a:ln w="12700">
            <a:solidFill>
              <a:srgbClr val="1E7D34"/>
            </a:solidFill>
            <a:prstDash val="solid"/>
          </a:ln>
        </p:spPr>
      </p:sp>
      <p:sp>
        <p:nvSpPr>
          <p:cNvPr id="12" name="Text 9"/>
          <p:cNvSpPr/>
          <p:nvPr/>
        </p:nvSpPr>
        <p:spPr>
          <a:xfrm>
            <a:off x="4727448" y="3246120"/>
            <a:ext cx="4023360" cy="676656"/>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+19.4% organic
</a:t>
            </a:r>
            <a:pPr indent="0" marL="0">
              <a:buNone/>
            </a:pPr>
            <a:r>
              <a:rPr lang="en-US" sz="950" dirty="0">
                <a:solidFill>
                  <a:srgbClr val="1E7D34"/>
                </a:solidFill>
                <a:latin typeface="Calibri" pitchFamily="34" charset="0"/>
                <a:ea typeface="Calibri" pitchFamily="34" charset="-122"/>
                <a:cs typeface="Calibri" pitchFamily="34" charset="-120"/>
              </a:rPr>
              <a:t>Organic delta +5.6 (+19.4%) -- no calendar help required.</a:t>
            </a:r>
            <a:endParaRPr lang="en-US" sz="950" dirty="0"/>
          </a:p>
        </p:txBody>
      </p:sp>
      <p:sp>
        <p:nvSpPr>
          <p:cNvPr id="13" name="Text 10"/>
          <p:cNvSpPr/>
          <p:nvPr/>
        </p:nvSpPr>
        <p:spPr>
          <a:xfrm>
            <a:off x="274320" y="4041648"/>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Best &amp; worst organic months (calendar-adjusted):</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274320" y="4315968"/>
          <a:ext cx="8595360" cy="603504"/>
        </p:xfrm>
        <a:graphic>
          <a:graphicData uri="http://schemas.openxmlformats.org/drawingml/2006/table">
            <a:tbl>
              <a:tblPr/>
              <a:tblGrid>
                <a:gridCol w="1719072"/>
                <a:gridCol w="1719072"/>
                <a:gridCol w="1719072"/>
                <a:gridCol w="1719072"/>
                <a:gridCol w="1719072"/>
              </a:tblGrid>
              <a:tr h="283464">
                <a:tc>
                  <a:txBody>
                    <a:bodyPr/>
                    <a:lstStyle/>
                    <a:p>
                      <a:pPr algn="ctr" indent="0" marL="0">
                        <a:buNone/>
                      </a:pPr>
                      <a:r>
                        <a:rPr lang="en-US" sz="1000" b="1" dirty="0">
                          <a:solidFill>
                            <a:srgbClr val="FFFFFF"/>
                          </a:solidFill>
                        </a:rPr>
                        <a:t>Strongest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Jun +33.2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Mar +13.4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Jan +5.8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Apr +5.0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r>
              <a:tr h="283464">
                <a:tc>
                  <a:txBody>
                    <a:bodyPr/>
                    <a:lstStyle/>
                    <a:p>
                      <a:pPr algn="ctr" indent="0" marL="0">
                        <a:buNone/>
                      </a:pPr>
                      <a:r>
                        <a:rPr lang="en-US" sz="1000" b="1" dirty="0">
                          <a:solidFill>
                            <a:srgbClr val="FFFFFF"/>
                          </a:solidFill>
                        </a:rPr>
                        <a:t>Weakest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Aug −19.0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Jul −16.0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May −11.8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Feb −9.0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r>
            </a:tbl>
          </a:graphicData>
        </a:graphic>
      </p:graphicFrame>
      <p:sp>
        <p:nvSpPr>
          <p:cNvPr id="15" name="Shape 11"/>
          <p:cNvSpPr/>
          <p:nvPr/>
        </p:nvSpPr>
        <p:spPr>
          <a:xfrm>
            <a:off x="274320" y="4974336"/>
            <a:ext cx="8595360" cy="128016"/>
          </a:xfrm>
          <a:prstGeom prst="rect">
            <a:avLst/>
          </a:prstGeom>
          <a:solidFill>
            <a:srgbClr val="ECEFF1"/>
          </a:solidFill>
          <a:ln w="12700">
            <a:solidFill>
              <a:srgbClr val="CCCCCC"/>
            </a:solidFill>
            <a:prstDash val="solid"/>
          </a:ln>
        </p:spPr>
      </p:sp>
      <p:sp>
        <p:nvSpPr>
          <p:cNvPr id="16" name="Text 12"/>
          <p:cNvSpPr/>
          <p:nvPr/>
        </p:nvSpPr>
        <p:spPr>
          <a:xfrm>
            <a:off x="384048" y="4983480"/>
            <a:ext cx="8321040" cy="109728"/>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Adult Races are flatlining (−0.1% organic), but Adult Clinics are cratering (−11.3% organic decline). Youth Clinics are the sole bright spot—the only segment growing organically at +19.4%.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7474F"/>
          </a:solidFill>
          <a:ln w="12700">
            <a:solidFill>
              <a:srgbClr val="37474F"/>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4  —  Did We Really Lose Events?  Event-Level Disposition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6 / 8</a:t>
            </a:r>
            <a:endParaRPr lang="en-US" sz="900" dirty="0"/>
          </a:p>
        </p:txBody>
      </p:sp>
      <p:sp>
        <p:nvSpPr>
          <p:cNvPr id="5" name="Shape 3"/>
          <p:cNvSpPr/>
          <p:nvPr/>
        </p:nvSpPr>
        <p:spPr>
          <a:xfrm>
            <a:off x="274320" y="694944"/>
            <a:ext cx="2029968" cy="1152144"/>
          </a:xfrm>
          <a:prstGeom prst="rect">
            <a:avLst/>
          </a:prstGeom>
          <a:solidFill>
            <a:srgbClr val="E8F5E9"/>
          </a:solidFill>
          <a:ln w="12700">
            <a:solidFill>
              <a:srgbClr val="1E7D34"/>
            </a:solidFill>
            <a:prstDash val="solid"/>
          </a:ln>
        </p:spPr>
      </p:sp>
      <p:sp>
        <p:nvSpPr>
          <p:cNvPr id="6" name="Text 4"/>
          <p:cNvSpPr/>
          <p:nvPr/>
        </p:nvSpPr>
        <p:spPr>
          <a:xfrm>
            <a:off x="274320" y="722376"/>
            <a:ext cx="2029968" cy="475488"/>
          </a:xfrm>
          <a:prstGeom prst="rect">
            <a:avLst/>
          </a:prstGeom>
          <a:noFill/>
          <a:ln/>
        </p:spPr>
        <p:txBody>
          <a:bodyPr wrap="square" rtlCol="0" anchor="ctr"/>
          <a:lstStyle/>
          <a:p>
            <a:pPr algn="ctr" indent="0" marL="0">
              <a:buNone/>
            </a:pPr>
            <a:r>
              <a:rPr lang="en-US" sz="2700" b="1" dirty="0">
                <a:solidFill>
                  <a:srgbClr val="1E7D34"/>
                </a:solidFill>
                <a:latin typeface="Calibri" pitchFamily="34" charset="0"/>
                <a:ea typeface="Calibri" pitchFamily="34" charset="-122"/>
                <a:cs typeface="Calibri" pitchFamily="34" charset="-120"/>
              </a:rPr>
              <a:t>746</a:t>
            </a:r>
            <a:endParaRPr lang="en-US" sz="2700" dirty="0"/>
          </a:p>
        </p:txBody>
      </p:sp>
      <p:sp>
        <p:nvSpPr>
          <p:cNvPr id="7" name="Text 5"/>
          <p:cNvSpPr/>
          <p:nvPr/>
        </p:nvSpPr>
        <p:spPr>
          <a:xfrm>
            <a:off x="274320" y="1161288"/>
            <a:ext cx="2029968" cy="201168"/>
          </a:xfrm>
          <a:prstGeom prst="rect">
            <a:avLst/>
          </a:prstGeom>
          <a:noFill/>
          <a:ln/>
        </p:spPr>
        <p:txBody>
          <a:bodyPr wrap="square" rtlCol="0" anchor="ctr"/>
          <a:lstStyle/>
          <a:p>
            <a:pPr algn="ctr" indent="0" marL="0">
              <a:buNone/>
            </a:pPr>
            <a:r>
              <a:rPr lang="en-US" sz="900" i="1" dirty="0">
                <a:solidFill>
                  <a:srgbClr val="1E7D34"/>
                </a:solidFill>
                <a:latin typeface="Calibri" pitchFamily="34" charset="0"/>
                <a:ea typeface="Calibri" pitchFamily="34" charset="-122"/>
                <a:cs typeface="Calibri" pitchFamily="34" charset="-120"/>
              </a:rPr>
              <a:t>63% of 2025</a:t>
            </a:r>
            <a:endParaRPr lang="en-US" sz="900" dirty="0"/>
          </a:p>
        </p:txBody>
      </p:sp>
      <p:sp>
        <p:nvSpPr>
          <p:cNvPr id="8" name="Text 6"/>
          <p:cNvSpPr/>
          <p:nvPr/>
        </p:nvSpPr>
        <p:spPr>
          <a:xfrm>
            <a:off x="274320" y="1344168"/>
            <a:ext cx="2029968" cy="201168"/>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Retained</a:t>
            </a:r>
            <a:endParaRPr lang="en-US" sz="1000" dirty="0"/>
          </a:p>
        </p:txBody>
      </p:sp>
      <p:sp>
        <p:nvSpPr>
          <p:cNvPr id="9" name="Text 7"/>
          <p:cNvSpPr/>
          <p:nvPr/>
        </p:nvSpPr>
        <p:spPr>
          <a:xfrm>
            <a:off x="274320"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same month</a:t>
            </a:r>
            <a:endParaRPr lang="en-US" sz="850" dirty="0"/>
          </a:p>
        </p:txBody>
      </p:sp>
      <p:sp>
        <p:nvSpPr>
          <p:cNvPr id="10" name="Shape 8"/>
          <p:cNvSpPr/>
          <p:nvPr/>
        </p:nvSpPr>
        <p:spPr>
          <a:xfrm>
            <a:off x="2450592" y="694944"/>
            <a:ext cx="2029968" cy="1152144"/>
          </a:xfrm>
          <a:prstGeom prst="rect">
            <a:avLst/>
          </a:prstGeom>
          <a:solidFill>
            <a:srgbClr val="FFF8E1"/>
          </a:solidFill>
          <a:ln w="12700">
            <a:solidFill>
              <a:srgbClr val="E65100"/>
            </a:solidFill>
            <a:prstDash val="solid"/>
          </a:ln>
        </p:spPr>
      </p:sp>
      <p:sp>
        <p:nvSpPr>
          <p:cNvPr id="11" name="Text 9"/>
          <p:cNvSpPr/>
          <p:nvPr/>
        </p:nvSpPr>
        <p:spPr>
          <a:xfrm>
            <a:off x="2450592" y="722376"/>
            <a:ext cx="2029968" cy="475488"/>
          </a:xfrm>
          <a:prstGeom prst="rect">
            <a:avLst/>
          </a:prstGeom>
          <a:noFill/>
          <a:ln/>
        </p:spPr>
        <p:txBody>
          <a:bodyPr wrap="square" rtlCol="0" anchor="ctr"/>
          <a:lstStyle/>
          <a:p>
            <a:pPr algn="ctr" indent="0" marL="0">
              <a:buNone/>
            </a:pPr>
            <a:r>
              <a:rPr lang="en-US" sz="2700" b="1" dirty="0">
                <a:solidFill>
                  <a:srgbClr val="E65100"/>
                </a:solidFill>
                <a:latin typeface="Calibri" pitchFamily="34" charset="0"/>
                <a:ea typeface="Calibri" pitchFamily="34" charset="-122"/>
                <a:cs typeface="Calibri" pitchFamily="34" charset="-120"/>
              </a:rPr>
              <a:t>123</a:t>
            </a:r>
            <a:endParaRPr lang="en-US" sz="2700" dirty="0"/>
          </a:p>
        </p:txBody>
      </p:sp>
      <p:sp>
        <p:nvSpPr>
          <p:cNvPr id="12" name="Text 10"/>
          <p:cNvSpPr/>
          <p:nvPr/>
        </p:nvSpPr>
        <p:spPr>
          <a:xfrm>
            <a:off x="2450592" y="1161288"/>
            <a:ext cx="2029968" cy="201168"/>
          </a:xfrm>
          <a:prstGeom prst="rect">
            <a:avLst/>
          </a:prstGeom>
          <a:noFill/>
          <a:ln/>
        </p:spPr>
        <p:txBody>
          <a:bodyPr wrap="square" rtlCol="0" anchor="ctr"/>
          <a:lstStyle/>
          <a:p>
            <a:pPr algn="ctr" indent="0" marL="0">
              <a:buNone/>
            </a:pPr>
            <a:r>
              <a:rPr lang="en-US" sz="900" i="1" dirty="0">
                <a:solidFill>
                  <a:srgbClr val="E65100"/>
                </a:solidFill>
                <a:latin typeface="Calibri" pitchFamily="34" charset="0"/>
                <a:ea typeface="Calibri" pitchFamily="34" charset="-122"/>
                <a:cs typeface="Calibri" pitchFamily="34" charset="-120"/>
              </a:rPr>
              <a:t>10% of 2025</a:t>
            </a:r>
            <a:endParaRPr lang="en-US" sz="900" dirty="0"/>
          </a:p>
        </p:txBody>
      </p:sp>
      <p:sp>
        <p:nvSpPr>
          <p:cNvPr id="13" name="Text 11"/>
          <p:cNvSpPr/>
          <p:nvPr/>
        </p:nvSpPr>
        <p:spPr>
          <a:xfrm>
            <a:off x="2450592" y="1344168"/>
            <a:ext cx="2029968" cy="201168"/>
          </a:xfrm>
          <a:prstGeom prst="rect">
            <a:avLst/>
          </a:prstGeom>
          <a:noFill/>
          <a:ln/>
        </p:spPr>
        <p:txBody>
          <a:bodyPr wrap="square" rtlCol="0" anchor="ctr"/>
          <a:lstStyle/>
          <a:p>
            <a:pPr algn="ctr" indent="0" marL="0">
              <a:buNone/>
            </a:pPr>
            <a:r>
              <a:rPr lang="en-US" sz="1000" b="1" dirty="0">
                <a:solidFill>
                  <a:srgbClr val="E65100"/>
                </a:solidFill>
                <a:latin typeface="Calibri" pitchFamily="34" charset="0"/>
                <a:ea typeface="Calibri" pitchFamily="34" charset="-122"/>
                <a:cs typeface="Calibri" pitchFamily="34" charset="-120"/>
              </a:rPr>
              <a:t>Shifted</a:t>
            </a:r>
            <a:endParaRPr lang="en-US" sz="1000" dirty="0"/>
          </a:p>
        </p:txBody>
      </p:sp>
      <p:sp>
        <p:nvSpPr>
          <p:cNvPr id="14" name="Text 12"/>
          <p:cNvSpPr/>
          <p:nvPr/>
        </p:nvSpPr>
        <p:spPr>
          <a:xfrm>
            <a:off x="2450592"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diff month</a:t>
            </a:r>
            <a:endParaRPr lang="en-US" sz="850" dirty="0"/>
          </a:p>
        </p:txBody>
      </p:sp>
      <p:sp>
        <p:nvSpPr>
          <p:cNvPr id="15" name="Shape 13"/>
          <p:cNvSpPr/>
          <p:nvPr/>
        </p:nvSpPr>
        <p:spPr>
          <a:xfrm>
            <a:off x="4626864" y="694944"/>
            <a:ext cx="2029968" cy="1152144"/>
          </a:xfrm>
          <a:prstGeom prst="rect">
            <a:avLst/>
          </a:prstGeom>
          <a:solidFill>
            <a:srgbClr val="FFCDD2"/>
          </a:solidFill>
          <a:ln w="12700">
            <a:solidFill>
              <a:srgbClr val="C62828"/>
            </a:solidFill>
            <a:prstDash val="solid"/>
          </a:ln>
        </p:spPr>
      </p:sp>
      <p:sp>
        <p:nvSpPr>
          <p:cNvPr id="16" name="Text 14"/>
          <p:cNvSpPr/>
          <p:nvPr/>
        </p:nvSpPr>
        <p:spPr>
          <a:xfrm>
            <a:off x="4626864" y="722376"/>
            <a:ext cx="2029968" cy="475488"/>
          </a:xfrm>
          <a:prstGeom prst="rect">
            <a:avLst/>
          </a:prstGeom>
          <a:noFill/>
          <a:ln/>
        </p:spPr>
        <p:txBody>
          <a:bodyPr wrap="square" rtlCol="0" anchor="ctr"/>
          <a:lstStyle/>
          <a:p>
            <a:pPr algn="ctr" indent="0" marL="0">
              <a:buNone/>
            </a:pPr>
            <a:r>
              <a:rPr lang="en-US" sz="2700" b="1" dirty="0">
                <a:solidFill>
                  <a:srgbClr val="C62828"/>
                </a:solidFill>
                <a:latin typeface="Calibri" pitchFamily="34" charset="0"/>
                <a:ea typeface="Calibri" pitchFamily="34" charset="-122"/>
                <a:cs typeface="Calibri" pitchFamily="34" charset="-120"/>
              </a:rPr>
              <a:t>296</a:t>
            </a:r>
            <a:endParaRPr lang="en-US" sz="2700" dirty="0"/>
          </a:p>
        </p:txBody>
      </p:sp>
      <p:sp>
        <p:nvSpPr>
          <p:cNvPr id="17" name="Text 15"/>
          <p:cNvSpPr/>
          <p:nvPr/>
        </p:nvSpPr>
        <p:spPr>
          <a:xfrm>
            <a:off x="4626864" y="1161288"/>
            <a:ext cx="2029968" cy="201168"/>
          </a:xfrm>
          <a:prstGeom prst="rect">
            <a:avLst/>
          </a:prstGeom>
          <a:noFill/>
          <a:ln/>
        </p:spPr>
        <p:txBody>
          <a:bodyPr wrap="square" rtlCol="0" anchor="ctr"/>
          <a:lstStyle/>
          <a:p>
            <a:pPr algn="ctr" indent="0" marL="0">
              <a:buNone/>
            </a:pPr>
            <a:r>
              <a:rPr lang="en-US" sz="900" i="1" dirty="0">
                <a:solidFill>
                  <a:srgbClr val="C62828"/>
                </a:solidFill>
                <a:latin typeface="Calibri" pitchFamily="34" charset="0"/>
                <a:ea typeface="Calibri" pitchFamily="34" charset="-122"/>
                <a:cs typeface="Calibri" pitchFamily="34" charset="-120"/>
              </a:rPr>
              <a:t>25% of 2025</a:t>
            </a:r>
            <a:endParaRPr lang="en-US" sz="900" dirty="0"/>
          </a:p>
        </p:txBody>
      </p:sp>
      <p:sp>
        <p:nvSpPr>
          <p:cNvPr id="18" name="Text 16"/>
          <p:cNvSpPr/>
          <p:nvPr/>
        </p:nvSpPr>
        <p:spPr>
          <a:xfrm>
            <a:off x="4626864" y="1344168"/>
            <a:ext cx="2029968" cy="2011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Lost</a:t>
            </a:r>
            <a:endParaRPr lang="en-US" sz="1000" dirty="0"/>
          </a:p>
        </p:txBody>
      </p:sp>
      <p:sp>
        <p:nvSpPr>
          <p:cNvPr id="19" name="Text 17"/>
          <p:cNvSpPr/>
          <p:nvPr/>
        </p:nvSpPr>
        <p:spPr>
          <a:xfrm>
            <a:off x="4626864"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Did not return to 2026</a:t>
            </a:r>
            <a:endParaRPr lang="en-US" sz="850" dirty="0"/>
          </a:p>
        </p:txBody>
      </p:sp>
      <p:sp>
        <p:nvSpPr>
          <p:cNvPr id="20" name="Shape 18"/>
          <p:cNvSpPr/>
          <p:nvPr/>
        </p:nvSpPr>
        <p:spPr>
          <a:xfrm>
            <a:off x="6803136" y="694944"/>
            <a:ext cx="2029968" cy="1152144"/>
          </a:xfrm>
          <a:prstGeom prst="rect">
            <a:avLst/>
          </a:prstGeom>
          <a:solidFill>
            <a:srgbClr val="E3F2FD"/>
          </a:solidFill>
          <a:ln w="12700">
            <a:solidFill>
              <a:srgbClr val="1565C0"/>
            </a:solidFill>
            <a:prstDash val="solid"/>
          </a:ln>
        </p:spPr>
      </p:sp>
      <p:sp>
        <p:nvSpPr>
          <p:cNvPr id="21" name="Text 19"/>
          <p:cNvSpPr/>
          <p:nvPr/>
        </p:nvSpPr>
        <p:spPr>
          <a:xfrm>
            <a:off x="6803136" y="722376"/>
            <a:ext cx="2029968" cy="475488"/>
          </a:xfrm>
          <a:prstGeom prst="rect">
            <a:avLst/>
          </a:prstGeom>
          <a:noFill/>
          <a:ln/>
        </p:spPr>
        <p:txBody>
          <a:bodyPr wrap="square" rtlCol="0" anchor="ctr"/>
          <a:lstStyle/>
          <a:p>
            <a:pPr algn="ctr" indent="0" marL="0">
              <a:buNone/>
            </a:pPr>
            <a:r>
              <a:rPr lang="en-US" sz="2700" b="1" dirty="0">
                <a:solidFill>
                  <a:srgbClr val="1565C0"/>
                </a:solidFill>
                <a:latin typeface="Calibri" pitchFamily="34" charset="0"/>
                <a:ea typeface="Calibri" pitchFamily="34" charset="-122"/>
                <a:cs typeface="Calibri" pitchFamily="34" charset="-120"/>
              </a:rPr>
              <a:t>265</a:t>
            </a:r>
            <a:endParaRPr lang="en-US" sz="2700" dirty="0"/>
          </a:p>
        </p:txBody>
      </p:sp>
      <p:sp>
        <p:nvSpPr>
          <p:cNvPr id="22" name="Text 20"/>
          <p:cNvSpPr/>
          <p:nvPr/>
        </p:nvSpPr>
        <p:spPr>
          <a:xfrm>
            <a:off x="6803136" y="1161288"/>
            <a:ext cx="2029968" cy="201168"/>
          </a:xfrm>
          <a:prstGeom prst="rect">
            <a:avLst/>
          </a:prstGeom>
          <a:noFill/>
          <a:ln/>
        </p:spPr>
        <p:txBody>
          <a:bodyPr wrap="square" rtlCol="0" anchor="ctr"/>
          <a:lstStyle/>
          <a:p>
            <a:pPr algn="ctr" indent="0" marL="0">
              <a:buNone/>
            </a:pPr>
            <a:r>
              <a:rPr lang="en-US" sz="900" i="1" dirty="0">
                <a:solidFill>
                  <a:srgbClr val="1565C0"/>
                </a:solidFill>
                <a:latin typeface="Calibri" pitchFamily="34" charset="0"/>
                <a:ea typeface="Calibri" pitchFamily="34" charset="-122"/>
                <a:cs typeface="Calibri" pitchFamily="34" charset="-120"/>
              </a:rPr>
              <a:t>22% of 2025</a:t>
            </a:r>
            <a:endParaRPr lang="en-US" sz="900" dirty="0"/>
          </a:p>
        </p:txBody>
      </p:sp>
      <p:sp>
        <p:nvSpPr>
          <p:cNvPr id="23" name="Text 21"/>
          <p:cNvSpPr/>
          <p:nvPr/>
        </p:nvSpPr>
        <p:spPr>
          <a:xfrm>
            <a:off x="6803136" y="1344168"/>
            <a:ext cx="2029968" cy="201168"/>
          </a:xfrm>
          <a:prstGeom prst="rect">
            <a:avLst/>
          </a:prstGeom>
          <a:noFill/>
          <a:ln/>
        </p:spPr>
        <p:txBody>
          <a:bodyPr wrap="square" rtlCol="0" anchor="ctr"/>
          <a:lstStyle/>
          <a:p>
            <a:pPr algn="ctr" indent="0" marL="0">
              <a:buNone/>
            </a:pPr>
            <a:r>
              <a:rPr lang="en-US" sz="1000" b="1" dirty="0">
                <a:solidFill>
                  <a:srgbClr val="1565C0"/>
                </a:solidFill>
                <a:latin typeface="Calibri" pitchFamily="34" charset="0"/>
                <a:ea typeface="Calibri" pitchFamily="34" charset="-122"/>
                <a:cs typeface="Calibri" pitchFamily="34" charset="-120"/>
              </a:rPr>
              <a:t>New</a:t>
            </a:r>
            <a:endParaRPr lang="en-US" sz="1000" dirty="0"/>
          </a:p>
        </p:txBody>
      </p:sp>
      <p:sp>
        <p:nvSpPr>
          <p:cNvPr id="24" name="Text 22"/>
          <p:cNvSpPr/>
          <p:nvPr/>
        </p:nvSpPr>
        <p:spPr>
          <a:xfrm>
            <a:off x="6803136"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Brand new to 2026</a:t>
            </a:r>
            <a:endParaRPr lang="en-US" sz="850" dirty="0"/>
          </a:p>
        </p:txBody>
      </p:sp>
      <p:sp>
        <p:nvSpPr>
          <p:cNvPr id="25" name="Text 23"/>
          <p:cNvSpPr/>
          <p:nvPr/>
        </p:nvSpPr>
        <p:spPr>
          <a:xfrm>
            <a:off x="274320" y="1920240"/>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Replacement Rates -- selected months: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194560"/>
          <a:ext cx="8595360" cy="1261872"/>
        </p:xfrm>
        <a:graphic>
          <a:graphicData uri="http://schemas.openxmlformats.org/drawingml/2006/table">
            <a:tbl>
              <a:tblPr/>
              <a:tblGrid>
                <a:gridCol w="955040"/>
                <a:gridCol w="955040"/>
                <a:gridCol w="955040"/>
                <a:gridCol w="955040"/>
                <a:gridCol w="955040"/>
                <a:gridCol w="955040"/>
                <a:gridCol w="955040"/>
                <a:gridCol w="955040"/>
                <a:gridCol w="955040"/>
              </a:tblGrid>
              <a:tr h="347472">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Events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Retained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Out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5100"/>
                    </a:solidFill>
                  </a:tcPr>
                </a:tc>
                <a:tc>
                  <a:txBody>
                    <a:bodyPr/>
                    <a:lstStyle/>
                    <a:p>
                      <a:pPr algn="ctr" indent="0" marL="0">
                        <a:buNone/>
                      </a:pPr>
                      <a:r>
                        <a:rPr lang="en-US" sz="1000" b="1" dirty="0">
                          <a:solidFill>
                            <a:srgbClr val="FFFFFF"/>
                          </a:solidFill>
                        </a:rPr>
                        <a:t>Lost</a:t>
                      </a:r>
                      <a:endParaRPr lang="en-US" sz="1000" dirty="0"/>
                    </a:p>
                    <a:p>
                      <a:pPr algn="ctr" indent="0" marL="0">
                        <a:buNone/>
                      </a:pPr>
                      <a:r>
                        <a:rPr lang="en-US" sz="1000" b="1" dirty="0">
                          <a:solidFill>
                            <a:srgbClr val="FFFFFF"/>
                          </a:solidFill>
                        </a:rPr>
                        <a:t>(truly lost)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In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New</a:t>
                      </a:r>
                      <a:endParaRPr lang="en-US" sz="1000" dirty="0"/>
                    </a:p>
                    <a:p>
                      <a:pPr algn="ctr" indent="0" marL="0">
                        <a:buNone/>
                      </a:pPr>
                      <a:r>
                        <a:rPr lang="en-US" sz="1000" b="1" dirty="0">
                          <a:solidFill>
                            <a:srgbClr val="FFFFFF"/>
                          </a:solidFill>
                        </a:rPr>
                        <a:t>Added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Repl.</a:t>
                      </a:r>
                      <a:endParaRPr lang="en-US" sz="1000" dirty="0"/>
                    </a:p>
                    <a:p>
                      <a:pPr algn="ctr" indent="0" marL="0">
                        <a:buNone/>
                      </a:pPr>
                      <a:r>
                        <a:rPr lang="en-US" sz="1000" b="1" dirty="0">
                          <a:solidFill>
                            <a:srgbClr val="FFFFFF"/>
                          </a:solidFill>
                        </a:rPr>
                        <a:t>Rate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347472">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1E7D34"/>
                          </a:solidFill>
                        </a:rPr>
                        <a:t>October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14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&gt;100%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27" name="Shape 24"/>
          <p:cNvSpPr/>
          <p:nvPr/>
        </p:nvSpPr>
        <p:spPr>
          <a:xfrm>
            <a:off x="274320" y="3547872"/>
            <a:ext cx="4160520" cy="548640"/>
          </a:xfrm>
          <a:prstGeom prst="rect">
            <a:avLst/>
          </a:prstGeom>
          <a:solidFill>
            <a:srgbClr val="F3E5F5"/>
          </a:solidFill>
          <a:ln w="12700">
            <a:solidFill>
              <a:srgbClr val="6A1B9A"/>
            </a:solidFill>
            <a:prstDash val="solid"/>
          </a:ln>
        </p:spPr>
      </p:sp>
      <p:sp>
        <p:nvSpPr>
          <p:cNvPr id="28" name="Text 25"/>
          <p:cNvSpPr/>
          <p:nvPr/>
        </p:nvSpPr>
        <p:spPr>
          <a:xfrm>
            <a:off x="384048" y="3566160"/>
            <a:ext cx="3931920" cy="512064"/>
          </a:xfrm>
          <a:prstGeom prst="rect">
            <a:avLst/>
          </a:prstGeom>
          <a:noFill/>
          <a:ln/>
        </p:spPr>
        <p:txBody>
          <a:bodyPr wrap="square" rtlCol="0" anchor="ctr"/>
          <a:lstStyle/>
          <a:p>
            <a:pPr indent="0" marL="0">
              <a:buNone/>
            </a:pPr>
            <a:r>
              <a:rPr lang="en-US" sz="950" dirty="0">
                <a:solidFill>
                  <a:srgbClr val="6A1B9A"/>
                </a:solidFill>
                <a:latin typeface="Calibri" pitchFamily="34" charset="0"/>
                <a:ea typeface="Calibri" pitchFamily="34" charset="-122"/>
                <a:cs typeface="Calibri" pitchFamily="34" charset="-120"/>
              </a:rPr>
              <a:t>13 events Tried to Return -- filed a 2026 application but were cancelled/declined. 31 events Recovered -- cancelled in 2025 but came back in 2026.</a:t>
            </a:r>
            <a:endParaRPr lang="en-US" sz="950" dirty="0"/>
          </a:p>
        </p:txBody>
      </p:sp>
      <p:sp>
        <p:nvSpPr>
          <p:cNvPr id="29" name="Shape 26"/>
          <p:cNvSpPr/>
          <p:nvPr/>
        </p:nvSpPr>
        <p:spPr>
          <a:xfrm>
            <a:off x="4617720" y="3547872"/>
            <a:ext cx="4251960" cy="548640"/>
          </a:xfrm>
          <a:prstGeom prst="rect">
            <a:avLst/>
          </a:prstGeom>
          <a:solidFill>
            <a:srgbClr val="ECEFF1"/>
          </a:solidFill>
          <a:ln w="12700">
            <a:solidFill>
              <a:srgbClr val="555555"/>
            </a:solidFill>
            <a:prstDash val="solid"/>
          </a:ln>
        </p:spPr>
      </p:sp>
      <p:sp>
        <p:nvSpPr>
          <p:cNvPr id="30" name="Text 27"/>
          <p:cNvSpPr/>
          <p:nvPr/>
        </p:nvSpPr>
        <p:spPr>
          <a:xfrm>
            <a:off x="4727448" y="3566160"/>
            <a:ext cx="4023360" cy="512064"/>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Overall replacement: 296 new/recovered vs 296 truly lost -- 100% gross replacement.</a:t>
            </a:r>
            <a:endParaRPr lang="en-US" sz="950" dirty="0"/>
          </a:p>
        </p:txBody>
      </p:sp>
      <p:sp>
        <p:nvSpPr>
          <p:cNvPr id="31" name="Shape 28"/>
          <p:cNvSpPr/>
          <p:nvPr/>
        </p:nvSpPr>
        <p:spPr>
          <a:xfrm>
            <a:off x="274320" y="4206240"/>
            <a:ext cx="8595360" cy="594360"/>
          </a:xfrm>
          <a:prstGeom prst="rect">
            <a:avLst/>
          </a:prstGeom>
          <a:solidFill>
            <a:srgbClr val="ECEFF1"/>
          </a:solidFill>
          <a:ln w="12700">
            <a:solidFill>
              <a:srgbClr val="CCCCCC"/>
            </a:solidFill>
            <a:prstDash val="solid"/>
          </a:ln>
        </p:spPr>
      </p:sp>
      <p:sp>
        <p:nvSpPr>
          <p:cNvPr id="32" name="Text 29"/>
          <p:cNvSpPr/>
          <p:nvPr/>
        </p:nvSpPr>
        <p:spPr>
          <a:xfrm>
            <a:off x="384048" y="4233672"/>
            <a:ext cx="8321040" cy="53949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We retained 746 core events but lost 296 to attrition, partially offset by 265 new entries and 31 recoveries. At 100% replacement rate, we're treading water, not moving forward.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5E20"/>
          </a:solidFill>
          <a:ln w="12700">
            <a:solidFill>
              <a:srgbClr val="1B5E20"/>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5  —  Application Pipeline -- Who Is Filing and When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7 / 8</a:t>
            </a:r>
            <a:endParaRPr lang="en-US" sz="900" dirty="0"/>
          </a:p>
        </p:txBody>
      </p:sp>
      <p:sp>
        <p:nvSpPr>
          <p:cNvPr id="5" name="Text 3"/>
          <p:cNvSpPr/>
          <p:nvPr/>
        </p:nvSpPr>
        <p:spPr>
          <a:xfrm>
            <a:off x="274320" y="694944"/>
            <a:ext cx="8595360" cy="219456"/>
          </a:xfrm>
          <a:prstGeom prst="rect">
            <a:avLst/>
          </a:prstGeom>
          <a:noFill/>
          <a:ln/>
        </p:spPr>
        <p:txBody>
          <a:bodyPr wrap="square"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Total applications: 1,271 for 2025 vs 1,188 for 2026. The story is in WHEN and WHICH type is filing:</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50976"/>
          <a:ext cx="8595360" cy="1591056"/>
        </p:xfrm>
        <a:graphic>
          <a:graphicData uri="http://schemas.openxmlformats.org/drawingml/2006/table">
            <a:tbl>
              <a:tblPr/>
              <a:tblGrid>
                <a:gridCol w="955040"/>
                <a:gridCol w="955040"/>
                <a:gridCol w="955040"/>
                <a:gridCol w="955040"/>
                <a:gridCol w="955040"/>
                <a:gridCol w="955040"/>
                <a:gridCol w="955040"/>
                <a:gridCol w="955040"/>
                <a:gridCol w="955040"/>
              </a:tblGrid>
              <a:tr h="256032">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2024</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2025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2025</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2026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Q4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Delta</a:t>
                      </a:r>
                      <a:endParaRPr lang="en-US" sz="1000" dirty="0"/>
                    </a:p>
                    <a:p>
                      <a:pPr algn="ctr" indent="0" marL="0">
                        <a:buNone/>
                      </a:pPr>
                      <a:r>
                        <a:rPr lang="en-US" sz="1000" b="1" dirty="0">
                          <a:solidFill>
                            <a:srgbClr val="FFFFFF"/>
                          </a:solidFill>
                        </a:rPr>
                        <a:t>Jan-May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56032">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186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94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73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112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87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596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1,271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7" name="Text 4"/>
          <p:cNvSpPr/>
          <p:nvPr/>
        </p:nvSpPr>
        <p:spPr>
          <a:xfrm>
            <a:off x="274320" y="2633472"/>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Highest-Probability Opportunities — May through December 2026:</a:t>
            </a:r>
            <a:endParaRPr lang="en-US" sz="1050" dirty="0"/>
          </a:p>
        </p:txBody>
      </p:sp>
      <p:sp>
        <p:nvSpPr>
          <p:cNvPr id="8" name="Shape 5"/>
          <p:cNvSpPr/>
          <p:nvPr/>
        </p:nvSpPr>
        <p:spPr>
          <a:xfrm>
            <a:off x="274320" y="2907792"/>
            <a:ext cx="4160520" cy="914400"/>
          </a:xfrm>
          <a:prstGeom prst="rect">
            <a:avLst/>
          </a:prstGeom>
          <a:solidFill>
            <a:srgbClr val="FDECEA"/>
          </a:solidFill>
          <a:ln w="12700">
            <a:solidFill>
              <a:srgbClr val="C62828"/>
            </a:solidFill>
            <a:prstDash val="solid"/>
          </a:ln>
        </p:spPr>
      </p:sp>
      <p:sp>
        <p:nvSpPr>
          <p:cNvPr id="9" name="Text 6"/>
          <p:cNvSpPr/>
          <p:nvPr/>
        </p:nvSpPr>
        <p:spPr>
          <a:xfrm>
            <a:off x="384048" y="2944368"/>
            <a:ext cx="3931920" cy="84124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 Highest ROI Opportunity
</a:t>
            </a:r>
            <a:pPr indent="0" marL="0">
              <a:buNone/>
            </a:pPr>
            <a:r>
              <a:rPr lang="en-US" sz="950" dirty="0">
                <a:solidFill>
                  <a:srgbClr val="C62828"/>
                </a:solidFill>
                <a:latin typeface="Calibri" pitchFamily="34" charset="0"/>
                <a:ea typeface="Calibri" pitchFamily="34" charset="-122"/>
                <a:cs typeface="Calibri" pitchFamily="34" charset="-120"/>
              </a:rPr>
              <a:t>Adult Clinic is the structural decliner (−11.0 organic). Proactive outreach in the spontaneous-filing window can close part of the gap.</a:t>
            </a:r>
            <a:endParaRPr lang="en-US" sz="950" dirty="0"/>
          </a:p>
        </p:txBody>
      </p:sp>
      <p:sp>
        <p:nvSpPr>
          <p:cNvPr id="10" name="Shape 7"/>
          <p:cNvSpPr/>
          <p:nvPr/>
        </p:nvSpPr>
        <p:spPr>
          <a:xfrm>
            <a:off x="4617720" y="2907792"/>
            <a:ext cx="4251960" cy="914400"/>
          </a:xfrm>
          <a:prstGeom prst="rect">
            <a:avLst/>
          </a:prstGeom>
          <a:solidFill>
            <a:srgbClr val="E8F5E9"/>
          </a:solidFill>
          <a:ln w="12700">
            <a:solidFill>
              <a:srgbClr val="1E7D34"/>
            </a:solidFill>
            <a:prstDash val="solid"/>
          </a:ln>
        </p:spPr>
      </p:sp>
      <p:sp>
        <p:nvSpPr>
          <p:cNvPr id="11" name="Text 8"/>
          <p:cNvSpPr/>
          <p:nvPr/>
        </p:nvSpPr>
        <p:spPr>
          <a:xfrm>
            <a:off x="4727448" y="2944368"/>
            <a:ext cx="4023360" cy="841248"/>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 Reinforce
</a:t>
            </a:r>
            <a:pPr indent="0" marL="0">
              <a:buNone/>
            </a:pPr>
            <a:r>
              <a:rPr lang="en-US" sz="950" dirty="0">
                <a:solidFill>
                  <a:srgbClr val="1E7D34"/>
                </a:solidFill>
                <a:latin typeface="Calibri" pitchFamily="34" charset="0"/>
                <a:ea typeface="Calibri" pitchFamily="34" charset="-122"/>
                <a:cs typeface="Calibri" pitchFamily="34" charset="-120"/>
              </a:rPr>
              <a:t>Youth Clinic is the organic leader (+5.6 organic, +19.4%). Fast-track approvals so momentum is not lost.</a:t>
            </a:r>
            <a:endParaRPr lang="en-US" sz="950" dirty="0"/>
          </a:p>
        </p:txBody>
      </p:sp>
      <p:sp>
        <p:nvSpPr>
          <p:cNvPr id="12" name="Shape 9"/>
          <p:cNvSpPr/>
          <p:nvPr/>
        </p:nvSpPr>
        <p:spPr>
          <a:xfrm>
            <a:off x="274320" y="3913632"/>
            <a:ext cx="4160520" cy="457200"/>
          </a:xfrm>
          <a:prstGeom prst="rect">
            <a:avLst/>
          </a:prstGeom>
          <a:solidFill>
            <a:srgbClr val="FFCDD2"/>
          </a:solidFill>
          <a:ln w="12700">
            <a:solidFill>
              <a:srgbClr val="C62828"/>
            </a:solidFill>
            <a:prstDash val="solid"/>
          </a:ln>
        </p:spPr>
      </p:sp>
      <p:sp>
        <p:nvSpPr>
          <p:cNvPr id="13" name="Text 10"/>
          <p:cNvSpPr/>
          <p:nvPr/>
        </p:nvSpPr>
        <p:spPr>
          <a:xfrm>
            <a:off x="384048" y="3931920"/>
            <a:ext cx="3931920" cy="420624"/>
          </a:xfrm>
          <a:prstGeom prst="rect">
            <a:avLst/>
          </a:prstGeom>
          <a:noFill/>
          <a:ln/>
        </p:spPr>
        <p:txBody>
          <a:bodyPr wrap="square" rtlCol="0" anchor="ctr"/>
          <a:lstStyle/>
          <a:p>
            <a:pPr indent="0" marL="0">
              <a:buNone/>
            </a:pPr>
            <a:r>
              <a:rPr lang="en-US" sz="900" dirty="0">
                <a:solidFill>
                  <a:srgbClr val="C62828"/>
                </a:solidFill>
                <a:latin typeface="Calibri" pitchFamily="34" charset="0"/>
                <a:ea typeface="Calibri" pitchFamily="34" charset="-122"/>
                <a:cs typeface="Calibri" pitchFamily="34" charset="-120"/>
              </a:rPr>
              <a:t>Adult Clinic action: target organizers in the spontaneous-filing window. Low effort, high impact.</a:t>
            </a:r>
            <a:endParaRPr lang="en-US" sz="900" dirty="0"/>
          </a:p>
        </p:txBody>
      </p:sp>
      <p:sp>
        <p:nvSpPr>
          <p:cNvPr id="14" name="Shape 11"/>
          <p:cNvSpPr/>
          <p:nvPr/>
        </p:nvSpPr>
        <p:spPr>
          <a:xfrm>
            <a:off x="4617720" y="3913632"/>
            <a:ext cx="4251960" cy="457200"/>
          </a:xfrm>
          <a:prstGeom prst="rect">
            <a:avLst/>
          </a:prstGeom>
          <a:solidFill>
            <a:srgbClr val="E3F2FD"/>
          </a:solidFill>
          <a:ln w="12700">
            <a:solidFill>
              <a:srgbClr val="1565C0"/>
            </a:solidFill>
            <a:prstDash val="solid"/>
          </a:ln>
        </p:spPr>
      </p:sp>
      <p:sp>
        <p:nvSpPr>
          <p:cNvPr id="15" name="Text 12"/>
          <p:cNvSpPr/>
          <p:nvPr/>
        </p:nvSpPr>
        <p:spPr>
          <a:xfrm>
            <a:off x="4727448" y="3931920"/>
            <a:ext cx="4023360" cy="420624"/>
          </a:xfrm>
          <a:prstGeom prst="rect">
            <a:avLst/>
          </a:prstGeom>
          <a:noFill/>
          <a:ln/>
        </p:spPr>
        <p:txBody>
          <a:bodyPr wrap="square" rtlCol="0" anchor="ctr"/>
          <a:lstStyle/>
          <a:p>
            <a:pPr indent="0" marL="0">
              <a:buNone/>
            </a:pPr>
            <a:r>
              <a:rPr lang="en-US" sz="900" dirty="0">
                <a:solidFill>
                  <a:srgbClr val="1565C0"/>
                </a:solidFill>
                <a:latin typeface="Calibri" pitchFamily="34" charset="0"/>
                <a:ea typeface="Calibri" pitchFamily="34" charset="-122"/>
                <a:cs typeface="Calibri" pitchFamily="34" charset="-120"/>
              </a:rPr>
              <a:t>Overall pipeline is +7% (+24 in-yr apps) vs 2025 pace through May.</a:t>
            </a:r>
            <a:endParaRPr lang="en-US" sz="900" dirty="0"/>
          </a:p>
        </p:txBody>
      </p:sp>
      <p:sp>
        <p:nvSpPr>
          <p:cNvPr id="16" name="Shape 13"/>
          <p:cNvSpPr/>
          <p:nvPr/>
        </p:nvSpPr>
        <p:spPr>
          <a:xfrm>
            <a:off x="274320" y="4480560"/>
            <a:ext cx="8595360" cy="420624"/>
          </a:xfrm>
          <a:prstGeom prst="rect">
            <a:avLst/>
          </a:prstGeom>
          <a:solidFill>
            <a:srgbClr val="ECEFF1"/>
          </a:solidFill>
          <a:ln w="12700">
            <a:solidFill>
              <a:srgbClr val="CCCCCC"/>
            </a:solidFill>
            <a:prstDash val="solid"/>
          </a:ln>
        </p:spPr>
      </p:sp>
      <p:sp>
        <p:nvSpPr>
          <p:cNvPr id="17" name="Text 14"/>
          <p:cNvSpPr/>
          <p:nvPr/>
        </p:nvSpPr>
        <p:spPr>
          <a:xfrm>
            <a:off x="384048" y="4507992"/>
            <a:ext cx="8321040" cy="38404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The 123 shifted events and 265 newcomers show venue/organizer shuffling, not market expansion. Without organic acceleration, we're rearranging deck chairs on a sinking ship.</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62828"/>
          </a:solidFill>
          <a:ln w="12700">
            <a:solidFill>
              <a:srgbClr val="C62828"/>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6  —  July and August: Organic Churn and the Win-Back Opportunity</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8 / 8</a:t>
            </a:r>
            <a:endParaRPr lang="en-US" sz="900" dirty="0"/>
          </a:p>
        </p:txBody>
      </p:sp>
      <p:sp>
        <p:nvSpPr>
          <p:cNvPr id="5" name="Text 3"/>
          <p:cNvSpPr/>
          <p:nvPr/>
        </p:nvSpPr>
        <p:spPr>
          <a:xfrm>
            <a:off x="274320" y="694944"/>
            <a:ext cx="8595360" cy="18288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Replacement is partial — the volume of churn is the problem more than the rate. The actionable target is August.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4160520" cy="1335024"/>
        </p:xfrm>
        <a:graphic>
          <a:graphicData uri="http://schemas.openxmlformats.org/drawingml/2006/table">
            <a:tbl>
              <a:tblPr/>
              <a:tblGrid>
                <a:gridCol w="1386840"/>
                <a:gridCol w="1386840"/>
                <a:gridCol w="1386840"/>
              </a:tblGrid>
              <a:tr h="210312">
                <a:tc>
                  <a:txBody>
                    <a:bodyPr/>
                    <a:lstStyle/>
                    <a:p>
                      <a:pPr algn="ctr" indent="0" marL="0">
                        <a:buNone/>
                      </a:pPr>
                      <a:r>
                        <a:rPr lang="en-US" sz="950" b="1" dirty="0">
                          <a:solidFill>
                            <a:srgbClr val="FFFFFF"/>
                          </a:solidFill>
                        </a:rPr>
                        <a:t>July</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322576"/>
            <a:ext cx="4160520" cy="329184"/>
          </a:xfrm>
          <a:prstGeom prst="rect">
            <a:avLst/>
          </a:prstGeom>
          <a:solidFill>
            <a:srgbClr val="37474F"/>
          </a:solidFill>
          <a:ln w="12700">
            <a:solidFill>
              <a:srgbClr val="37474F"/>
            </a:solidFill>
            <a:prstDash val="solid"/>
          </a:ln>
        </p:spPr>
      </p:sp>
      <p:sp>
        <p:nvSpPr>
          <p:cNvPr id="8" name="Text 5"/>
          <p:cNvSpPr/>
          <p:nvPr/>
        </p:nvSpPr>
        <p:spPr>
          <a:xfrm>
            <a:off x="292608" y="2331720"/>
            <a:ext cx="411480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181 events  -&gt;  2026: 165       Replacement: 38/49 = 78%</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914400"/>
          <a:ext cx="4251960" cy="1335024"/>
        </p:xfrm>
        <a:graphic>
          <a:graphicData uri="http://schemas.openxmlformats.org/drawingml/2006/table">
            <a:tbl>
              <a:tblPr/>
              <a:tblGrid>
                <a:gridCol w="1417320"/>
                <a:gridCol w="1417320"/>
                <a:gridCol w="1417320"/>
              </a:tblGrid>
              <a:tr h="210312">
                <a:tc>
                  <a:txBody>
                    <a:bodyPr/>
                    <a:lstStyle/>
                    <a:p>
                      <a:pPr algn="ctr" indent="0" marL="0">
                        <a:buNone/>
                      </a:pPr>
                      <a:r>
                        <a:rPr lang="en-US" sz="950" b="1" dirty="0">
                          <a:solidFill>
                            <a:srgbClr val="FFFFFF"/>
                          </a:solidFill>
                        </a:rPr>
                        <a:t>August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10" name="Shape 6"/>
          <p:cNvSpPr/>
          <p:nvPr/>
        </p:nvSpPr>
        <p:spPr>
          <a:xfrm>
            <a:off x="4617720" y="2322576"/>
            <a:ext cx="4251960" cy="329184"/>
          </a:xfrm>
          <a:prstGeom prst="rect">
            <a:avLst/>
          </a:prstGeom>
          <a:solidFill>
            <a:srgbClr val="37474F"/>
          </a:solidFill>
          <a:ln w="12700">
            <a:solidFill>
              <a:srgbClr val="37474F"/>
            </a:solidFill>
            <a:prstDash val="solid"/>
          </a:ln>
        </p:spPr>
      </p:sp>
      <p:sp>
        <p:nvSpPr>
          <p:cNvPr id="11" name="Text 7"/>
          <p:cNvSpPr/>
          <p:nvPr/>
        </p:nvSpPr>
        <p:spPr>
          <a:xfrm>
            <a:off x="4636008" y="2331720"/>
            <a:ext cx="420624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220 events  -&gt;  2026: 201       Replacement: 39/56 = 70%</a:t>
            </a:r>
            <a:endParaRPr lang="en-US" sz="900" dirty="0"/>
          </a:p>
        </p:txBody>
      </p:sp>
      <p:sp>
        <p:nvSpPr>
          <p:cNvPr id="12" name="Text 8"/>
          <p:cNvSpPr/>
          <p:nvPr/>
        </p:nvSpPr>
        <p:spPr>
          <a:xfrm>
            <a:off x="274320" y="2724912"/>
            <a:ext cx="8595360" cy="164592"/>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Lost events by type (combined Jul + Aug):</a:t>
            </a:r>
            <a:endParaRPr lang="en-US" sz="10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274320" y="2916936"/>
          <a:ext cx="8595360" cy="621792"/>
        </p:xfrm>
        <a:graphic>
          <a:graphicData uri="http://schemas.openxmlformats.org/drawingml/2006/table">
            <a:tbl>
              <a:tblPr/>
              <a:tblGrid>
                <a:gridCol w="1719072"/>
                <a:gridCol w="1719072"/>
                <a:gridCol w="1719072"/>
                <a:gridCol w="1719072"/>
                <a:gridCol w="1719072"/>
              </a:tblGrid>
              <a:tr h="201168">
                <a:tc>
                  <a:txBody>
                    <a:bodyPr/>
                    <a:lstStyle/>
                    <a:p>
                      <a:pPr algn="ctr" indent="0" marL="0">
                        <a:buNone/>
                      </a:pPr>
                      <a:r>
                        <a:rPr lang="en-US" sz="950" b="1" dirty="0">
                          <a:solidFill>
                            <a:srgbClr val="FFFFFF"/>
                          </a:solidFill>
                        </a:rPr>
                        <a:t>Type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Jul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Aug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Combined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Share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01168">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01168">
                <a:tc>
                  <a:txBody>
                    <a:bodyPr/>
                    <a:lstStyle/>
                    <a:p>
                      <a:pPr algn="l" indent="0" marL="0">
                        <a:buNone/>
                      </a:pPr>
                      <a:r>
                        <a:rPr lang="en-US" sz="1000" b="1"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14" name="Text 9"/>
          <p:cNvSpPr/>
          <p:nvPr/>
        </p:nvSpPr>
        <p:spPr>
          <a:xfrm>
            <a:off x="274320" y="3575304"/>
            <a:ext cx="8595360" cy="137160"/>
          </a:xfrm>
          <a:prstGeom prst="rect">
            <a:avLst/>
          </a:prstGeom>
          <a:noFill/>
          <a:ln/>
        </p:spPr>
        <p:txBody>
          <a:bodyPr wrap="square"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Adult Clinic: 8 lost (8%)  |  Youth Clinic: 4 lost (4%)  --  minor; not material to win-back prioritisation</a:t>
            </a:r>
            <a:endParaRPr lang="en-US" sz="850" dirty="0"/>
          </a:p>
        </p:txBody>
      </p:sp>
      <p:sp>
        <p:nvSpPr>
          <p:cNvPr id="15" name="Shape 10"/>
          <p:cNvSpPr/>
          <p:nvPr/>
        </p:nvSpPr>
        <p:spPr>
          <a:xfrm>
            <a:off x="274320" y="3785616"/>
            <a:ext cx="4160520" cy="713232"/>
          </a:xfrm>
          <a:prstGeom prst="rect">
            <a:avLst/>
          </a:prstGeom>
          <a:solidFill>
            <a:srgbClr val="FFCDD2"/>
          </a:solidFill>
          <a:ln w="12700">
            <a:solidFill>
              <a:srgbClr val="C62828"/>
            </a:solidFill>
            <a:prstDash val="solid"/>
          </a:ln>
        </p:spPr>
      </p:sp>
      <p:sp>
        <p:nvSpPr>
          <p:cNvPr id="16" name="Text 11"/>
          <p:cNvSpPr/>
          <p:nvPr/>
        </p:nvSpPr>
        <p:spPr>
          <a:xfrm>
            <a:off x="384048" y="3813048"/>
            <a:ext cx="3931920" cy="65836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August -- Act Now (2026 Window)
</a:t>
            </a:r>
            <a:pPr indent="0" marL="0">
              <a:buNone/>
            </a:pPr>
            <a:r>
              <a:rPr lang="en-US" sz="950" dirty="0">
                <a:solidFill>
                  <a:srgbClr val="C62828"/>
                </a:solidFill>
                <a:latin typeface="Calibri" pitchFamily="34" charset="0"/>
                <a:ea typeface="Calibri" pitchFamily="34" charset="-122"/>
                <a:cs typeface="Calibri" pitchFamily="34" charset="-120"/>
              </a:rPr>
              <a:t>56 lost in 2025. Reach all known organizers; a 20% win-back recovers ~11 events.</a:t>
            </a:r>
            <a:endParaRPr lang="en-US" sz="1050" dirty="0"/>
          </a:p>
        </p:txBody>
      </p:sp>
      <p:sp>
        <p:nvSpPr>
          <p:cNvPr id="17" name="Shape 12"/>
          <p:cNvSpPr/>
          <p:nvPr/>
        </p:nvSpPr>
        <p:spPr>
          <a:xfrm>
            <a:off x="4617720" y="3785616"/>
            <a:ext cx="4251960" cy="713232"/>
          </a:xfrm>
          <a:prstGeom prst="rect">
            <a:avLst/>
          </a:prstGeom>
          <a:solidFill>
            <a:srgbClr val="E3F2FD"/>
          </a:solidFill>
          <a:ln w="12700">
            <a:solidFill>
              <a:srgbClr val="1565C0"/>
            </a:solidFill>
            <a:prstDash val="solid"/>
          </a:ln>
        </p:spPr>
      </p:sp>
      <p:sp>
        <p:nvSpPr>
          <p:cNvPr id="18" name="Text 13"/>
          <p:cNvSpPr/>
          <p:nvPr/>
        </p:nvSpPr>
        <p:spPr>
          <a:xfrm>
            <a:off x="4727448" y="3813048"/>
            <a:ext cx="4023360" cy="65836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July -- Diagnose for 2027
</a:t>
            </a:r>
            <a:pPr indent="0" marL="0">
              <a:buNone/>
            </a:pPr>
            <a:r>
              <a:rPr lang="en-US" sz="950" dirty="0">
                <a:solidFill>
                  <a:srgbClr val="1565C0"/>
                </a:solidFill>
                <a:latin typeface="Calibri" pitchFamily="34" charset="0"/>
                <a:ea typeface="Calibri" pitchFamily="34" charset="-122"/>
                <a:cs typeface="Calibri" pitchFamily="34" charset="-120"/>
              </a:rPr>
              <a:t>49 lost in 2025. Too late for 2026; outreach to understand WHY is the highest-ROI 2027 planning action.</a:t>
            </a:r>
            <a:endParaRPr lang="en-US" sz="1050" dirty="0"/>
          </a:p>
        </p:txBody>
      </p:sp>
      <p:sp>
        <p:nvSpPr>
          <p:cNvPr id="19" name="Shape 14"/>
          <p:cNvSpPr/>
          <p:nvPr/>
        </p:nvSpPr>
        <p:spPr>
          <a:xfrm>
            <a:off x="274320" y="4590288"/>
            <a:ext cx="8595360" cy="329184"/>
          </a:xfrm>
          <a:prstGeom prst="rect">
            <a:avLst/>
          </a:prstGeom>
          <a:solidFill>
            <a:srgbClr val="ECEFF1"/>
          </a:solidFill>
          <a:ln w="12700">
            <a:solidFill>
              <a:srgbClr val="CCCCCC"/>
            </a:solidFill>
            <a:prstDash val="solid"/>
          </a:ln>
        </p:spPr>
      </p:sp>
      <p:sp>
        <p:nvSpPr>
          <p:cNvPr id="20" name="Text 15"/>
          <p:cNvSpPr/>
          <p:nvPr/>
        </p:nvSpPr>
        <p:spPr>
          <a:xfrm>
            <a:off x="384048" y="4617720"/>
            <a:ext cx="8321040" cy="29260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Only 13 events attempted a return and 31 recovered—a 70% recovery win rate that's promising but undersized. We have 296 lost events to chase; current recovery pipeline is negligible.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Sanctioned Events 2025 vs 2026</dc:title>
  <dc:subject>PptxGenJS Presentation</dc:subject>
  <dc:creator>PptxGenJS</dc:creator>
  <cp:lastModifiedBy>PptxGenJS</cp:lastModifiedBy>
  <cp:revision>1</cp:revision>
  <dcterms:created xsi:type="dcterms:W3CDTF">2026-05-17T14:34:21Z</dcterms:created>
  <dcterms:modified xsi:type="dcterms:W3CDTF">2026-05-17T14:34:21Z</dcterms:modified>
</cp:coreProperties>
</file>