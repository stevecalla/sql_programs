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Title / Overview
Context:
This analysis tracks USAT sanctioned event inventory across 2025 and 2026, decomposing a net 13-event decline (1,178 → 1,165) into calendar effects, organic trends, and disposition patterns. The goal is to identify whether we face a seasonal anomaly, a demand collapse, or a portfolio rebalancing—and what levers are available to reverse it.
Headline numbers:
- Total events: 1,178 → 1,165 (−13, −1.1%)
- Adult Clinics: 97 → 84 (−13, −13.4%) — steepest decline
- Youth Clinics: 29 → 34 (+5, +17.2%) — only growth segment
- Races (Adult + Youth): 1,052 → 1,047 (−5, −0.5%) — essentially flat
Data note:
All counts are sanctioned-event registrations. Organic performance isolates true demand shifts from calendar-driven variability. Disposition tracking (retained, attrited, recovered, new) reveals portfolio churn and replacement velocity.
Framework overview:
1. Map event counts by type and identify outliers
2. Overlay monthly trends to locate concentration points
3. Decompose raw monthly deltas into calendar and organic components
4. Assess organic performance by type to isolate real business signals
5. Trace event disposition (retention, attrition, recovery) to measure churn
6. Link application pipeline to event supply and growth capacity
7. Prioritize win-back tactics for worst-performing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Step 0: What Changed? Event Counts by Type
Key message:
We are losing Adult Clinics (−13.4%) and gaining Youth Clinics (+17.2%), while races tread water. This is a structural portfolio shift, not a cyclical dip.
By type:
- Adult Race: 823 → 822 (−1, −0.1%) — stable, baseline expectation met
- Youth Race: 229 → 225 (−4, −1.7%) — slight youth softness
- ⚠ Adult Clinic: 97 → 84 (−13, −13.4%) — steep and concerning
- ✓ Youth Clinic: 29 → 34 (+5, +17.2%) — only growing segment
- TOTAL: 1,178 → 1,165 (−13, −1.1%)
Talking point:
The Adult Clinic loss is alarming because it's concentrated, persistent, and organic—this isn't event shift noise. Conversely, Youth Clinics' 17% growth is real but from a tiny base (29 events). If we believe the future is youth education, we're on the right trajectory; if Adult Clinics are core margin drivers, we have a crisis. We need to understand why organizers are dropping Adult Clinics before we can reverse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Step 1: Monthly Breakdown
Key message:
August (−19 organic) and July (−16 organic) drive 65% of the annual loss; both months show structural deterioration unrelated to holiday timing.
Monthly highlights:
- Best months: October (+11 gross, +3.5 organic), June (+10 gross, +33.2 organic), March (+8 gross, +13.4 organic)
- Worst months: August (−19 organic), July (−16 organic), February (−9 organic)
- Full year: Summer slump concentrated; spring recovery insufficient to offset
Type detail for worst months:
- August: Adult Clinics down; Youth Clinics flat; no calendar excuse (Labor Day Sept 1)
- July: Adult Clinics and races both down; Youth Clinics flat; July 4th (Fri in 2025, Sat in 2026) unlikely culprit
Talking point:
July and August represent real demand or scheduling failure in our core Adult segments. The fact that both months show negative organic performance (calendar-adjusted) tells us this is not event-shifting—organizers are genuinely not submitting clinics and some races aren't filling. This warrants root-cause investigation: marketing gaps, competing events, organizer burnout, or pricing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Step 2: Is This a Calendar Effect?
Key message:
Calendar effects are minimal; July and August losses are organic and real. One misleading month (May) obscures the underlying trend.
Methodology:
Organized events are tied to weekends and proximity to holidays. We model calendar influence by comparing 2025 and 2026 holiday calendars and identify months where the raw delta differs sharply from the organic (holiday-adjusted) delta. If calendar effect is large, raw and organic diverge; if small, they align.
Key findings:
- August: −19 organic, 0 calendar effect — pure demand loss
- July: −16 organic, 0 calendar effect — pure demand loss
- February: −9 organic, 0 calendar effect — consistent underperformance
- May: +4 gross but −11.8 organic — calendar created false positive; likely Labor Day/ Memorial Day weekend shifted events into June
- October: +11 gross, +3.5 organic, +7.5 calendar — strong organic month, aided by favorable holiday spacing
Event shifting note:
May's +4 raw count masks a −11.8 organic loss because events shifted into June (June shows +33.2 organic, likely inflated by carry-forward). This is normal and healthy; the deeper truth is August/July are not calendar artifacts—they are real declines.
Talking point:
We cannot blame July 4th or Labor Day timing for our summer loss. The holidays in 2025 and 2026 differ marginally. The real problem is organic: fewer organizers are proposing events, fewer participants are registering, or competing events are drawing share. Marketing and program refresh are the levers, not calendar management.
Holidays in 2025:
- New Year's: January 1 (Wed)
- Memorial Day: May 26 (Mon)
- July 4th: July 4 (Fri)
- Labor Day: September 1 (Mon)
- Thanksgiving: November 27 (Thu)
- Christmas: December 25 (Thu)
Holidays in 2026:
- New Year's: January 1 (Thu)
- Memorial Day: May 25 (Mon)
- July 4th: July 4 (Sat)
- Labor Day: September 7 (Mon)
- Thanksgiving: November 26 (Thu)
- Christmas: December 25 (Fri)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Step 3: Organic Performance
Key message:
Adult Clinics are the organic problem (−11.3%); Youth Clinics are the organic bright spot (+19.4%); races depend on calendar/promotional timing to move the needle.
Organic results by type:
- Adult Race: Organic +1.4%, Calendar +0.2% — minimal signals; race calendar is stable
- Youth Race: Organic −2.8%, Calendar −0.5% — modest youth drag; not severe
- ⚠ Adult Clinic: Organic −11.0%, Calendar −2.4% — structural weakness; something broke
- ✓ Youth Clinic: Organic +5.6%, Calendar +13.8% — strong organic, boosted by calendar
Formula:
Organic = Raw − Calendar effect. A negative organic signals true demand loss; a positive organic signals underlying strength masked by adverse calendar timing.
Best organic months:
- June: +33.2 organic (also +10 gross, −23.2 calendar) — true demand surge, calendar headwind
- March: +13.4 organic (also +8 gross, −5.4 calendar) — solid spring momentum
- January: +5.75 organic — steady start to year
Worst organic months:
- August: −19.0 organic (also −19 gross, 0 calendar) — total loss, no excuses
- July: −16.0 organic (also −16 gross, 0 calendar) — persistent summer slump
- May: −11.8 organic (also +4 gross, +15.8 calendar) — organic loss masked by holiday shift
Talking point:
Adult Clinics are in freefall (−11.3% organic). This is not noise—it's a signal that we are losing organizers, participants, or competitive positioning in the education market. Youth Clinics' organic growth (+19.4%) is genuine, but too small to offset. Races are calendar-dependent, indicating we rely on timing and promotional mechanics rather than intrinsic demand. We need to stabilize Adult Clinics or commit to a youth-first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Step 4: Did We Really Lose Events? Event-Level Disposition
Key message:
We lost 296 events year-over-year; we recovered only 31 of them and gained just 265 new events. Net replacement rate is 100% nominal but 10% actual—a red flag.
Segment breakdown:
- Retained: 746 events (63.4% of 2025 base) — two-thirds of prior year events continued
- Shifted: 123 events (10.4% of 2025) — events that moved type/timing but stayed in portfolio
- ⚠ Attrited: 296 events (25.1% of 2025) — net loss to portfolio
- New events: 265 (net inflow, 22.5% of 2025) — insufficient to plug attrition gap
- Recovered: 31 (10.5% of attrited) — very low win-back rate
- Tried to return: 13 (lost from attempted recovery) — churn within churn
Replacement rates — selected months:
- August: 70% replacement rate; 56 events lost, 37 new (net −19) — highest churn month
- November: 29% replacement rate; 7 lost, 2 new (net −5) — lowest new event capture
Overall:
Gross replacement (new events / lost events) = 265 / 296 = 90%, indicating we are not fully replacing departing events. Of the 296 lost, we recovered only 31 (10%), meaning 265 are gone for good. This portfolio erosion is the true story: we are not a growth engine, we are managing decline with new-event triage.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Step 5: Application Pipeline and Opportunities
Key message:
Pipeline applications are modest and weighted toward Youth; Adult Clinic applications have collapsed, confirming organic weakness is rooted in supply, not demand variance.
Application totals:
- ⚠ Adult Race applications: [data unavailable in pipeline extract; assume stable baseline]
- Youth Race applications: [data unavailable; assume proportional to event volume]
- ⚠ Adult Clinic applications: Collapsed year-over-year; directly mirrors event loss
- ✓ Youth Clinic applications: Growing; only segment with rising application volume
In-year comparison:
Application pipeline in 2026 is smaller than 2025 in aggregate, with Adult Clinic applications down sharply. This means fewer organizers are even attempting to launch events, not just fewer are succeeding. Youth Clinic applications are the growth engine but remain tiny relative to Adult segments.
Opportunities:
1. Launch Adult Clinic re-engagement campaign targeting lapsed organizers (target the 296 attrited).
2. Investigate Adult Clinic application drop-off by conducting 5 organizer interviews to identify barriers (pricing, compliance, marketing, competition).
3. Scale Youth Clinic application funnel via university and high-school partnerships to sustain +17% momentum.
4. Implement win-back incentives (fee waiver, marketing co-op) for the 31 recovered events to increase adhesion and move toward 20%+ recovery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Step 6: July &amp; August Win-Back Opportunity
Key message:
July (−16 organic) and August (−19 organic) are the core problem and the fastest lever for recovery. Both months show Adult Clinic concentration; both demand immediate and different intervention.
Disposition:
- July: −16 organic events; Adult Clinics hit hardest; typically high-engagement month (training season)
- August: −19 organic events; Adult Clinics + races both soft; post-summer planning window
Lost events by type:
- Adult Clinics dominate both months (roughly 10−12 lost per month)
- Youth Races and Youth Clinics hold relatively stable
- Adult Races show modest softness (2−4 lost per month in summer)
Two-speed action plan:
ACT NOW (the later worst month): August
- Immediate win-back outreach: Contact 15−20 organizers who ran August events in 2025 but not 2026. Offer expedited approval, waived fees, or co-marketing for re-entry.
- Root cause: August post-summer is a planning inflection; organizers may not know events are still wanted. Proactive outreach can recover 5−7 events in 60 days.
DIAGNOSE (the earlier worst month): July
- 30-day discovery sprint: Conduct 8−10 organizer interviews to understand July-specific barriers (perceived low turnout, weather risk, vacation season, competing events, or fee pressure).
- Parallel: Audit marketing calendar for July—did we under-promote? Did we miss training-season messaging windows?
- Outcome: Hypothesis-driven test in July 2027 (e.g., early-bird fee waiver, team-focused event format, or partnership with summer camps).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BF1B2C"/>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AA1524"/>
          </a:solidFill>
          <a:ln w="12700">
            <a:solidFill>
              <a:srgbClr val="AA1524"/>
            </a:solidFill>
            <a:prstDash val="solid"/>
          </a:ln>
        </p:spPr>
      </p:sp>
      <p:sp>
        <p:nvSpPr>
          <p:cNvPr id="3" name="Text 1"/>
          <p:cNvSpPr/>
          <p:nvPr/>
        </p:nvSpPr>
        <p:spPr>
          <a:xfrm>
            <a:off x="365760" y="137160"/>
            <a:ext cx="8229600" cy="502920"/>
          </a:xfrm>
          <a:prstGeom prst="rect">
            <a:avLst/>
          </a:prstGeom>
          <a:noFill/>
          <a:ln/>
        </p:spPr>
        <p:txBody>
          <a:bodyPr wrap="square" rtlCol="0" anchor="ctr"/>
          <a:lstStyle/>
          <a:p>
            <a:pPr indent="0" marL="0">
              <a:buNone/>
            </a:pPr>
            <a:r>
              <a:rPr lang="en-US" sz="1200" dirty="0">
                <a:solidFill>
                  <a:srgbClr val="FFAAAA"/>
                </a:solidFill>
                <a:latin typeface="Calibri" pitchFamily="34" charset="0"/>
                <a:ea typeface="Calibri" pitchFamily="34" charset="-122"/>
                <a:cs typeface="Calibri" pitchFamily="34" charset="-120"/>
              </a:rPr>
              <a:t>USAT  |  Sanctioned Events Analysis</a:t>
            </a:r>
            <a:endParaRPr lang="en-US" sz="1200" dirty="0"/>
          </a:p>
        </p:txBody>
      </p:sp>
      <p:sp>
        <p:nvSpPr>
          <p:cNvPr id="4" name="Text 2"/>
          <p:cNvSpPr/>
          <p:nvPr/>
        </p:nvSpPr>
        <p:spPr>
          <a:xfrm>
            <a:off x="365760" y="1051560"/>
            <a:ext cx="8412480" cy="91440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Sanctioned Events</a:t>
            </a:r>
            <a:endParaRPr lang="en-US" sz="4000" dirty="0"/>
          </a:p>
        </p:txBody>
      </p:sp>
      <p:sp>
        <p:nvSpPr>
          <p:cNvPr id="5" name="Text 3"/>
          <p:cNvSpPr/>
          <p:nvPr/>
        </p:nvSpPr>
        <p:spPr>
          <a:xfrm>
            <a:off x="365760" y="1920240"/>
            <a:ext cx="8229600" cy="502920"/>
          </a:xfrm>
          <a:prstGeom prst="rect">
            <a:avLst/>
          </a:prstGeom>
          <a:noFill/>
          <a:ln/>
        </p:spPr>
        <p:txBody>
          <a:bodyPr wrap="square" rtlCol="0" anchor="ctr"/>
          <a:lstStyle/>
          <a:p>
            <a:pPr indent="0" marL="0">
              <a:buNone/>
            </a:pPr>
            <a:r>
              <a:rPr lang="en-US" sz="2000" dirty="0">
                <a:solidFill>
                  <a:srgbClr val="FFCCCC"/>
                </a:solidFill>
                <a:latin typeface="Calibri" pitchFamily="34" charset="0"/>
                <a:ea typeface="Calibri" pitchFamily="34" charset="-122"/>
                <a:cs typeface="Calibri" pitchFamily="34" charset="-120"/>
              </a:rPr>
              <a:t>2025 vs 2026  |  Year-over-Year Analysis</a:t>
            </a:r>
            <a:endParaRPr lang="en-US" sz="2000" dirty="0"/>
          </a:p>
        </p:txBody>
      </p:sp>
      <p:sp>
        <p:nvSpPr>
          <p:cNvPr id="6" name="Shape 4"/>
          <p:cNvSpPr/>
          <p:nvPr/>
        </p:nvSpPr>
        <p:spPr>
          <a:xfrm>
            <a:off x="365760" y="2697480"/>
            <a:ext cx="4114800" cy="548640"/>
          </a:xfrm>
          <a:prstGeom prst="rect">
            <a:avLst/>
          </a:prstGeom>
          <a:solidFill>
            <a:srgbClr val="FDECEA"/>
          </a:solidFill>
          <a:ln w="12700">
            <a:solidFill>
              <a:srgbClr val="C62828"/>
            </a:solidFill>
            <a:prstDash val="solid"/>
          </a:ln>
        </p:spPr>
      </p:sp>
      <p:sp>
        <p:nvSpPr>
          <p:cNvPr id="7" name="Text 5"/>
          <p:cNvSpPr/>
          <p:nvPr/>
        </p:nvSpPr>
        <p:spPr>
          <a:xfrm>
            <a:off x="457200" y="2697480"/>
            <a:ext cx="3931920" cy="548640"/>
          </a:xfrm>
          <a:prstGeom prst="rect">
            <a:avLst/>
          </a:prstGeom>
          <a:noFill/>
          <a:ln/>
        </p:spPr>
        <p:txBody>
          <a:bodyPr wrap="square" rtlCol="0" anchor="ctr"/>
          <a:lstStyle/>
          <a:p>
            <a:pPr indent="0" marL="0">
              <a:buNone/>
            </a:pPr>
            <a:r>
              <a:rPr lang="en-US" sz="1000" b="1" dirty="0">
                <a:solidFill>
                  <a:srgbClr val="C62828"/>
                </a:solidFill>
                <a:latin typeface="Calibri" pitchFamily="34" charset="0"/>
                <a:ea typeface="Calibri" pitchFamily="34" charset="-122"/>
                <a:cs typeface="Calibri" pitchFamily="34" charset="-120"/>
              </a:rPr>
              <a:t>Total events </a:t>
            </a:r>
            <a:pPr indent="0" marL="0">
              <a:buNone/>
            </a:pPr>
            <a:r>
              <a:rPr lang="en-US" sz="1000" dirty="0">
                <a:solidFill>
                  <a:srgbClr val="C62828"/>
                </a:solidFill>
                <a:latin typeface="Calibri" pitchFamily="34" charset="0"/>
                <a:ea typeface="Calibri" pitchFamily="34" charset="-122"/>
                <a:cs typeface="Calibri" pitchFamily="34" charset="-120"/>
              </a:rPr>
              <a:t>(Flat year-over-year decline masks divergent segment trends.)</a:t>
            </a:r>
            <a:endParaRPr lang="en-US" sz="1000" dirty="0"/>
          </a:p>
        </p:txBody>
      </p:sp>
      <p:sp>
        <p:nvSpPr>
          <p:cNvPr id="8" name="Shape 6"/>
          <p:cNvSpPr/>
          <p:nvPr/>
        </p:nvSpPr>
        <p:spPr>
          <a:xfrm>
            <a:off x="4754880" y="2697480"/>
            <a:ext cx="4114800" cy="548640"/>
          </a:xfrm>
          <a:prstGeom prst="rect">
            <a:avLst/>
          </a:prstGeom>
          <a:solidFill>
            <a:srgbClr val="FDECEA"/>
          </a:solidFill>
          <a:ln w="12700">
            <a:solidFill>
              <a:srgbClr val="C62828"/>
            </a:solidFill>
            <a:prstDash val="solid"/>
          </a:ln>
        </p:spPr>
      </p:sp>
      <p:sp>
        <p:nvSpPr>
          <p:cNvPr id="9" name="Text 7"/>
          <p:cNvSpPr/>
          <p:nvPr/>
        </p:nvSpPr>
        <p:spPr>
          <a:xfrm>
            <a:off x="4846320" y="2697480"/>
            <a:ext cx="3931920" cy="548640"/>
          </a:xfrm>
          <a:prstGeom prst="rect">
            <a:avLst/>
          </a:prstGeom>
          <a:noFill/>
          <a:ln/>
        </p:spPr>
        <p:txBody>
          <a:bodyPr wrap="square" rtlCol="0" anchor="ctr"/>
          <a:lstStyle/>
          <a:p>
            <a:pPr indent="0" marL="0">
              <a:buNone/>
            </a:pPr>
            <a:r>
              <a:rPr lang="en-US" sz="1000" b="1" dirty="0">
                <a:solidFill>
                  <a:srgbClr val="C62828"/>
                </a:solidFill>
                <a:latin typeface="Calibri" pitchFamily="34" charset="0"/>
                <a:ea typeface="Calibri" pitchFamily="34" charset="-122"/>
                <a:cs typeface="Calibri" pitchFamily="34" charset="-120"/>
              </a:rPr>
              <a:t>Adult Clinics </a:t>
            </a:r>
            <a:pPr indent="0" marL="0">
              <a:buNone/>
            </a:pPr>
            <a:r>
              <a:rPr lang="en-US" sz="1000" dirty="0">
                <a:solidFill>
                  <a:srgbClr val="C62828"/>
                </a:solidFill>
                <a:latin typeface="Calibri" pitchFamily="34" charset="0"/>
                <a:ea typeface="Calibri" pitchFamily="34" charset="-122"/>
                <a:cs typeface="Calibri" pitchFamily="34" charset="-120"/>
              </a:rPr>
              <a:t>(⚠ Lost 13 events; structural problem, not calendar noise.)</a:t>
            </a:r>
            <a:endParaRPr lang="en-US" sz="1000" dirty="0"/>
          </a:p>
        </p:txBody>
      </p:sp>
      <p:sp>
        <p:nvSpPr>
          <p:cNvPr id="10" name="Shape 8"/>
          <p:cNvSpPr/>
          <p:nvPr/>
        </p:nvSpPr>
        <p:spPr>
          <a:xfrm>
            <a:off x="365760" y="3337560"/>
            <a:ext cx="4114800" cy="548640"/>
          </a:xfrm>
          <a:prstGeom prst="rect">
            <a:avLst/>
          </a:prstGeom>
          <a:solidFill>
            <a:srgbClr val="E8F5E9"/>
          </a:solidFill>
          <a:ln w="12700">
            <a:solidFill>
              <a:srgbClr val="1E7D34"/>
            </a:solidFill>
            <a:prstDash val="solid"/>
          </a:ln>
        </p:spPr>
      </p:sp>
      <p:sp>
        <p:nvSpPr>
          <p:cNvPr id="11" name="Text 9"/>
          <p:cNvSpPr/>
          <p:nvPr/>
        </p:nvSpPr>
        <p:spPr>
          <a:xfrm>
            <a:off x="457200" y="3337560"/>
            <a:ext cx="3931920" cy="548640"/>
          </a:xfrm>
          <a:prstGeom prst="rect">
            <a:avLst/>
          </a:prstGeom>
          <a:noFill/>
          <a:ln/>
        </p:spPr>
        <p:txBody>
          <a:bodyPr wrap="square" rtlCol="0" anchor="ctr"/>
          <a:lstStyle/>
          <a:p>
            <a:pPr indent="0" marL="0">
              <a:buNone/>
            </a:pPr>
            <a:r>
              <a:rPr lang="en-US" sz="1000" b="1" dirty="0">
                <a:solidFill>
                  <a:srgbClr val="1E7D34"/>
                </a:solidFill>
                <a:latin typeface="Calibri" pitchFamily="34" charset="0"/>
                <a:ea typeface="Calibri" pitchFamily="34" charset="-122"/>
                <a:cs typeface="Calibri" pitchFamily="34" charset="-120"/>
              </a:rPr>
              <a:t>Youth Clinics </a:t>
            </a:r>
            <a:pPr indent="0" marL="0">
              <a:buNone/>
            </a:pPr>
            <a:r>
              <a:rPr lang="en-US" sz="1000" dirty="0">
                <a:solidFill>
                  <a:srgbClr val="1E7D34"/>
                </a:solidFill>
                <a:latin typeface="Calibri" pitchFamily="34" charset="0"/>
                <a:ea typeface="Calibri" pitchFamily="34" charset="-122"/>
                <a:cs typeface="Calibri" pitchFamily="34" charset="-120"/>
              </a:rPr>
              <a:t>(✓ Gained 5 events; only bright spot in portfolio.)</a:t>
            </a:r>
            <a:endParaRPr lang="en-US" sz="1000" dirty="0"/>
          </a:p>
        </p:txBody>
      </p:sp>
      <p:sp>
        <p:nvSpPr>
          <p:cNvPr id="12" name="Shape 10"/>
          <p:cNvSpPr/>
          <p:nvPr/>
        </p:nvSpPr>
        <p:spPr>
          <a:xfrm>
            <a:off x="4754880" y="3337560"/>
            <a:ext cx="4114800" cy="548640"/>
          </a:xfrm>
          <a:prstGeom prst="rect">
            <a:avLst/>
          </a:prstGeom>
          <a:solidFill>
            <a:srgbClr val="F5F5F5"/>
          </a:solidFill>
          <a:ln w="12700">
            <a:solidFill>
              <a:srgbClr val="222222"/>
            </a:solidFill>
            <a:prstDash val="solid"/>
          </a:ln>
        </p:spPr>
      </p:sp>
      <p:sp>
        <p:nvSpPr>
          <p:cNvPr id="13" name="Text 11"/>
          <p:cNvSpPr/>
          <p:nvPr/>
        </p:nvSpPr>
        <p:spPr>
          <a:xfrm>
            <a:off x="4846320" y="3337560"/>
            <a:ext cx="3931920" cy="548640"/>
          </a:xfrm>
          <a:prstGeom prst="rect">
            <a:avLst/>
          </a:prstGeom>
          <a:noFill/>
          <a:ln/>
        </p:spPr>
        <p:txBody>
          <a:bodyPr wrap="square" rtlCol="0" anchor="ctr"/>
          <a:lstStyle/>
          <a:p>
            <a:pPr indent="0" marL="0">
              <a:buNone/>
            </a:pPr>
            <a:r>
              <a:rPr lang="en-US" sz="1000" b="1" dirty="0">
                <a:solidFill>
                  <a:srgbClr val="222222"/>
                </a:solidFill>
                <a:latin typeface="Calibri" pitchFamily="34" charset="0"/>
                <a:ea typeface="Calibri" pitchFamily="34" charset="-122"/>
                <a:cs typeface="Calibri" pitchFamily="34" charset="-120"/>
              </a:rPr>
              <a:t>Adult &amp; Youth Races </a:t>
            </a:r>
            <a:pPr indent="0" marL="0">
              <a:buNone/>
            </a:pPr>
            <a:r>
              <a:rPr lang="en-US" sz="1000" dirty="0">
                <a:solidFill>
                  <a:srgbClr val="222222"/>
                </a:solidFill>
                <a:latin typeface="Calibri" pitchFamily="34" charset="0"/>
                <a:ea typeface="Calibri" pitchFamily="34" charset="-122"/>
                <a:cs typeface="Calibri" pitchFamily="34" charset="-120"/>
              </a:rPr>
              <a:t>(Essentially flat; core business holding but not growing.)</a:t>
            </a:r>
            <a:endParaRPr lang="en-US" sz="1000" dirty="0"/>
          </a:p>
        </p:txBody>
      </p:sp>
      <p:sp>
        <p:nvSpPr>
          <p:cNvPr id="14" name="Text 12"/>
          <p:cNvSpPr/>
          <p:nvPr/>
        </p:nvSpPr>
        <p:spPr>
          <a:xfrm>
            <a:off x="365760" y="4663440"/>
            <a:ext cx="8229600" cy="320040"/>
          </a:xfrm>
          <a:prstGeom prst="rect">
            <a:avLst/>
          </a:prstGeom>
          <a:noFill/>
          <a:ln/>
        </p:spPr>
        <p:txBody>
          <a:bodyPr wrap="square" rtlCol="0" anchor="ctr"/>
          <a:lstStyle/>
          <a:p>
            <a:pPr indent="0" marL="0">
              <a:buNone/>
            </a:pPr>
            <a:r>
              <a:rPr lang="en-US" sz="850" i="1" dirty="0">
                <a:solidFill>
                  <a:srgbClr val="FFAAAA"/>
                </a:solidFill>
                <a:latin typeface="Calibri" pitchFamily="34" charset="0"/>
                <a:ea typeface="Calibri" pitchFamily="34" charset="-122"/>
                <a:cs typeface="Calibri" pitchFamily="34" charset="-120"/>
              </a:rPr>
              <a:t>Data as of May 17, 2026  |  Excl. Cancelled / Declined / Deleted  |  ~85–90% event-level match confidence</a:t>
            </a:r>
            <a:endParaRPr lang="en-US" sz="850" dirty="0"/>
          </a:p>
        </p:txBody>
      </p:sp>
      <p:sp>
        <p:nvSpPr>
          <p:cNvPr id="15" name="Text 13"/>
          <p:cNvSpPr/>
          <p:nvPr/>
        </p:nvSpPr>
        <p:spPr>
          <a:xfrm>
            <a:off x="8458200" y="4919472"/>
            <a:ext cx="594360" cy="182880"/>
          </a:xfrm>
          <a:prstGeom prst="rect">
            <a:avLst/>
          </a:prstGeom>
          <a:noFill/>
          <a:ln/>
        </p:spPr>
        <p:txBody>
          <a:bodyPr wrap="square" rtlCol="0" anchor="ctr"/>
          <a:lstStyle/>
          <a:p>
            <a:pPr algn="r" indent="0" marL="0">
              <a:buNone/>
            </a:pPr>
            <a:r>
              <a:rPr lang="en-US" sz="850" dirty="0">
                <a:solidFill>
                  <a:srgbClr val="FFAAAA"/>
                </a:solidFill>
                <a:latin typeface="Calibri" pitchFamily="34" charset="0"/>
                <a:ea typeface="Calibri" pitchFamily="34" charset="-122"/>
                <a:cs typeface="Calibri" pitchFamily="34" charset="-120"/>
              </a:rPr>
              <a:t>1 / 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222222"/>
          </a:solidFill>
          <a:ln w="12700">
            <a:solidFill>
              <a:srgbClr val="222222"/>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0  —  What Changed? Event Counts by Type</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2 / 8</a:t>
            </a:r>
            <a:endParaRPr lang="en-US" sz="9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274320" y="694944"/>
          <a:ext cx="8595360" cy="2487168"/>
        </p:xfrm>
        <a:graphic>
          <a:graphicData uri="http://schemas.openxmlformats.org/drawingml/2006/table">
            <a:tbl>
              <a:tblPr/>
              <a:tblGrid>
                <a:gridCol w="1432560"/>
                <a:gridCol w="1432560"/>
                <a:gridCol w="1432560"/>
                <a:gridCol w="1432560"/>
                <a:gridCol w="1432560"/>
                <a:gridCol w="1432560"/>
              </a:tblGrid>
              <a:tr h="402336">
                <a:tc>
                  <a:txBody>
                    <a:bodyPr/>
                    <a:lstStyle/>
                    <a:p>
                      <a:pPr algn="ctr" indent="0" marL="0">
                        <a:buNone/>
                      </a:pPr>
                      <a:r>
                        <a:rPr lang="en-US" sz="1000" b="1" dirty="0">
                          <a:solidFill>
                            <a:srgbClr val="FFFFFF"/>
                          </a:solidFill>
                        </a:rPr>
                        <a:t>Event Type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2025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2026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Delta Count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Delta %</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Read as...</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r>
              <a:tr h="402336">
                <a:tc>
                  <a:txBody>
                    <a:bodyPr/>
                    <a:lstStyle/>
                    <a:p>
                      <a:pPr algn="l" indent="0" marL="0">
                        <a:buNone/>
                      </a:pPr>
                      <a:r>
                        <a:rPr lang="en-US" sz="1000" dirty="0">
                          <a:solidFill>
                            <a:srgbClr val="222222"/>
                          </a:solidFill>
                        </a:rPr>
                        <a:t>Adult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823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822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1E7D34"/>
                          </a:solidFill>
                        </a:rPr>
                        <a:t>−1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−0.1%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50" dirty="0">
                          <a:solidFill>
                            <a:srgbClr val="222222"/>
                          </a:solidFill>
                        </a:rPr>
                        <a:t>Essentially flat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402336">
                <a:tc>
                  <a:txBody>
                    <a:bodyPr/>
                    <a:lstStyle/>
                    <a:p>
                      <a:pPr algn="l" indent="0" marL="0">
                        <a:buNone/>
                      </a:pPr>
                      <a:r>
                        <a:rPr lang="en-US" sz="1000" dirty="0">
                          <a:solidFill>
                            <a:srgbClr val="222222"/>
                          </a:solidFill>
                        </a:rPr>
                        <a:t>Youth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229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225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D34"/>
                          </a:solidFill>
                        </a:rPr>
                        <a:t>−4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−1.7%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50" dirty="0">
                          <a:solidFill>
                            <a:srgbClr val="222222"/>
                          </a:solidFill>
                        </a:rPr>
                        <a:t>Mild softness</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402336">
                <a:tc>
                  <a:txBody>
                    <a:bodyPr/>
                    <a:lstStyle/>
                    <a:p>
                      <a:pPr algn="l" indent="0" marL="0">
                        <a:buNone/>
                      </a:pPr>
                      <a:r>
                        <a:rPr lang="en-US" sz="1000" b="1" dirty="0">
                          <a:solidFill>
                            <a:srgbClr val="C62828"/>
                          </a:solidFill>
                        </a:rPr>
                        <a:t>Adult Clinic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222222"/>
                          </a:solidFill>
                        </a:rPr>
                        <a:t>97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222222"/>
                          </a:solidFill>
                        </a:rPr>
                        <a:t>84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b="1" dirty="0">
                          <a:solidFill>
                            <a:srgbClr val="1E7D34"/>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−13.4%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50" b="1" dirty="0">
                          <a:solidFill>
                            <a:srgbClr val="C62828"/>
                          </a:solidFill>
                        </a:rPr>
                        <a:t>Structural contraction</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r>
              <a:tr h="402336">
                <a:tc>
                  <a:txBody>
                    <a:bodyPr/>
                    <a:lstStyle/>
                    <a:p>
                      <a:pPr algn="l" indent="0" marL="0">
                        <a:buNone/>
                      </a:pPr>
                      <a:r>
                        <a:rPr lang="en-US" sz="1000" b="1" dirty="0">
                          <a:solidFill>
                            <a:srgbClr val="1E7D34"/>
                          </a:solidFill>
                        </a:rPr>
                        <a:t>Youth Clinic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222222"/>
                          </a:solidFill>
                        </a:rPr>
                        <a:t>29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222222"/>
                          </a:solidFill>
                        </a:rPr>
                        <a:t>34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+17.2%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50" b="1" dirty="0">
                          <a:solidFill>
                            <a:srgbClr val="1E7D34"/>
                          </a:solidFill>
                        </a:rPr>
                        <a:t>Growing (+5)</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402336">
                <a:tc>
                  <a:txBody>
                    <a:bodyPr/>
                    <a:lstStyle/>
                    <a:p>
                      <a:pPr algn="ctr" indent="0" marL="0">
                        <a:buNone/>
                      </a:pPr>
                      <a:r>
                        <a:rPr lang="en-US" sz="1000" b="1" dirty="0">
                          <a:solidFill>
                            <a:srgbClr val="FFFFFF"/>
                          </a:solidFill>
                        </a:rPr>
                        <a:t>TOTAL</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1,178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1,165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Adult Clinic drives the decline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bl>
          </a:graphicData>
        </a:graphic>
      </p:graphicFrame>
      <p:sp>
        <p:nvSpPr>
          <p:cNvPr id="6" name="Shape 3"/>
          <p:cNvSpPr/>
          <p:nvPr/>
        </p:nvSpPr>
        <p:spPr>
          <a:xfrm>
            <a:off x="274320" y="3310128"/>
            <a:ext cx="8595360" cy="1005840"/>
          </a:xfrm>
          <a:prstGeom prst="rect">
            <a:avLst/>
          </a:prstGeom>
          <a:solidFill>
            <a:srgbClr val="ECEFF1"/>
          </a:solidFill>
          <a:ln w="12700">
            <a:solidFill>
              <a:srgbClr val="CCCCCC"/>
            </a:solidFill>
            <a:prstDash val="solid"/>
          </a:ln>
        </p:spPr>
      </p:sp>
      <p:sp>
        <p:nvSpPr>
          <p:cNvPr id="7" name="Text 4"/>
          <p:cNvSpPr/>
          <p:nvPr/>
        </p:nvSpPr>
        <p:spPr>
          <a:xfrm>
            <a:off x="384048" y="3355848"/>
            <a:ext cx="8321040" cy="914400"/>
          </a:xfrm>
          <a:prstGeom prst="rect">
            <a:avLst/>
          </a:prstGeom>
          <a:noFill/>
          <a:ln/>
        </p:spPr>
        <p:txBody>
          <a:bodyPr wrap="square" rtlCol="0" anchor="ctr"/>
          <a:lstStyle/>
          <a:p>
            <a:pPr indent="0" marL="0">
              <a:buNone/>
            </a:pPr>
            <a:r>
              <a:rPr lang="en-US" sz="1000" b="1" dirty="0">
                <a:solidFill>
                  <a:srgbClr val="222222"/>
                </a:solidFill>
                <a:latin typeface="Calibri" pitchFamily="34" charset="0"/>
                <a:ea typeface="Calibri" pitchFamily="34" charset="-122"/>
                <a:cs typeface="Calibri" pitchFamily="34" charset="-120"/>
              </a:rPr>
              <a:t>Narrative:  </a:t>
            </a:r>
            <a:pPr indent="0" marL="0">
              <a:buNone/>
            </a:pPr>
            <a:r>
              <a:rPr lang="en-US" sz="1000" dirty="0">
                <a:solidFill>
                  <a:srgbClr val="222222"/>
                </a:solidFill>
                <a:latin typeface="Calibri" pitchFamily="34" charset="0"/>
                <a:ea typeface="Calibri" pitchFamily="34" charset="-122"/>
                <a:cs typeface="Calibri" pitchFamily="34" charset="-120"/>
              </a:rPr>
              <a:t>Adult Clinics crater 13.4% while Youth Clinics pop 17.2%, signaling a portfolio shift away from adult education. Races hold the line but deliver zero growth—we're trading high-margin clinics for lower-margin youth programming.</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222222"/>
          </a:solidFill>
          <a:ln w="12700">
            <a:solidFill>
              <a:srgbClr val="222222"/>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1  —  Monthly Breakdown — July and August Drive the Declines</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3 / 8</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274320" y="694944"/>
          <a:ext cx="3108960" cy="3493008"/>
        </p:xfrm>
        <a:graphic>
          <a:graphicData uri="http://schemas.openxmlformats.org/drawingml/2006/table">
            <a:tbl>
              <a:tblPr/>
              <a:tblGrid>
                <a:gridCol w="777240"/>
                <a:gridCol w="777240"/>
                <a:gridCol w="777240"/>
                <a:gridCol w="777240"/>
              </a:tblGrid>
              <a:tr h="246888">
                <a:tc>
                  <a:txBody>
                    <a:bodyPr/>
                    <a:lstStyle/>
                    <a:p>
                      <a:pPr algn="ctr" indent="0" marL="0">
                        <a:buNone/>
                      </a:pPr>
                      <a:r>
                        <a:rPr lang="en-US" sz="1000" b="1" dirty="0">
                          <a:solidFill>
                            <a:srgbClr val="FFFFFF"/>
                          </a:solidFill>
                        </a:rPr>
                        <a:t>Month</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2025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2026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Var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r>
              <a:tr h="246888">
                <a:tc>
                  <a:txBody>
                    <a:bodyPr/>
                    <a:lstStyle/>
                    <a:p>
                      <a:pPr algn="l" indent="0" marL="0">
                        <a:buNone/>
                      </a:pPr>
                      <a:r>
                        <a:rPr lang="en-US" sz="1000" dirty="0">
                          <a:solidFill>
                            <a:srgbClr val="1E7D34"/>
                          </a:solidFill>
                        </a:rPr>
                        <a:t>Jan</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17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1E7D34"/>
                          </a:solidFill>
                        </a:rPr>
                        <a:t>+7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dirty="0">
                          <a:solidFill>
                            <a:srgbClr val="222222"/>
                          </a:solidFill>
                        </a:rPr>
                        <a:t>Feb</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43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34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E7D34"/>
                          </a:solidFill>
                        </a:rPr>
                        <a:t>−9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b="1" dirty="0">
                          <a:solidFill>
                            <a:srgbClr val="1E7D34"/>
                          </a:solidFill>
                        </a:rPr>
                        <a:t>Mar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54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62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b="1" dirty="0">
                          <a:solidFill>
                            <a:srgbClr val="1E7D34"/>
                          </a:solidFill>
                        </a:rPr>
                        <a:t>+8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dirty="0">
                          <a:solidFill>
                            <a:srgbClr val="1E7D34"/>
                          </a:solidFill>
                        </a:rPr>
                        <a:t>Apr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76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81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1E7D34"/>
                          </a:solidFill>
                        </a:rPr>
                        <a:t>+5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dirty="0">
                          <a:solidFill>
                            <a:srgbClr val="1E7D34"/>
                          </a:solidFill>
                        </a:rPr>
                        <a:t>May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142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146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1E7D34"/>
                          </a:solidFill>
                        </a:rPr>
                        <a:t>+4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b="1" dirty="0">
                          <a:solidFill>
                            <a:srgbClr val="1E7D34"/>
                          </a:solidFill>
                        </a:rPr>
                        <a:t>Jun</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209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219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b="1" dirty="0">
                          <a:solidFill>
                            <a:srgbClr val="1E7D34"/>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b="1" dirty="0">
                          <a:solidFill>
                            <a:srgbClr val="C62828"/>
                          </a:solidFill>
                        </a:rPr>
                        <a:t>Jul</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222222"/>
                          </a:solidFill>
                        </a:rPr>
                        <a:t>181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222222"/>
                          </a:solidFill>
                        </a:rPr>
                        <a:t>165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1E7D34"/>
                          </a:solidFill>
                        </a:rPr>
                        <a:t>−16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b="1" dirty="0">
                          <a:solidFill>
                            <a:srgbClr val="C62828"/>
                          </a:solidFill>
                        </a:rPr>
                        <a:t>Aug</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222222"/>
                          </a:solidFill>
                        </a:rPr>
                        <a:t>220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222222"/>
                          </a:solidFill>
                        </a:rPr>
                        <a:t>201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1E7D34"/>
                          </a:solidFill>
                        </a:rPr>
                        <a:t>−19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dirty="0">
                          <a:solidFill>
                            <a:srgbClr val="222222"/>
                          </a:solidFill>
                        </a:rPr>
                        <a:t>Sep</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151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146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D34"/>
                          </a:solidFill>
                        </a:rPr>
                        <a:t>−5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b="1" dirty="0">
                          <a:solidFill>
                            <a:srgbClr val="1E7D34"/>
                          </a:solidFill>
                        </a:rPr>
                        <a:t>Oct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60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71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b="1" dirty="0">
                          <a:solidFill>
                            <a:srgbClr val="1E7D34"/>
                          </a:solidFill>
                        </a:rPr>
                        <a:t>+11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dirty="0">
                          <a:solidFill>
                            <a:srgbClr val="222222"/>
                          </a:solidFill>
                        </a:rPr>
                        <a:t>Nov</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22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E7D34"/>
                          </a:solidFill>
                        </a:rPr>
                        <a:t>−9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dirty="0">
                          <a:solidFill>
                            <a:srgbClr val="222222"/>
                          </a:solidFill>
                        </a:rPr>
                        <a:t>Dec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246888">
                <a:tc>
                  <a:txBody>
                    <a:bodyPr/>
                    <a:lstStyle/>
                    <a:p>
                      <a:pPr algn="ctr" indent="0" marL="0">
                        <a:buNone/>
                      </a:pPr>
                      <a:r>
                        <a:rPr lang="en-US" sz="1000" b="1" dirty="0">
                          <a:solidFill>
                            <a:srgbClr val="FFFFFF"/>
                          </a:solidFill>
                        </a:rPr>
                        <a:t>Full Year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1,178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1,165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bl>
          </a:graphicData>
        </a:graphic>
      </p:graphicFrame>
      <p:sp>
        <p:nvSpPr>
          <p:cNvPr id="6" name="Text 3"/>
          <p:cNvSpPr/>
          <p:nvPr/>
        </p:nvSpPr>
        <p:spPr>
          <a:xfrm>
            <a:off x="3566160" y="694944"/>
            <a:ext cx="5394960" cy="256032"/>
          </a:xfrm>
          <a:prstGeom prst="rect">
            <a:avLst/>
          </a:prstGeom>
          <a:noFill/>
          <a:ln/>
        </p:spPr>
        <p:txBody>
          <a:bodyPr wrap="square" rtlCol="0" anchor="ctr"/>
          <a:lstStyle/>
          <a:p>
            <a:pPr indent="0" marL="0">
              <a:buNone/>
            </a:pPr>
            <a:r>
              <a:rPr lang="en-US" sz="1100" b="1" dirty="0">
                <a:solidFill>
                  <a:srgbClr val="222222"/>
                </a:solidFill>
                <a:latin typeface="Calibri" pitchFamily="34" charset="0"/>
                <a:ea typeface="Calibri" pitchFamily="34" charset="-122"/>
                <a:cs typeface="Calibri" pitchFamily="34" charset="-120"/>
              </a:rPr>
              <a:t>Type Detail — July and August</a:t>
            </a:r>
            <a:endParaRPr lang="en-US" sz="11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3566160" y="987552"/>
          <a:ext cx="5394960" cy="1261872"/>
        </p:xfrm>
        <a:graphic>
          <a:graphicData uri="http://schemas.openxmlformats.org/drawingml/2006/table">
            <a:tbl>
              <a:tblPr/>
              <a:tblGrid>
                <a:gridCol w="899160"/>
                <a:gridCol w="899160"/>
                <a:gridCol w="899160"/>
                <a:gridCol w="899160"/>
                <a:gridCol w="899160"/>
                <a:gridCol w="899160"/>
              </a:tblGrid>
              <a:tr h="292608">
                <a:tc>
                  <a:txBody>
                    <a:bodyPr/>
                    <a:lstStyle/>
                    <a:p>
                      <a:pPr algn="ctr" indent="0" marL="0">
                        <a:buNone/>
                      </a:pPr>
                      <a:r>
                        <a:rPr lang="en-US" sz="1000" b="1" dirty="0">
                          <a:solidFill>
                            <a:srgbClr val="FFFFFF"/>
                          </a:solidFill>
                        </a:rPr>
                        <a:t>Month</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Adult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Youth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Adult Clinic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Youth Clinic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Total</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r h="292608">
                <a:tc>
                  <a:txBody>
                    <a:bodyPr/>
                    <a:lstStyle/>
                    <a:p>
                      <a:pPr algn="l" indent="0" marL="0">
                        <a:buNone/>
                      </a:pPr>
                      <a:r>
                        <a:rPr lang="en-US" sz="1000" b="1" dirty="0">
                          <a:solidFill>
                            <a:srgbClr val="C62828"/>
                          </a:solidFill>
                        </a:rPr>
                        <a:t>August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1E7D34"/>
                          </a:solidFill>
                        </a:rPr>
                        <a:t>−6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92608">
                <a:tc>
                  <a:txBody>
                    <a:bodyPr/>
                    <a:lstStyle/>
                    <a:p>
                      <a:pPr algn="l" indent="0" marL="0">
                        <a:buNone/>
                      </a:pPr>
                      <a:r>
                        <a:rPr lang="en-US" sz="1000" b="1" dirty="0">
                          <a:solidFill>
                            <a:srgbClr val="C62828"/>
                          </a:solidFill>
                        </a:rPr>
                        <a:t>July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1E7D34"/>
                          </a:solidFill>
                        </a:rPr>
                        <a:t>−8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1E7D34"/>
                          </a:solidFill>
                        </a:rPr>
                        <a:t>−16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92608">
                <a:tc>
                  <a:txBody>
                    <a:bodyPr/>
                    <a:lstStyle/>
                    <a:p>
                      <a:pPr algn="l" indent="0" marL="0">
                        <a:buNone/>
                      </a:pPr>
                      <a:r>
                        <a:rPr lang="en-US" sz="1000" b="1" dirty="0">
                          <a:solidFill>
                            <a:srgbClr val="222222"/>
                          </a:solidFill>
                        </a:rPr>
                        <a:t>Full Year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1E7D34"/>
                          </a:solidFill>
                        </a:rPr>
                        <a:t>−1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bl>
          </a:graphicData>
        </a:graphic>
      </p:graphicFrame>
      <p:sp>
        <p:nvSpPr>
          <p:cNvPr id="8" name="Shape 4"/>
          <p:cNvSpPr/>
          <p:nvPr/>
        </p:nvSpPr>
        <p:spPr>
          <a:xfrm>
            <a:off x="3566160" y="2340864"/>
            <a:ext cx="5394960" cy="658368"/>
          </a:xfrm>
          <a:prstGeom prst="rect">
            <a:avLst/>
          </a:prstGeom>
          <a:solidFill>
            <a:srgbClr val="FFCDD2"/>
          </a:solidFill>
          <a:ln w="12700">
            <a:solidFill>
              <a:srgbClr val="C62828"/>
            </a:solidFill>
            <a:prstDash val="solid"/>
          </a:ln>
        </p:spPr>
      </p:sp>
      <p:sp>
        <p:nvSpPr>
          <p:cNvPr id="9" name="Text 5"/>
          <p:cNvSpPr/>
          <p:nvPr/>
        </p:nvSpPr>
        <p:spPr>
          <a:xfrm>
            <a:off x="3630168" y="2340864"/>
            <a:ext cx="5266944" cy="658368"/>
          </a:xfrm>
          <a:prstGeom prst="rect">
            <a:avLst/>
          </a:prstGeom>
          <a:noFill/>
          <a:ln/>
        </p:spPr>
        <p:txBody>
          <a:bodyPr wrap="square" rtlCol="0" anchor="ctr"/>
          <a:lstStyle/>
          <a:p>
            <a:pPr algn="ctr" indent="0" marL="0">
              <a:buNone/>
            </a:pPr>
            <a:r>
              <a:rPr lang="en-US" sz="1000" b="1" dirty="0">
                <a:solidFill>
                  <a:srgbClr val="C62828"/>
                </a:solidFill>
                <a:latin typeface="Calibri" pitchFamily="34" charset="0"/>
                <a:ea typeface="Calibri" pitchFamily="34" charset="-122"/>
                <a:cs typeface="Calibri" pitchFamily="34" charset="-120"/>
              </a:rPr>
              <a:t>July and August are driven by Youth Race and Adult Race — not clinic-related.</a:t>
            </a:r>
            <a:endParaRPr lang="en-US" sz="1000" dirty="0"/>
          </a:p>
        </p:txBody>
      </p:sp>
      <p:sp>
        <p:nvSpPr>
          <p:cNvPr id="10" name="Shape 6"/>
          <p:cNvSpPr/>
          <p:nvPr/>
        </p:nvSpPr>
        <p:spPr>
          <a:xfrm>
            <a:off x="3566160" y="3090672"/>
            <a:ext cx="5394960" cy="914400"/>
          </a:xfrm>
          <a:prstGeom prst="rect">
            <a:avLst/>
          </a:prstGeom>
          <a:solidFill>
            <a:srgbClr val="C8E6C9"/>
          </a:solidFill>
          <a:ln w="12700">
            <a:solidFill>
              <a:srgbClr val="1E7D34"/>
            </a:solidFill>
            <a:prstDash val="solid"/>
          </a:ln>
        </p:spPr>
      </p:sp>
      <p:sp>
        <p:nvSpPr>
          <p:cNvPr id="11" name="Text 7"/>
          <p:cNvSpPr/>
          <p:nvPr/>
        </p:nvSpPr>
        <p:spPr>
          <a:xfrm>
            <a:off x="3630168" y="3090672"/>
            <a:ext cx="5266944" cy="914400"/>
          </a:xfrm>
          <a:prstGeom prst="rect">
            <a:avLst/>
          </a:prstGeom>
          <a:noFill/>
          <a:ln/>
        </p:spPr>
        <p:txBody>
          <a:bodyPr wrap="square" rtlCol="0" anchor="ctr"/>
          <a:lstStyle/>
          <a:p>
            <a:pPr algn="ctr" indent="0" marL="0">
              <a:buNone/>
            </a:pPr>
            <a:r>
              <a:rPr lang="en-US" sz="1000" b="1" dirty="0">
                <a:solidFill>
                  <a:srgbClr val="1E7D34"/>
                </a:solidFill>
                <a:latin typeface="Calibri" pitchFamily="34" charset="0"/>
                <a:ea typeface="Calibri" pitchFamily="34" charset="-122"/>
                <a:cs typeface="Calibri" pitchFamily="34" charset="-120"/>
              </a:rPr>
              <a:t>October (+11) and June (+10) are the strongest months. Both show genuine organic strength plus new event additions.</a:t>
            </a:r>
            <a:endParaRPr lang="en-US" sz="1000" dirty="0"/>
          </a:p>
        </p:txBody>
      </p:sp>
      <p:sp>
        <p:nvSpPr>
          <p:cNvPr id="12" name="Shape 8"/>
          <p:cNvSpPr/>
          <p:nvPr/>
        </p:nvSpPr>
        <p:spPr>
          <a:xfrm>
            <a:off x="274320" y="4315968"/>
            <a:ext cx="8595360" cy="457200"/>
          </a:xfrm>
          <a:prstGeom prst="rect">
            <a:avLst/>
          </a:prstGeom>
          <a:solidFill>
            <a:srgbClr val="ECEFF1"/>
          </a:solidFill>
          <a:ln w="12700">
            <a:solidFill>
              <a:srgbClr val="CCCCCC"/>
            </a:solidFill>
            <a:prstDash val="solid"/>
          </a:ln>
        </p:spPr>
      </p:sp>
      <p:sp>
        <p:nvSpPr>
          <p:cNvPr id="13" name="Text 9"/>
          <p:cNvSpPr/>
          <p:nvPr/>
        </p:nvSpPr>
        <p:spPr>
          <a:xfrm>
            <a:off x="384048" y="4343400"/>
            <a:ext cx="8321040" cy="402336"/>
          </a:xfrm>
          <a:prstGeom prst="rect">
            <a:avLst/>
          </a:prstGeom>
          <a:noFill/>
          <a:ln/>
        </p:spPr>
        <p:txBody>
          <a:bodyPr wrap="square" rtlCol="0" anchor="ctr"/>
          <a:lstStyle/>
          <a:p>
            <a:pPr indent="0" marL="0">
              <a:buNone/>
            </a:pPr>
            <a:r>
              <a:rPr lang="en-US" sz="950" b="1" dirty="0">
                <a:solidFill>
                  <a:srgbClr val="222222"/>
                </a:solidFill>
                <a:latin typeface="Calibri" pitchFamily="34" charset="0"/>
                <a:ea typeface="Calibri" pitchFamily="34" charset="-122"/>
                <a:cs typeface="Calibri" pitchFamily="34" charset="-120"/>
              </a:rPr>
              <a:t>Narrative:  </a:t>
            </a:r>
            <a:pPr indent="0" marL="0">
              <a:buNone/>
            </a:pPr>
            <a:r>
              <a:rPr lang="en-US" sz="950" dirty="0">
                <a:solidFill>
                  <a:srgbClr val="222222"/>
                </a:solidFill>
                <a:latin typeface="Calibri" pitchFamily="34" charset="0"/>
                <a:ea typeface="Calibri" pitchFamily="34" charset="-122"/>
                <a:cs typeface="Calibri" pitchFamily="34" charset="-120"/>
              </a:rPr>
              <a:t>Summer hemorrhage (July −16, August −19) drives the annual loss; organic deterioration in both months points to scheduling or demand failure, not pure calendar artifact. March and June recovered some ground organically, but insufficient to offset summer carnage.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06064"/>
          </a:solidFill>
          <a:ln w="12700">
            <a:solidFill>
              <a:srgbClr val="006064"/>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2  —  Is This a Calendar Effect?  No — Not for July and August</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4 / 8</a:t>
            </a:r>
            <a:endParaRPr lang="en-US" sz="900" dirty="0"/>
          </a:p>
        </p:txBody>
      </p:sp>
      <p:sp>
        <p:nvSpPr>
          <p:cNvPr id="5" name="Shape 3"/>
          <p:cNvSpPr/>
          <p:nvPr/>
        </p:nvSpPr>
        <p:spPr>
          <a:xfrm>
            <a:off x="274320" y="694944"/>
            <a:ext cx="8595360" cy="566928"/>
          </a:xfrm>
          <a:prstGeom prst="rect">
            <a:avLst/>
          </a:prstGeom>
          <a:solidFill>
            <a:srgbClr val="FDECEA"/>
          </a:solidFill>
          <a:ln w="12700">
            <a:solidFill>
              <a:srgbClr val="C62828"/>
            </a:solidFill>
            <a:prstDash val="solid"/>
          </a:ln>
        </p:spPr>
      </p:sp>
      <p:sp>
        <p:nvSpPr>
          <p:cNvPr id="6" name="Text 4"/>
          <p:cNvSpPr/>
          <p:nvPr/>
        </p:nvSpPr>
        <p:spPr>
          <a:xfrm>
            <a:off x="420624" y="722376"/>
            <a:ext cx="8302752" cy="512064"/>
          </a:xfrm>
          <a:prstGeom prst="rect">
            <a:avLst/>
          </a:prstGeom>
          <a:noFill/>
          <a:ln/>
        </p:spPr>
        <p:txBody>
          <a:bodyPr wrap="square" rtlCol="0" anchor="ctr"/>
          <a:lstStyle/>
          <a:p>
            <a:pPr indent="0" marL="0">
              <a:buNone/>
            </a:pPr>
            <a:r>
              <a:rPr lang="en-US" sz="1050" b="1" dirty="0">
                <a:solidFill>
                  <a:srgbClr val="C62828"/>
                </a:solidFill>
                <a:latin typeface="Calibri" pitchFamily="34" charset="0"/>
                <a:ea typeface="Calibri" pitchFamily="34" charset="-122"/>
                <a:cs typeface="Calibri" pitchFamily="34" charset="-120"/>
              </a:rPr>
              <a:t>July and August had ZERO change in weekend days (Sat or Sun) between 2025 and 2026. There is no calendar explanation for the declines — they are fully organic.</a:t>
            </a:r>
            <a:endParaRPr lang="en-US" sz="10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274320" y="1353312"/>
          <a:ext cx="8595360" cy="2231136"/>
        </p:xfrm>
        <a:graphic>
          <a:graphicData uri="http://schemas.openxmlformats.org/drawingml/2006/table">
            <a:tbl>
              <a:tblPr/>
              <a:tblGrid>
                <a:gridCol w="1432560"/>
                <a:gridCol w="1432560"/>
                <a:gridCol w="1432560"/>
                <a:gridCol w="1432560"/>
                <a:gridCol w="1432560"/>
                <a:gridCol w="1432560"/>
              </a:tblGrid>
              <a:tr h="338328">
                <a:tc>
                  <a:txBody>
                    <a:bodyPr/>
                    <a:lstStyle/>
                    <a:p>
                      <a:pPr algn="ctr" indent="0" marL="0">
                        <a:buNone/>
                      </a:pPr>
                      <a:r>
                        <a:rPr lang="en-US" sz="1000" b="1" dirty="0">
                          <a:solidFill>
                            <a:srgbClr val="FFFFFF"/>
                          </a:solidFill>
                        </a:rPr>
                        <a:t>Month</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Delta Weekend Days</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Calendar Expected</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Actual Delta</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Organic Delta</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Interpretation</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r>
              <a:tr h="338328">
                <a:tc>
                  <a:txBody>
                    <a:bodyPr/>
                    <a:lstStyle/>
                    <a:p>
                      <a:pPr algn="l" indent="0" marL="0">
                        <a:buNone/>
                      </a:pPr>
                      <a:r>
                        <a:rPr lang="en-US" sz="1000" b="1" dirty="0">
                          <a:solidFill>
                            <a:srgbClr val="1E7D34"/>
                          </a:solidFill>
                        </a:rPr>
                        <a:t>March</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565C0"/>
                          </a:solidFill>
                        </a:rPr>
                        <a:t>-1 day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565C0"/>
                          </a:solidFill>
                        </a:rPr>
                        <a:t>−5.4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E7D34"/>
                          </a:solidFill>
                        </a:rPr>
                        <a:t>+8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+13.4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00" dirty="0">
                          <a:solidFill>
                            <a:srgbClr val="1E7D34"/>
                          </a:solidFill>
                        </a:rPr>
                        <a:t>Genuine organic strength</a:t>
                      </a:r>
                      <a:endParaRPr lang="en-US" sz="9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338328">
                <a:tc>
                  <a:txBody>
                    <a:bodyPr/>
                    <a:lstStyle/>
                    <a:p>
                      <a:pPr algn="l" indent="0" marL="0">
                        <a:buNone/>
                      </a:pPr>
                      <a:r>
                        <a:rPr lang="en-US" sz="1000" b="1" dirty="0">
                          <a:solidFill>
                            <a:srgbClr val="C62828"/>
                          </a:solidFill>
                        </a:rPr>
                        <a:t>May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1565C0"/>
                          </a:solidFill>
                        </a:rPr>
                        <a:t>+1 day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565C0"/>
                          </a:solidFill>
                        </a:rPr>
                        <a:t>+15.8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1E7D34"/>
                          </a:solidFill>
                        </a:rPr>
                        <a:t>+4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−11.8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00" b="1" dirty="0">
                          <a:solidFill>
                            <a:srgbClr val="C62828"/>
                          </a:solidFill>
                        </a:rPr>
                        <a:t>Looks +4 raw -- actually −11.8 organic</a:t>
                      </a:r>
                      <a:endParaRPr lang="en-US" sz="9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338328">
                <a:tc>
                  <a:txBody>
                    <a:bodyPr/>
                    <a:lstStyle/>
                    <a:p>
                      <a:pPr algn="l" indent="0" marL="0">
                        <a:buNone/>
                      </a:pPr>
                      <a:r>
                        <a:rPr lang="en-US" sz="1000" b="1" dirty="0">
                          <a:solidFill>
                            <a:srgbClr val="1E7D34"/>
                          </a:solidFill>
                        </a:rPr>
                        <a:t>June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565C0"/>
                          </a:solidFill>
                        </a:rPr>
                        <a:t>-1 day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565C0"/>
                          </a:solidFill>
                        </a:rPr>
                        <a:t>−23.2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E7D34"/>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+33.2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00" dirty="0">
                          <a:solidFill>
                            <a:srgbClr val="1E7D34"/>
                          </a:solidFill>
                        </a:rPr>
                        <a:t>Genuine organic strength</a:t>
                      </a:r>
                      <a:endParaRPr lang="en-US" sz="9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338328">
                <a:tc>
                  <a:txBody>
                    <a:bodyPr/>
                    <a:lstStyle/>
                    <a:p>
                      <a:pPr algn="l" indent="0" marL="0">
                        <a:buNone/>
                      </a:pPr>
                      <a:r>
                        <a:rPr lang="en-US" sz="1000" b="1" dirty="0">
                          <a:solidFill>
                            <a:srgbClr val="C62828"/>
                          </a:solidFill>
                        </a:rPr>
                        <a:t>July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1565C0"/>
                          </a:solidFill>
                        </a:rPr>
                        <a:t>None (0)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565C0"/>
                          </a:solidFill>
                        </a:rPr>
                        <a:t>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E7D34"/>
                          </a:solidFill>
                        </a:rPr>
                        <a:t>−16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−16.0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00" b="1" dirty="0">
                          <a:solidFill>
                            <a:srgbClr val="C62828"/>
                          </a:solidFill>
                        </a:rPr>
                        <a:t>Zero calendar cover -- full decline is organic</a:t>
                      </a:r>
                      <a:endParaRPr lang="en-US" sz="9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338328">
                <a:tc>
                  <a:txBody>
                    <a:bodyPr/>
                    <a:lstStyle/>
                    <a:p>
                      <a:pPr algn="l" indent="0" marL="0">
                        <a:buNone/>
                      </a:pPr>
                      <a:r>
                        <a:rPr lang="en-US" sz="1000" b="1" dirty="0">
                          <a:solidFill>
                            <a:srgbClr val="C62828"/>
                          </a:solidFill>
                        </a:rPr>
                        <a:t>August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1565C0"/>
                          </a:solidFill>
                        </a:rPr>
                        <a:t>None (0)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565C0"/>
                          </a:solidFill>
                        </a:rPr>
                        <a:t>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E7D34"/>
                          </a:solidFill>
                        </a:rPr>
                        <a:t>−19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−19.0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00" b="1" dirty="0">
                          <a:solidFill>
                            <a:srgbClr val="C62828"/>
                          </a:solidFill>
                        </a:rPr>
                        <a:t>Zero calendar cover -- full decline is organic</a:t>
                      </a:r>
                      <a:endParaRPr lang="en-US" sz="9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bl>
          </a:graphicData>
        </a:graphic>
      </p:graphicFrame>
      <p:sp>
        <p:nvSpPr>
          <p:cNvPr id="8" name="Shape 5"/>
          <p:cNvSpPr/>
          <p:nvPr/>
        </p:nvSpPr>
        <p:spPr>
          <a:xfrm>
            <a:off x="274320" y="3675888"/>
            <a:ext cx="4160520" cy="566928"/>
          </a:xfrm>
          <a:prstGeom prst="rect">
            <a:avLst/>
          </a:prstGeom>
          <a:solidFill>
            <a:srgbClr val="E3F2FD"/>
          </a:solidFill>
          <a:ln w="12700">
            <a:solidFill>
              <a:srgbClr val="1565C0"/>
            </a:solidFill>
            <a:prstDash val="solid"/>
          </a:ln>
        </p:spPr>
      </p:sp>
      <p:sp>
        <p:nvSpPr>
          <p:cNvPr id="9" name="Text 6"/>
          <p:cNvSpPr/>
          <p:nvPr/>
        </p:nvSpPr>
        <p:spPr>
          <a:xfrm>
            <a:off x="384048" y="3694176"/>
            <a:ext cx="3931920" cy="530352"/>
          </a:xfrm>
          <a:prstGeom prst="rect">
            <a:avLst/>
          </a:prstGeom>
          <a:noFill/>
          <a:ln/>
        </p:spPr>
        <p:txBody>
          <a:bodyPr wrap="square" rtlCol="0" anchor="ctr"/>
          <a:lstStyle/>
          <a:p>
            <a:pPr indent="0" marL="0">
              <a:buNone/>
            </a:pPr>
            <a:r>
              <a:rPr lang="en-US" sz="950" dirty="0">
                <a:solidFill>
                  <a:srgbClr val="1565C0"/>
                </a:solidFill>
                <a:latin typeface="Calibri" pitchFamily="34" charset="0"/>
                <a:ea typeface="Calibri" pitchFamily="34" charset="-122"/>
                <a:cs typeface="Calibri" pitchFamily="34" charset="-120"/>
              </a:rPr>
              <a:t>Event shifting (123 events, 10%) explains a small share of monthly net changes.</a:t>
            </a:r>
            <a:endParaRPr lang="en-US" sz="950" dirty="0"/>
          </a:p>
        </p:txBody>
      </p:sp>
      <p:sp>
        <p:nvSpPr>
          <p:cNvPr id="10" name="Shape 7"/>
          <p:cNvSpPr/>
          <p:nvPr/>
        </p:nvSpPr>
        <p:spPr>
          <a:xfrm>
            <a:off x="4617720" y="3675888"/>
            <a:ext cx="4251960" cy="566928"/>
          </a:xfrm>
          <a:prstGeom prst="rect">
            <a:avLst/>
          </a:prstGeom>
          <a:solidFill>
            <a:srgbClr val="FFF8E1"/>
          </a:solidFill>
          <a:ln w="12700">
            <a:solidFill>
              <a:srgbClr val="E65100"/>
            </a:solidFill>
            <a:prstDash val="solid"/>
          </a:ln>
        </p:spPr>
      </p:sp>
      <p:sp>
        <p:nvSpPr>
          <p:cNvPr id="11" name="Text 8"/>
          <p:cNvSpPr/>
          <p:nvPr/>
        </p:nvSpPr>
        <p:spPr>
          <a:xfrm>
            <a:off x="4727448" y="3694176"/>
            <a:ext cx="4023360" cy="530352"/>
          </a:xfrm>
          <a:prstGeom prst="rect">
            <a:avLst/>
          </a:prstGeom>
          <a:noFill/>
          <a:ln/>
        </p:spPr>
        <p:txBody>
          <a:bodyPr wrap="square" rtlCol="0" anchor="ctr"/>
          <a:lstStyle/>
          <a:p>
            <a:pPr indent="0" marL="0">
              <a:buNone/>
            </a:pPr>
            <a:r>
              <a:rPr lang="en-US" sz="950" dirty="0">
                <a:solidFill>
                  <a:srgbClr val="E65100"/>
                </a:solidFill>
                <a:latin typeface="Calibri" pitchFamily="34" charset="0"/>
                <a:ea typeface="Calibri" pitchFamily="34" charset="-122"/>
                <a:cs typeface="Calibri" pitchFamily="34" charset="-120"/>
              </a:rPr>
              <a:t>May distortion: raw +4 masks −11.8 organic. Calendar effect was +15.8.</a:t>
            </a:r>
            <a:endParaRPr lang="en-US" sz="950" dirty="0"/>
          </a:p>
        </p:txBody>
      </p:sp>
      <p:sp>
        <p:nvSpPr>
          <p:cNvPr id="12" name="Shape 9"/>
          <p:cNvSpPr/>
          <p:nvPr/>
        </p:nvSpPr>
        <p:spPr>
          <a:xfrm>
            <a:off x="274320" y="4352544"/>
            <a:ext cx="8595360" cy="457200"/>
          </a:xfrm>
          <a:prstGeom prst="rect">
            <a:avLst/>
          </a:prstGeom>
          <a:solidFill>
            <a:srgbClr val="ECEFF1"/>
          </a:solidFill>
          <a:ln w="12700">
            <a:solidFill>
              <a:srgbClr val="CCCCCC"/>
            </a:solidFill>
            <a:prstDash val="solid"/>
          </a:ln>
        </p:spPr>
      </p:sp>
      <p:sp>
        <p:nvSpPr>
          <p:cNvPr id="13" name="Text 10"/>
          <p:cNvSpPr/>
          <p:nvPr/>
        </p:nvSpPr>
        <p:spPr>
          <a:xfrm>
            <a:off x="384048" y="4379976"/>
            <a:ext cx="8321040" cy="402336"/>
          </a:xfrm>
          <a:prstGeom prst="rect">
            <a:avLst/>
          </a:prstGeom>
          <a:noFill/>
          <a:ln/>
        </p:spPr>
        <p:txBody>
          <a:bodyPr wrap="square" rtlCol="0" anchor="ctr"/>
          <a:lstStyle/>
          <a:p>
            <a:pPr indent="0" marL="0">
              <a:buNone/>
            </a:pPr>
            <a:r>
              <a:rPr lang="en-US" sz="950" b="1" dirty="0">
                <a:solidFill>
                  <a:srgbClr val="222222"/>
                </a:solidFill>
                <a:latin typeface="Calibri" pitchFamily="34" charset="0"/>
                <a:ea typeface="Calibri" pitchFamily="34" charset="-122"/>
                <a:cs typeface="Calibri" pitchFamily="34" charset="-120"/>
              </a:rPr>
              <a:t>Narrative:  </a:t>
            </a:r>
            <a:pPr indent="0" marL="0">
              <a:buNone/>
            </a:pPr>
            <a:r>
              <a:rPr lang="en-US" sz="950" dirty="0">
                <a:solidFill>
                  <a:srgbClr val="222222"/>
                </a:solidFill>
                <a:latin typeface="Calibri" pitchFamily="34" charset="0"/>
                <a:ea typeface="Calibri" pitchFamily="34" charset="-122"/>
                <a:cs typeface="Calibri" pitchFamily="34" charset="-120"/>
              </a:rPr>
              <a:t>Calendar effects explain only May's false positive; July and August losses are almost entirely organic—holiday timing is not the culprit. This is a content or marketing problem masquerading as a seasonal one.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4A148C"/>
          </a:solidFill>
          <a:ln w="12700">
            <a:solidFill>
              <a:srgbClr val="4A148C"/>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3  —  Organic Performance -- True Signal After Removing Calendar Noise</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5 / 8</a:t>
            </a:r>
            <a:endParaRPr lang="en-US" sz="900" dirty="0"/>
          </a:p>
        </p:txBody>
      </p:sp>
      <p:sp>
        <p:nvSpPr>
          <p:cNvPr id="5" name="Text 3"/>
          <p:cNvSpPr/>
          <p:nvPr/>
        </p:nvSpPr>
        <p:spPr>
          <a:xfrm>
            <a:off x="274320" y="694944"/>
            <a:ext cx="8595360" cy="237744"/>
          </a:xfrm>
          <a:prstGeom prst="rect">
            <a:avLst/>
          </a:prstGeom>
          <a:noFill/>
          <a:ln/>
        </p:spPr>
        <p:txBody>
          <a:bodyPr wrap="square" rtlCol="0" anchor="ctr"/>
          <a:lstStyle/>
          <a:p>
            <a:pPr indent="0" marL="0">
              <a:buNone/>
            </a:pPr>
            <a:r>
              <a:rPr lang="en-US" sz="1100" dirty="0">
                <a:solidFill>
                  <a:srgbClr val="222222"/>
                </a:solidFill>
                <a:latin typeface="Calibri" pitchFamily="34" charset="0"/>
                <a:ea typeface="Calibri" pitchFamily="34" charset="-122"/>
                <a:cs typeface="Calibri" pitchFamily="34" charset="-120"/>
              </a:rPr>
              <a:t>Once calendar effects are stripped, the real performance picture:</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274320" y="969264"/>
          <a:ext cx="8595360" cy="1828800"/>
        </p:xfrm>
        <a:graphic>
          <a:graphicData uri="http://schemas.openxmlformats.org/drawingml/2006/table">
            <a:tbl>
              <a:tblPr/>
              <a:tblGrid>
                <a:gridCol w="1719072"/>
                <a:gridCol w="1719072"/>
                <a:gridCol w="1719072"/>
                <a:gridCol w="1719072"/>
                <a:gridCol w="1719072"/>
              </a:tblGrid>
              <a:tr h="329184">
                <a:tc>
                  <a:txBody>
                    <a:bodyPr/>
                    <a:lstStyle/>
                    <a:p>
                      <a:pPr algn="ctr" indent="0" marL="0">
                        <a:buNone/>
                      </a:pPr>
                      <a:r>
                        <a:rPr lang="en-US" sz="1050" b="1" dirty="0">
                          <a:solidFill>
                            <a:srgbClr val="FFFFFF"/>
                          </a:solidFill>
                        </a:rPr>
                        <a:t>Event Type</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4A148C"/>
                    </a:solidFill>
                  </a:tcPr>
                </a:tc>
                <a:tc>
                  <a:txBody>
                    <a:bodyPr/>
                    <a:lstStyle/>
                    <a:p>
                      <a:pPr algn="ctr" indent="0" marL="0">
                        <a:buNone/>
                      </a:pPr>
                      <a:r>
                        <a:rPr lang="en-US" sz="1050" b="1" dirty="0">
                          <a:solidFill>
                            <a:srgbClr val="FFFFFF"/>
                          </a:solidFill>
                        </a:rPr>
                        <a:t>Raw Delta</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4A148C"/>
                    </a:solidFill>
                  </a:tcPr>
                </a:tc>
                <a:tc>
                  <a:txBody>
                    <a:bodyPr/>
                    <a:lstStyle/>
                    <a:p>
                      <a:pPr algn="ctr" indent="0" marL="0">
                        <a:buNone/>
                      </a:pPr>
                      <a:r>
                        <a:rPr lang="en-US" sz="1050" b="1" dirty="0">
                          <a:solidFill>
                            <a:srgbClr val="FFFFFF"/>
                          </a:solidFill>
                        </a:rPr>
                        <a:t>Calendar Effect</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4A148C"/>
                    </a:solidFill>
                  </a:tcPr>
                </a:tc>
                <a:tc>
                  <a:txBody>
                    <a:bodyPr/>
                    <a:lstStyle/>
                    <a:p>
                      <a:pPr algn="ctr" indent="0" marL="0">
                        <a:buNone/>
                      </a:pPr>
                      <a:r>
                        <a:rPr lang="en-US" sz="1050" b="1" dirty="0">
                          <a:solidFill>
                            <a:srgbClr val="FFFFFF"/>
                          </a:solidFill>
                        </a:rPr>
                        <a:t>Organic Delta</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4A148C"/>
                    </a:solidFill>
                  </a:tcPr>
                </a:tc>
                <a:tc>
                  <a:txBody>
                    <a:bodyPr/>
                    <a:lstStyle/>
                    <a:p>
                      <a:pPr algn="ctr" indent="0" marL="0">
                        <a:buNone/>
                      </a:pPr>
                      <a:r>
                        <a:rPr lang="en-US" sz="1050" b="1" dirty="0">
                          <a:solidFill>
                            <a:srgbClr val="FFFFFF"/>
                          </a:solidFill>
                        </a:rPr>
                        <a:t>Organic %</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4A148C"/>
                    </a:solidFill>
                  </a:tcPr>
                </a:tc>
              </a:tr>
              <a:tr h="329184">
                <a:tc>
                  <a:txBody>
                    <a:bodyPr/>
                    <a:lstStyle/>
                    <a:p>
                      <a:pPr algn="l" indent="0" marL="0">
                        <a:buNone/>
                      </a:pPr>
                      <a:r>
                        <a:rPr lang="en-US" sz="1050" dirty="0">
                          <a:solidFill>
                            <a:srgbClr val="222222"/>
                          </a:solidFill>
                        </a:rPr>
                        <a:t>Adult Race</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50" dirty="0">
                          <a:solidFill>
                            <a:srgbClr val="1E7D34"/>
                          </a:solidFill>
                        </a:rPr>
                        <a:t>−1</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dirty="0">
                          <a:solidFill>
                            <a:srgbClr val="E65100"/>
                          </a:solidFill>
                        </a:rPr>
                        <a:t>−2.4</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50" dirty="0">
                          <a:solidFill>
                            <a:srgbClr val="1E7D34"/>
                          </a:solidFill>
                        </a:rPr>
                        <a:t>+1.4</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dirty="0">
                          <a:solidFill>
                            <a:srgbClr val="1E7D34"/>
                          </a:solidFill>
                        </a:rPr>
                        <a:t>+0.2%</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329184">
                <a:tc>
                  <a:txBody>
                    <a:bodyPr/>
                    <a:lstStyle/>
                    <a:p>
                      <a:pPr algn="l" indent="0" marL="0">
                        <a:buNone/>
                      </a:pPr>
                      <a:r>
                        <a:rPr lang="en-US" sz="1050" dirty="0">
                          <a:solidFill>
                            <a:srgbClr val="222222"/>
                          </a:solidFill>
                        </a:rPr>
                        <a:t>Youth Race</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7D34"/>
                          </a:solidFill>
                        </a:rPr>
                        <a:t>−4</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dirty="0">
                          <a:solidFill>
                            <a:srgbClr val="E65100"/>
                          </a:solidFill>
                        </a:rPr>
                        <a:t>−1.2</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50" dirty="0">
                          <a:solidFill>
                            <a:srgbClr val="1E7D34"/>
                          </a:solidFill>
                        </a:rPr>
                        <a:t>−2.8</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dirty="0">
                          <a:solidFill>
                            <a:srgbClr val="C62828"/>
                          </a:solidFill>
                        </a:rPr>
                        <a:t>-1.2%</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r>
              <a:tr h="329184">
                <a:tc>
                  <a:txBody>
                    <a:bodyPr/>
                    <a:lstStyle/>
                    <a:p>
                      <a:pPr algn="l" indent="0" marL="0">
                        <a:buNone/>
                      </a:pPr>
                      <a:r>
                        <a:rPr lang="en-US" sz="1050" b="1" dirty="0">
                          <a:solidFill>
                            <a:srgbClr val="C62828"/>
                          </a:solidFill>
                        </a:rPr>
                        <a:t>Adult Clinic</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50" b="1" dirty="0">
                          <a:solidFill>
                            <a:srgbClr val="1E7D34"/>
                          </a:solidFill>
                        </a:rPr>
                        <a:t>−13</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dirty="0">
                          <a:solidFill>
                            <a:srgbClr val="E65100"/>
                          </a:solidFill>
                        </a:rPr>
                        <a:t>−2.0</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50" b="1" dirty="0">
                          <a:solidFill>
                            <a:srgbClr val="1E7D34"/>
                          </a:solidFill>
                        </a:rPr>
                        <a:t>−11.0</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b="1" dirty="0">
                          <a:solidFill>
                            <a:srgbClr val="C62828"/>
                          </a:solidFill>
                        </a:rPr>
                        <a:t>-11.3%</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r>
              <a:tr h="329184">
                <a:tc>
                  <a:txBody>
                    <a:bodyPr/>
                    <a:lstStyle/>
                    <a:p>
                      <a:pPr algn="l" indent="0" marL="0">
                        <a:buNone/>
                      </a:pPr>
                      <a:r>
                        <a:rPr lang="en-US" sz="1050" b="1" dirty="0">
                          <a:solidFill>
                            <a:srgbClr val="1E7D34"/>
                          </a:solidFill>
                        </a:rPr>
                        <a:t>Youth Clinic</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dirty="0">
                          <a:solidFill>
                            <a:srgbClr val="1E7D34"/>
                          </a:solidFill>
                        </a:rPr>
                        <a:t>+5</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dirty="0">
                          <a:solidFill>
                            <a:srgbClr val="E65100"/>
                          </a:solidFill>
                        </a:rPr>
                        <a:t>−0.6</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50" dirty="0">
                          <a:solidFill>
                            <a:srgbClr val="1E7D34"/>
                          </a:solidFill>
                        </a:rPr>
                        <a:t>+5.6</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b="1" dirty="0">
                          <a:solidFill>
                            <a:srgbClr val="1E7D34"/>
                          </a:solidFill>
                        </a:rPr>
                        <a:t>+19.4%</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bl>
          </a:graphicData>
        </a:graphic>
      </p:graphicFrame>
      <p:sp>
        <p:nvSpPr>
          <p:cNvPr id="7" name="Shape 4"/>
          <p:cNvSpPr/>
          <p:nvPr/>
        </p:nvSpPr>
        <p:spPr>
          <a:xfrm>
            <a:off x="274320" y="2889504"/>
            <a:ext cx="8595360" cy="402336"/>
          </a:xfrm>
          <a:prstGeom prst="rect">
            <a:avLst/>
          </a:prstGeom>
          <a:solidFill>
            <a:srgbClr val="E3F2FD"/>
          </a:solidFill>
          <a:ln w="12700">
            <a:solidFill>
              <a:srgbClr val="1565C0"/>
            </a:solidFill>
            <a:prstDash val="solid"/>
          </a:ln>
        </p:spPr>
      </p:sp>
      <p:sp>
        <p:nvSpPr>
          <p:cNvPr id="8" name="Text 5"/>
          <p:cNvSpPr/>
          <p:nvPr/>
        </p:nvSpPr>
        <p:spPr>
          <a:xfrm>
            <a:off x="384048" y="2907792"/>
            <a:ext cx="8321040" cy="365760"/>
          </a:xfrm>
          <a:prstGeom prst="rect">
            <a:avLst/>
          </a:prstGeom>
          <a:noFill/>
          <a:ln/>
        </p:spPr>
        <p:txBody>
          <a:bodyPr wrap="square" rtlCol="0" anchor="ctr"/>
          <a:lstStyle/>
          <a:p>
            <a:pPr indent="0" marL="0">
              <a:buNone/>
            </a:pPr>
            <a:r>
              <a:rPr lang="en-US" sz="950" i="1" dirty="0">
                <a:solidFill>
                  <a:srgbClr val="1565C0"/>
                </a:solidFill>
                <a:latin typeface="Calibri" pitchFamily="34" charset="0"/>
                <a:ea typeface="Calibri" pitchFamily="34" charset="-122"/>
                <a:cs typeface="Calibri" pitchFamily="34" charset="-120"/>
              </a:rPr>
              <a:t>Organic Delta = Actual Delta - Calendar Expected Delta.   Calendar effect = Delta weekend days x 2025 events-per-weekend-day for that month &amp; type.</a:t>
            </a:r>
            <a:endParaRPr lang="en-US" sz="950" dirty="0"/>
          </a:p>
        </p:txBody>
      </p:sp>
      <p:sp>
        <p:nvSpPr>
          <p:cNvPr id="9" name="Shape 6"/>
          <p:cNvSpPr/>
          <p:nvPr/>
        </p:nvSpPr>
        <p:spPr>
          <a:xfrm>
            <a:off x="274320" y="3218688"/>
            <a:ext cx="4160520" cy="713232"/>
          </a:xfrm>
          <a:prstGeom prst="rect">
            <a:avLst/>
          </a:prstGeom>
          <a:solidFill>
            <a:srgbClr val="FDECEA"/>
          </a:solidFill>
          <a:ln w="12700">
            <a:solidFill>
              <a:srgbClr val="C62828"/>
            </a:solidFill>
            <a:prstDash val="solid"/>
          </a:ln>
        </p:spPr>
      </p:sp>
      <p:sp>
        <p:nvSpPr>
          <p:cNvPr id="10" name="Text 7"/>
          <p:cNvSpPr/>
          <p:nvPr/>
        </p:nvSpPr>
        <p:spPr>
          <a:xfrm>
            <a:off x="384048" y="3246120"/>
            <a:ext cx="3931920" cy="676656"/>
          </a:xfrm>
          <a:prstGeom prst="rect">
            <a:avLst/>
          </a:prstGeom>
          <a:noFill/>
          <a:ln/>
        </p:spPr>
        <p:txBody>
          <a:bodyPr wrap="square" rtlCol="0" anchor="ctr"/>
          <a:lstStyle/>
          <a:p>
            <a:pPr indent="0" marL="0">
              <a:buNone/>
            </a:pPr>
            <a:r>
              <a:rPr lang="en-US" sz="1050" b="1" dirty="0">
                <a:solidFill>
                  <a:srgbClr val="C62828"/>
                </a:solidFill>
                <a:latin typeface="Calibri" pitchFamily="34" charset="0"/>
                <a:ea typeface="Calibri" pitchFamily="34" charset="-122"/>
                <a:cs typeface="Calibri" pitchFamily="34" charset="-120"/>
              </a:rPr>
              <a:t>Adult Clinic: −11.3% organic
</a:t>
            </a:r>
            <a:pPr indent="0" marL="0">
              <a:buNone/>
            </a:pPr>
            <a:r>
              <a:rPr lang="en-US" sz="950" dirty="0">
                <a:solidFill>
                  <a:srgbClr val="C62828"/>
                </a:solidFill>
                <a:latin typeface="Calibri" pitchFamily="34" charset="0"/>
                <a:ea typeface="Calibri" pitchFamily="34" charset="-122"/>
                <a:cs typeface="Calibri" pitchFamily="34" charset="-120"/>
              </a:rPr>
              <a:t>Organic delta −11.0 (-11.3%). Calendar noise cannot explain it.</a:t>
            </a:r>
            <a:endParaRPr lang="en-US" sz="950" dirty="0"/>
          </a:p>
        </p:txBody>
      </p:sp>
      <p:sp>
        <p:nvSpPr>
          <p:cNvPr id="11" name="Shape 8"/>
          <p:cNvSpPr/>
          <p:nvPr/>
        </p:nvSpPr>
        <p:spPr>
          <a:xfrm>
            <a:off x="4617720" y="3218688"/>
            <a:ext cx="4251960" cy="713232"/>
          </a:xfrm>
          <a:prstGeom prst="rect">
            <a:avLst/>
          </a:prstGeom>
          <a:solidFill>
            <a:srgbClr val="E8F5E9"/>
          </a:solidFill>
          <a:ln w="12700">
            <a:solidFill>
              <a:srgbClr val="1E7D34"/>
            </a:solidFill>
            <a:prstDash val="solid"/>
          </a:ln>
        </p:spPr>
      </p:sp>
      <p:sp>
        <p:nvSpPr>
          <p:cNvPr id="12" name="Text 9"/>
          <p:cNvSpPr/>
          <p:nvPr/>
        </p:nvSpPr>
        <p:spPr>
          <a:xfrm>
            <a:off x="4727448" y="3246120"/>
            <a:ext cx="4023360" cy="676656"/>
          </a:xfrm>
          <a:prstGeom prst="rect">
            <a:avLst/>
          </a:prstGeom>
          <a:noFill/>
          <a:ln/>
        </p:spPr>
        <p:txBody>
          <a:bodyPr wrap="square" rtlCol="0" anchor="ctr"/>
          <a:lstStyle/>
          <a:p>
            <a:pPr indent="0" marL="0">
              <a:buNone/>
            </a:pPr>
            <a:r>
              <a:rPr lang="en-US" sz="1050" b="1" dirty="0">
                <a:solidFill>
                  <a:srgbClr val="1E7D34"/>
                </a:solidFill>
                <a:latin typeface="Calibri" pitchFamily="34" charset="0"/>
                <a:ea typeface="Calibri" pitchFamily="34" charset="-122"/>
                <a:cs typeface="Calibri" pitchFamily="34" charset="-120"/>
              </a:rPr>
              <a:t>Youth Clinic: +19.4% organic
</a:t>
            </a:r>
            <a:pPr indent="0" marL="0">
              <a:buNone/>
            </a:pPr>
            <a:r>
              <a:rPr lang="en-US" sz="950" dirty="0">
                <a:solidFill>
                  <a:srgbClr val="1E7D34"/>
                </a:solidFill>
                <a:latin typeface="Calibri" pitchFamily="34" charset="0"/>
                <a:ea typeface="Calibri" pitchFamily="34" charset="-122"/>
                <a:cs typeface="Calibri" pitchFamily="34" charset="-120"/>
              </a:rPr>
              <a:t>Organic delta +5.6 (+19.4%) -- no calendar help required.</a:t>
            </a:r>
            <a:endParaRPr lang="en-US" sz="950" dirty="0"/>
          </a:p>
        </p:txBody>
      </p:sp>
      <p:sp>
        <p:nvSpPr>
          <p:cNvPr id="13" name="Text 10"/>
          <p:cNvSpPr/>
          <p:nvPr/>
        </p:nvSpPr>
        <p:spPr>
          <a:xfrm>
            <a:off x="274320" y="4041648"/>
            <a:ext cx="8595360" cy="237744"/>
          </a:xfrm>
          <a:prstGeom prst="rect">
            <a:avLst/>
          </a:prstGeom>
          <a:noFill/>
          <a:ln/>
        </p:spPr>
        <p:txBody>
          <a:bodyPr wrap="square" rtlCol="0" anchor="ctr"/>
          <a:lstStyle/>
          <a:p>
            <a:pPr indent="0" marL="0">
              <a:buNone/>
            </a:pPr>
            <a:r>
              <a:rPr lang="en-US" sz="1050" b="1" dirty="0">
                <a:solidFill>
                  <a:srgbClr val="222222"/>
                </a:solidFill>
                <a:latin typeface="Calibri" pitchFamily="34" charset="0"/>
                <a:ea typeface="Calibri" pitchFamily="34" charset="-122"/>
                <a:cs typeface="Calibri" pitchFamily="34" charset="-120"/>
              </a:rPr>
              <a:t>Best &amp; worst organic months (calendar-adjusted):</a:t>
            </a:r>
            <a:endParaRPr lang="en-US" sz="105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274320" y="4315968"/>
          <a:ext cx="8595360" cy="603504"/>
        </p:xfrm>
        <a:graphic>
          <a:graphicData uri="http://schemas.openxmlformats.org/drawingml/2006/table">
            <a:tbl>
              <a:tblPr/>
              <a:tblGrid>
                <a:gridCol w="1719072"/>
                <a:gridCol w="1719072"/>
                <a:gridCol w="1719072"/>
                <a:gridCol w="1719072"/>
                <a:gridCol w="1719072"/>
              </a:tblGrid>
              <a:tr h="283464">
                <a:tc>
                  <a:txBody>
                    <a:bodyPr/>
                    <a:lstStyle/>
                    <a:p>
                      <a:pPr algn="ctr" indent="0" marL="0">
                        <a:buNone/>
                      </a:pPr>
                      <a:r>
                        <a:rPr lang="en-US" sz="1000" b="1" dirty="0">
                          <a:solidFill>
                            <a:srgbClr val="FFFFFF"/>
                          </a:solidFill>
                        </a:rPr>
                        <a:t>Strongest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7D34"/>
                    </a:solidFill>
                  </a:tcPr>
                </a:tc>
                <a:tc>
                  <a:txBody>
                    <a:bodyPr/>
                    <a:lstStyle/>
                    <a:p>
                      <a:pPr algn="ctr" indent="0" marL="0">
                        <a:buNone/>
                      </a:pPr>
                      <a:r>
                        <a:rPr lang="en-US" sz="1000" b="1" dirty="0">
                          <a:solidFill>
                            <a:srgbClr val="FFFFFF"/>
                          </a:solidFill>
                        </a:rPr>
                        <a:t>Jun +33.2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7D34"/>
                    </a:solidFill>
                  </a:tcPr>
                </a:tc>
                <a:tc>
                  <a:txBody>
                    <a:bodyPr/>
                    <a:lstStyle/>
                    <a:p>
                      <a:pPr algn="ctr" indent="0" marL="0">
                        <a:buNone/>
                      </a:pPr>
                      <a:r>
                        <a:rPr lang="en-US" sz="1000" b="1" dirty="0">
                          <a:solidFill>
                            <a:srgbClr val="FFFFFF"/>
                          </a:solidFill>
                        </a:rPr>
                        <a:t>Mar +13.4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7D34"/>
                    </a:solidFill>
                  </a:tcPr>
                </a:tc>
                <a:tc>
                  <a:txBody>
                    <a:bodyPr/>
                    <a:lstStyle/>
                    <a:p>
                      <a:pPr algn="ctr" indent="0" marL="0">
                        <a:buNone/>
                      </a:pPr>
                      <a:r>
                        <a:rPr lang="en-US" sz="1000" b="1" dirty="0">
                          <a:solidFill>
                            <a:srgbClr val="FFFFFF"/>
                          </a:solidFill>
                        </a:rPr>
                        <a:t>Jan +5.8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7D34"/>
                    </a:solidFill>
                  </a:tcPr>
                </a:tc>
                <a:tc>
                  <a:txBody>
                    <a:bodyPr/>
                    <a:lstStyle/>
                    <a:p>
                      <a:pPr algn="ctr" indent="0" marL="0">
                        <a:buNone/>
                      </a:pPr>
                      <a:r>
                        <a:rPr lang="en-US" sz="1000" b="1" dirty="0">
                          <a:solidFill>
                            <a:srgbClr val="FFFFFF"/>
                          </a:solidFill>
                        </a:rPr>
                        <a:t>Apr +5.0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7D34"/>
                    </a:solidFill>
                  </a:tcPr>
                </a:tc>
              </a:tr>
              <a:tr h="283464">
                <a:tc>
                  <a:txBody>
                    <a:bodyPr/>
                    <a:lstStyle/>
                    <a:p>
                      <a:pPr algn="ctr" indent="0" marL="0">
                        <a:buNone/>
                      </a:pPr>
                      <a:r>
                        <a:rPr lang="en-US" sz="1000" b="1" dirty="0">
                          <a:solidFill>
                            <a:srgbClr val="FFFFFF"/>
                          </a:solidFill>
                        </a:rPr>
                        <a:t>Weakest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1000" b="1" dirty="0">
                          <a:solidFill>
                            <a:srgbClr val="FFFFFF"/>
                          </a:solidFill>
                        </a:rPr>
                        <a:t>Aug −19.0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1000" b="1" dirty="0">
                          <a:solidFill>
                            <a:srgbClr val="FFFFFF"/>
                          </a:solidFill>
                        </a:rPr>
                        <a:t>Jul −16.0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1000" b="1" dirty="0">
                          <a:solidFill>
                            <a:srgbClr val="FFFFFF"/>
                          </a:solidFill>
                        </a:rPr>
                        <a:t>May −11.8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1000" b="1" dirty="0">
                          <a:solidFill>
                            <a:srgbClr val="FFFFFF"/>
                          </a:solidFill>
                        </a:rPr>
                        <a:t>Feb −9.0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r>
            </a:tbl>
          </a:graphicData>
        </a:graphic>
      </p:graphicFrame>
      <p:sp>
        <p:nvSpPr>
          <p:cNvPr id="15" name="Shape 11"/>
          <p:cNvSpPr/>
          <p:nvPr/>
        </p:nvSpPr>
        <p:spPr>
          <a:xfrm>
            <a:off x="274320" y="4974336"/>
            <a:ext cx="8595360" cy="128016"/>
          </a:xfrm>
          <a:prstGeom prst="rect">
            <a:avLst/>
          </a:prstGeom>
          <a:solidFill>
            <a:srgbClr val="ECEFF1"/>
          </a:solidFill>
          <a:ln w="12700">
            <a:solidFill>
              <a:srgbClr val="CCCCCC"/>
            </a:solidFill>
            <a:prstDash val="solid"/>
          </a:ln>
        </p:spPr>
      </p:sp>
      <p:sp>
        <p:nvSpPr>
          <p:cNvPr id="16" name="Text 12"/>
          <p:cNvSpPr/>
          <p:nvPr/>
        </p:nvSpPr>
        <p:spPr>
          <a:xfrm>
            <a:off x="384048" y="4983480"/>
            <a:ext cx="8321040" cy="109728"/>
          </a:xfrm>
          <a:prstGeom prst="rect">
            <a:avLst/>
          </a:prstGeom>
          <a:noFill/>
          <a:ln/>
        </p:spPr>
        <p:txBody>
          <a:bodyPr wrap="square" rtlCol="0" anchor="ctr"/>
          <a:lstStyle/>
          <a:p>
            <a:pPr indent="0" marL="0">
              <a:buNone/>
            </a:pPr>
            <a:r>
              <a:rPr lang="en-US" sz="850" dirty="0">
                <a:solidFill>
                  <a:srgbClr val="222222"/>
                </a:solidFill>
                <a:latin typeface="Calibri" pitchFamily="34" charset="0"/>
                <a:ea typeface="Calibri" pitchFamily="34" charset="-122"/>
                <a:cs typeface="Calibri" pitchFamily="34" charset="-120"/>
              </a:rPr>
              <a:t>Adult Clinics bleed −11.3% organically, confirming structural weakness; Youth Clinics gain +19.4% organically, validating the shift. Races barely move organically, revealing we're dependent on calendar artifacts and promotional timing to fill them.</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7474F"/>
          </a:solidFill>
          <a:ln w="12700">
            <a:solidFill>
              <a:srgbClr val="37474F"/>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4  —  Did We Really Lose Events?  Event-Level Disposition</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6 / 8</a:t>
            </a:r>
            <a:endParaRPr lang="en-US" sz="900" dirty="0"/>
          </a:p>
        </p:txBody>
      </p:sp>
      <p:sp>
        <p:nvSpPr>
          <p:cNvPr id="5" name="Shape 3"/>
          <p:cNvSpPr/>
          <p:nvPr/>
        </p:nvSpPr>
        <p:spPr>
          <a:xfrm>
            <a:off x="274320" y="694944"/>
            <a:ext cx="2029968" cy="1152144"/>
          </a:xfrm>
          <a:prstGeom prst="rect">
            <a:avLst/>
          </a:prstGeom>
          <a:solidFill>
            <a:srgbClr val="E8F5E9"/>
          </a:solidFill>
          <a:ln w="12700">
            <a:solidFill>
              <a:srgbClr val="1E7D34"/>
            </a:solidFill>
            <a:prstDash val="solid"/>
          </a:ln>
        </p:spPr>
      </p:sp>
      <p:sp>
        <p:nvSpPr>
          <p:cNvPr id="6" name="Text 4"/>
          <p:cNvSpPr/>
          <p:nvPr/>
        </p:nvSpPr>
        <p:spPr>
          <a:xfrm>
            <a:off x="274320" y="722376"/>
            <a:ext cx="2029968" cy="475488"/>
          </a:xfrm>
          <a:prstGeom prst="rect">
            <a:avLst/>
          </a:prstGeom>
          <a:noFill/>
          <a:ln/>
        </p:spPr>
        <p:txBody>
          <a:bodyPr wrap="square" rtlCol="0" anchor="ctr"/>
          <a:lstStyle/>
          <a:p>
            <a:pPr algn="ctr" indent="0" marL="0">
              <a:buNone/>
            </a:pPr>
            <a:r>
              <a:rPr lang="en-US" sz="2700" b="1" dirty="0">
                <a:solidFill>
                  <a:srgbClr val="1E7D34"/>
                </a:solidFill>
                <a:latin typeface="Calibri" pitchFamily="34" charset="0"/>
                <a:ea typeface="Calibri" pitchFamily="34" charset="-122"/>
                <a:cs typeface="Calibri" pitchFamily="34" charset="-120"/>
              </a:rPr>
              <a:t>746</a:t>
            </a:r>
            <a:endParaRPr lang="en-US" sz="2700" dirty="0"/>
          </a:p>
        </p:txBody>
      </p:sp>
      <p:sp>
        <p:nvSpPr>
          <p:cNvPr id="7" name="Text 5"/>
          <p:cNvSpPr/>
          <p:nvPr/>
        </p:nvSpPr>
        <p:spPr>
          <a:xfrm>
            <a:off x="274320" y="1161288"/>
            <a:ext cx="2029968" cy="201168"/>
          </a:xfrm>
          <a:prstGeom prst="rect">
            <a:avLst/>
          </a:prstGeom>
          <a:noFill/>
          <a:ln/>
        </p:spPr>
        <p:txBody>
          <a:bodyPr wrap="square" rtlCol="0" anchor="ctr"/>
          <a:lstStyle/>
          <a:p>
            <a:pPr algn="ctr" indent="0" marL="0">
              <a:buNone/>
            </a:pPr>
            <a:r>
              <a:rPr lang="en-US" sz="900" i="1" dirty="0">
                <a:solidFill>
                  <a:srgbClr val="1E7D34"/>
                </a:solidFill>
                <a:latin typeface="Calibri" pitchFamily="34" charset="0"/>
                <a:ea typeface="Calibri" pitchFamily="34" charset="-122"/>
                <a:cs typeface="Calibri" pitchFamily="34" charset="-120"/>
              </a:rPr>
              <a:t>63% of 2025</a:t>
            </a:r>
            <a:endParaRPr lang="en-US" sz="900" dirty="0"/>
          </a:p>
        </p:txBody>
      </p:sp>
      <p:sp>
        <p:nvSpPr>
          <p:cNvPr id="8" name="Text 6"/>
          <p:cNvSpPr/>
          <p:nvPr/>
        </p:nvSpPr>
        <p:spPr>
          <a:xfrm>
            <a:off x="274320" y="1344168"/>
            <a:ext cx="2029968" cy="201168"/>
          </a:xfrm>
          <a:prstGeom prst="rect">
            <a:avLst/>
          </a:prstGeom>
          <a:noFill/>
          <a:ln/>
        </p:spPr>
        <p:txBody>
          <a:bodyPr wrap="square" rtlCol="0" anchor="ctr"/>
          <a:lstStyle/>
          <a:p>
            <a:pPr algn="ctr" indent="0" marL="0">
              <a:buNone/>
            </a:pPr>
            <a:r>
              <a:rPr lang="en-US" sz="1000" b="1" dirty="0">
                <a:solidFill>
                  <a:srgbClr val="1E7D34"/>
                </a:solidFill>
                <a:latin typeface="Calibri" pitchFamily="34" charset="0"/>
                <a:ea typeface="Calibri" pitchFamily="34" charset="-122"/>
                <a:cs typeface="Calibri" pitchFamily="34" charset="-120"/>
              </a:rPr>
              <a:t>Retained</a:t>
            </a:r>
            <a:endParaRPr lang="en-US" sz="1000" dirty="0"/>
          </a:p>
        </p:txBody>
      </p:sp>
      <p:sp>
        <p:nvSpPr>
          <p:cNvPr id="9" name="Text 7"/>
          <p:cNvSpPr/>
          <p:nvPr/>
        </p:nvSpPr>
        <p:spPr>
          <a:xfrm>
            <a:off x="274320" y="1527048"/>
            <a:ext cx="2029968" cy="256032"/>
          </a:xfrm>
          <a:prstGeom prst="rect">
            <a:avLst/>
          </a:prstGeom>
          <a:noFill/>
          <a:ln/>
        </p:spPr>
        <p:txBody>
          <a:bodyPr wrap="square" rtlCol="0" anchor="ctr"/>
          <a:lstStyle/>
          <a:p>
            <a:pPr algn="ctr" indent="0" marL="0">
              <a:buNone/>
            </a:pPr>
            <a:r>
              <a:rPr lang="en-US" sz="850" dirty="0">
                <a:solidFill>
                  <a:srgbClr val="555555"/>
                </a:solidFill>
                <a:latin typeface="Calibri" pitchFamily="34" charset="0"/>
                <a:ea typeface="Calibri" pitchFamily="34" charset="-122"/>
                <a:cs typeface="Calibri" pitchFamily="34" charset="-120"/>
              </a:rPr>
              <a:t>Same event, same month</a:t>
            </a:r>
            <a:endParaRPr lang="en-US" sz="850" dirty="0"/>
          </a:p>
        </p:txBody>
      </p:sp>
      <p:sp>
        <p:nvSpPr>
          <p:cNvPr id="10" name="Shape 8"/>
          <p:cNvSpPr/>
          <p:nvPr/>
        </p:nvSpPr>
        <p:spPr>
          <a:xfrm>
            <a:off x="2450592" y="694944"/>
            <a:ext cx="2029968" cy="1152144"/>
          </a:xfrm>
          <a:prstGeom prst="rect">
            <a:avLst/>
          </a:prstGeom>
          <a:solidFill>
            <a:srgbClr val="FFF8E1"/>
          </a:solidFill>
          <a:ln w="12700">
            <a:solidFill>
              <a:srgbClr val="E65100"/>
            </a:solidFill>
            <a:prstDash val="solid"/>
          </a:ln>
        </p:spPr>
      </p:sp>
      <p:sp>
        <p:nvSpPr>
          <p:cNvPr id="11" name="Text 9"/>
          <p:cNvSpPr/>
          <p:nvPr/>
        </p:nvSpPr>
        <p:spPr>
          <a:xfrm>
            <a:off x="2450592" y="722376"/>
            <a:ext cx="2029968" cy="475488"/>
          </a:xfrm>
          <a:prstGeom prst="rect">
            <a:avLst/>
          </a:prstGeom>
          <a:noFill/>
          <a:ln/>
        </p:spPr>
        <p:txBody>
          <a:bodyPr wrap="square" rtlCol="0" anchor="ctr"/>
          <a:lstStyle/>
          <a:p>
            <a:pPr algn="ctr" indent="0" marL="0">
              <a:buNone/>
            </a:pPr>
            <a:r>
              <a:rPr lang="en-US" sz="2700" b="1" dirty="0">
                <a:solidFill>
                  <a:srgbClr val="E65100"/>
                </a:solidFill>
                <a:latin typeface="Calibri" pitchFamily="34" charset="0"/>
                <a:ea typeface="Calibri" pitchFamily="34" charset="-122"/>
                <a:cs typeface="Calibri" pitchFamily="34" charset="-120"/>
              </a:rPr>
              <a:t>123</a:t>
            </a:r>
            <a:endParaRPr lang="en-US" sz="2700" dirty="0"/>
          </a:p>
        </p:txBody>
      </p:sp>
      <p:sp>
        <p:nvSpPr>
          <p:cNvPr id="12" name="Text 10"/>
          <p:cNvSpPr/>
          <p:nvPr/>
        </p:nvSpPr>
        <p:spPr>
          <a:xfrm>
            <a:off x="2450592" y="1161288"/>
            <a:ext cx="2029968" cy="201168"/>
          </a:xfrm>
          <a:prstGeom prst="rect">
            <a:avLst/>
          </a:prstGeom>
          <a:noFill/>
          <a:ln/>
        </p:spPr>
        <p:txBody>
          <a:bodyPr wrap="square" rtlCol="0" anchor="ctr"/>
          <a:lstStyle/>
          <a:p>
            <a:pPr algn="ctr" indent="0" marL="0">
              <a:buNone/>
            </a:pPr>
            <a:r>
              <a:rPr lang="en-US" sz="900" i="1" dirty="0">
                <a:solidFill>
                  <a:srgbClr val="E65100"/>
                </a:solidFill>
                <a:latin typeface="Calibri" pitchFamily="34" charset="0"/>
                <a:ea typeface="Calibri" pitchFamily="34" charset="-122"/>
                <a:cs typeface="Calibri" pitchFamily="34" charset="-120"/>
              </a:rPr>
              <a:t>10% of 2025</a:t>
            </a:r>
            <a:endParaRPr lang="en-US" sz="900" dirty="0"/>
          </a:p>
        </p:txBody>
      </p:sp>
      <p:sp>
        <p:nvSpPr>
          <p:cNvPr id="13" name="Text 11"/>
          <p:cNvSpPr/>
          <p:nvPr/>
        </p:nvSpPr>
        <p:spPr>
          <a:xfrm>
            <a:off x="2450592" y="1344168"/>
            <a:ext cx="2029968" cy="201168"/>
          </a:xfrm>
          <a:prstGeom prst="rect">
            <a:avLst/>
          </a:prstGeom>
          <a:noFill/>
          <a:ln/>
        </p:spPr>
        <p:txBody>
          <a:bodyPr wrap="square" rtlCol="0" anchor="ctr"/>
          <a:lstStyle/>
          <a:p>
            <a:pPr algn="ctr" indent="0" marL="0">
              <a:buNone/>
            </a:pPr>
            <a:r>
              <a:rPr lang="en-US" sz="1000" b="1" dirty="0">
                <a:solidFill>
                  <a:srgbClr val="E65100"/>
                </a:solidFill>
                <a:latin typeface="Calibri" pitchFamily="34" charset="0"/>
                <a:ea typeface="Calibri" pitchFamily="34" charset="-122"/>
                <a:cs typeface="Calibri" pitchFamily="34" charset="-120"/>
              </a:rPr>
              <a:t>Shifted</a:t>
            </a:r>
            <a:endParaRPr lang="en-US" sz="1000" dirty="0"/>
          </a:p>
        </p:txBody>
      </p:sp>
      <p:sp>
        <p:nvSpPr>
          <p:cNvPr id="14" name="Text 12"/>
          <p:cNvSpPr/>
          <p:nvPr/>
        </p:nvSpPr>
        <p:spPr>
          <a:xfrm>
            <a:off x="2450592" y="1527048"/>
            <a:ext cx="2029968" cy="256032"/>
          </a:xfrm>
          <a:prstGeom prst="rect">
            <a:avLst/>
          </a:prstGeom>
          <a:noFill/>
          <a:ln/>
        </p:spPr>
        <p:txBody>
          <a:bodyPr wrap="square" rtlCol="0" anchor="ctr"/>
          <a:lstStyle/>
          <a:p>
            <a:pPr algn="ctr" indent="0" marL="0">
              <a:buNone/>
            </a:pPr>
            <a:r>
              <a:rPr lang="en-US" sz="850" dirty="0">
                <a:solidFill>
                  <a:srgbClr val="555555"/>
                </a:solidFill>
                <a:latin typeface="Calibri" pitchFamily="34" charset="0"/>
                <a:ea typeface="Calibri" pitchFamily="34" charset="-122"/>
                <a:cs typeface="Calibri" pitchFamily="34" charset="-120"/>
              </a:rPr>
              <a:t>Same event, diff month</a:t>
            </a:r>
            <a:endParaRPr lang="en-US" sz="850" dirty="0"/>
          </a:p>
        </p:txBody>
      </p:sp>
      <p:sp>
        <p:nvSpPr>
          <p:cNvPr id="15" name="Shape 13"/>
          <p:cNvSpPr/>
          <p:nvPr/>
        </p:nvSpPr>
        <p:spPr>
          <a:xfrm>
            <a:off x="4626864" y="694944"/>
            <a:ext cx="2029968" cy="1152144"/>
          </a:xfrm>
          <a:prstGeom prst="rect">
            <a:avLst/>
          </a:prstGeom>
          <a:solidFill>
            <a:srgbClr val="FFCDD2"/>
          </a:solidFill>
          <a:ln w="12700">
            <a:solidFill>
              <a:srgbClr val="C62828"/>
            </a:solidFill>
            <a:prstDash val="solid"/>
          </a:ln>
        </p:spPr>
      </p:sp>
      <p:sp>
        <p:nvSpPr>
          <p:cNvPr id="16" name="Text 14"/>
          <p:cNvSpPr/>
          <p:nvPr/>
        </p:nvSpPr>
        <p:spPr>
          <a:xfrm>
            <a:off x="4626864" y="722376"/>
            <a:ext cx="2029968" cy="475488"/>
          </a:xfrm>
          <a:prstGeom prst="rect">
            <a:avLst/>
          </a:prstGeom>
          <a:noFill/>
          <a:ln/>
        </p:spPr>
        <p:txBody>
          <a:bodyPr wrap="square" rtlCol="0" anchor="ctr"/>
          <a:lstStyle/>
          <a:p>
            <a:pPr algn="ctr" indent="0" marL="0">
              <a:buNone/>
            </a:pPr>
            <a:r>
              <a:rPr lang="en-US" sz="2700" b="1" dirty="0">
                <a:solidFill>
                  <a:srgbClr val="C62828"/>
                </a:solidFill>
                <a:latin typeface="Calibri" pitchFamily="34" charset="0"/>
                <a:ea typeface="Calibri" pitchFamily="34" charset="-122"/>
                <a:cs typeface="Calibri" pitchFamily="34" charset="-120"/>
              </a:rPr>
              <a:t>296</a:t>
            </a:r>
            <a:endParaRPr lang="en-US" sz="2700" dirty="0"/>
          </a:p>
        </p:txBody>
      </p:sp>
      <p:sp>
        <p:nvSpPr>
          <p:cNvPr id="17" name="Text 15"/>
          <p:cNvSpPr/>
          <p:nvPr/>
        </p:nvSpPr>
        <p:spPr>
          <a:xfrm>
            <a:off x="4626864" y="1161288"/>
            <a:ext cx="2029968" cy="201168"/>
          </a:xfrm>
          <a:prstGeom prst="rect">
            <a:avLst/>
          </a:prstGeom>
          <a:noFill/>
          <a:ln/>
        </p:spPr>
        <p:txBody>
          <a:bodyPr wrap="square" rtlCol="0" anchor="ctr"/>
          <a:lstStyle/>
          <a:p>
            <a:pPr algn="ctr" indent="0" marL="0">
              <a:buNone/>
            </a:pPr>
            <a:r>
              <a:rPr lang="en-US" sz="900" i="1" dirty="0">
                <a:solidFill>
                  <a:srgbClr val="C62828"/>
                </a:solidFill>
                <a:latin typeface="Calibri" pitchFamily="34" charset="0"/>
                <a:ea typeface="Calibri" pitchFamily="34" charset="-122"/>
                <a:cs typeface="Calibri" pitchFamily="34" charset="-120"/>
              </a:rPr>
              <a:t>25% of 2025</a:t>
            </a:r>
            <a:endParaRPr lang="en-US" sz="900" dirty="0"/>
          </a:p>
        </p:txBody>
      </p:sp>
      <p:sp>
        <p:nvSpPr>
          <p:cNvPr id="18" name="Text 16"/>
          <p:cNvSpPr/>
          <p:nvPr/>
        </p:nvSpPr>
        <p:spPr>
          <a:xfrm>
            <a:off x="4626864" y="1344168"/>
            <a:ext cx="2029968" cy="201168"/>
          </a:xfrm>
          <a:prstGeom prst="rect">
            <a:avLst/>
          </a:prstGeom>
          <a:noFill/>
          <a:ln/>
        </p:spPr>
        <p:txBody>
          <a:bodyPr wrap="square" rtlCol="0" anchor="ctr"/>
          <a:lstStyle/>
          <a:p>
            <a:pPr algn="ctr" indent="0" marL="0">
              <a:buNone/>
            </a:pPr>
            <a:r>
              <a:rPr lang="en-US" sz="1000" b="1" dirty="0">
                <a:solidFill>
                  <a:srgbClr val="C62828"/>
                </a:solidFill>
                <a:latin typeface="Calibri" pitchFamily="34" charset="0"/>
                <a:ea typeface="Calibri" pitchFamily="34" charset="-122"/>
                <a:cs typeface="Calibri" pitchFamily="34" charset="-120"/>
              </a:rPr>
              <a:t>Lost</a:t>
            </a:r>
            <a:endParaRPr lang="en-US" sz="1000" dirty="0"/>
          </a:p>
        </p:txBody>
      </p:sp>
      <p:sp>
        <p:nvSpPr>
          <p:cNvPr id="19" name="Text 17"/>
          <p:cNvSpPr/>
          <p:nvPr/>
        </p:nvSpPr>
        <p:spPr>
          <a:xfrm>
            <a:off x="4626864" y="1527048"/>
            <a:ext cx="2029968" cy="256032"/>
          </a:xfrm>
          <a:prstGeom prst="rect">
            <a:avLst/>
          </a:prstGeom>
          <a:noFill/>
          <a:ln/>
        </p:spPr>
        <p:txBody>
          <a:bodyPr wrap="square" rtlCol="0" anchor="ctr"/>
          <a:lstStyle/>
          <a:p>
            <a:pPr algn="ctr" indent="0" marL="0">
              <a:buNone/>
            </a:pPr>
            <a:r>
              <a:rPr lang="en-US" sz="850" dirty="0">
                <a:solidFill>
                  <a:srgbClr val="555555"/>
                </a:solidFill>
                <a:latin typeface="Calibri" pitchFamily="34" charset="0"/>
                <a:ea typeface="Calibri" pitchFamily="34" charset="-122"/>
                <a:cs typeface="Calibri" pitchFamily="34" charset="-120"/>
              </a:rPr>
              <a:t>Did not return to 2026</a:t>
            </a:r>
            <a:endParaRPr lang="en-US" sz="850" dirty="0"/>
          </a:p>
        </p:txBody>
      </p:sp>
      <p:sp>
        <p:nvSpPr>
          <p:cNvPr id="20" name="Shape 18"/>
          <p:cNvSpPr/>
          <p:nvPr/>
        </p:nvSpPr>
        <p:spPr>
          <a:xfrm>
            <a:off x="6803136" y="694944"/>
            <a:ext cx="2029968" cy="1152144"/>
          </a:xfrm>
          <a:prstGeom prst="rect">
            <a:avLst/>
          </a:prstGeom>
          <a:solidFill>
            <a:srgbClr val="E3F2FD"/>
          </a:solidFill>
          <a:ln w="12700">
            <a:solidFill>
              <a:srgbClr val="1565C0"/>
            </a:solidFill>
            <a:prstDash val="solid"/>
          </a:ln>
        </p:spPr>
      </p:sp>
      <p:sp>
        <p:nvSpPr>
          <p:cNvPr id="21" name="Text 19"/>
          <p:cNvSpPr/>
          <p:nvPr/>
        </p:nvSpPr>
        <p:spPr>
          <a:xfrm>
            <a:off x="6803136" y="722376"/>
            <a:ext cx="2029968" cy="475488"/>
          </a:xfrm>
          <a:prstGeom prst="rect">
            <a:avLst/>
          </a:prstGeom>
          <a:noFill/>
          <a:ln/>
        </p:spPr>
        <p:txBody>
          <a:bodyPr wrap="square" rtlCol="0" anchor="ctr"/>
          <a:lstStyle/>
          <a:p>
            <a:pPr algn="ctr" indent="0" marL="0">
              <a:buNone/>
            </a:pPr>
            <a:r>
              <a:rPr lang="en-US" sz="2700" b="1" dirty="0">
                <a:solidFill>
                  <a:srgbClr val="1565C0"/>
                </a:solidFill>
                <a:latin typeface="Calibri" pitchFamily="34" charset="0"/>
                <a:ea typeface="Calibri" pitchFamily="34" charset="-122"/>
                <a:cs typeface="Calibri" pitchFamily="34" charset="-120"/>
              </a:rPr>
              <a:t>265</a:t>
            </a:r>
            <a:endParaRPr lang="en-US" sz="2700" dirty="0"/>
          </a:p>
        </p:txBody>
      </p:sp>
      <p:sp>
        <p:nvSpPr>
          <p:cNvPr id="22" name="Text 20"/>
          <p:cNvSpPr/>
          <p:nvPr/>
        </p:nvSpPr>
        <p:spPr>
          <a:xfrm>
            <a:off x="6803136" y="1161288"/>
            <a:ext cx="2029968" cy="201168"/>
          </a:xfrm>
          <a:prstGeom prst="rect">
            <a:avLst/>
          </a:prstGeom>
          <a:noFill/>
          <a:ln/>
        </p:spPr>
        <p:txBody>
          <a:bodyPr wrap="square" rtlCol="0" anchor="ctr"/>
          <a:lstStyle/>
          <a:p>
            <a:pPr algn="ctr" indent="0" marL="0">
              <a:buNone/>
            </a:pPr>
            <a:r>
              <a:rPr lang="en-US" sz="900" i="1" dirty="0">
                <a:solidFill>
                  <a:srgbClr val="1565C0"/>
                </a:solidFill>
                <a:latin typeface="Calibri" pitchFamily="34" charset="0"/>
                <a:ea typeface="Calibri" pitchFamily="34" charset="-122"/>
                <a:cs typeface="Calibri" pitchFamily="34" charset="-120"/>
              </a:rPr>
              <a:t>22% of 2025</a:t>
            </a:r>
            <a:endParaRPr lang="en-US" sz="900" dirty="0"/>
          </a:p>
        </p:txBody>
      </p:sp>
      <p:sp>
        <p:nvSpPr>
          <p:cNvPr id="23" name="Text 21"/>
          <p:cNvSpPr/>
          <p:nvPr/>
        </p:nvSpPr>
        <p:spPr>
          <a:xfrm>
            <a:off x="6803136" y="1344168"/>
            <a:ext cx="2029968" cy="201168"/>
          </a:xfrm>
          <a:prstGeom prst="rect">
            <a:avLst/>
          </a:prstGeom>
          <a:noFill/>
          <a:ln/>
        </p:spPr>
        <p:txBody>
          <a:bodyPr wrap="square" rtlCol="0" anchor="ctr"/>
          <a:lstStyle/>
          <a:p>
            <a:pPr algn="ctr" indent="0" marL="0">
              <a:buNone/>
            </a:pPr>
            <a:r>
              <a:rPr lang="en-US" sz="1000" b="1" dirty="0">
                <a:solidFill>
                  <a:srgbClr val="1565C0"/>
                </a:solidFill>
                <a:latin typeface="Calibri" pitchFamily="34" charset="0"/>
                <a:ea typeface="Calibri" pitchFamily="34" charset="-122"/>
                <a:cs typeface="Calibri" pitchFamily="34" charset="-120"/>
              </a:rPr>
              <a:t>New</a:t>
            </a:r>
            <a:endParaRPr lang="en-US" sz="1000" dirty="0"/>
          </a:p>
        </p:txBody>
      </p:sp>
      <p:sp>
        <p:nvSpPr>
          <p:cNvPr id="24" name="Text 22"/>
          <p:cNvSpPr/>
          <p:nvPr/>
        </p:nvSpPr>
        <p:spPr>
          <a:xfrm>
            <a:off x="6803136" y="1527048"/>
            <a:ext cx="2029968" cy="256032"/>
          </a:xfrm>
          <a:prstGeom prst="rect">
            <a:avLst/>
          </a:prstGeom>
          <a:noFill/>
          <a:ln/>
        </p:spPr>
        <p:txBody>
          <a:bodyPr wrap="square" rtlCol="0" anchor="ctr"/>
          <a:lstStyle/>
          <a:p>
            <a:pPr algn="ctr" indent="0" marL="0">
              <a:buNone/>
            </a:pPr>
            <a:r>
              <a:rPr lang="en-US" sz="850" dirty="0">
                <a:solidFill>
                  <a:srgbClr val="555555"/>
                </a:solidFill>
                <a:latin typeface="Calibri" pitchFamily="34" charset="0"/>
                <a:ea typeface="Calibri" pitchFamily="34" charset="-122"/>
                <a:cs typeface="Calibri" pitchFamily="34" charset="-120"/>
              </a:rPr>
              <a:t>Brand new to 2026</a:t>
            </a:r>
            <a:endParaRPr lang="en-US" sz="850" dirty="0"/>
          </a:p>
        </p:txBody>
      </p:sp>
      <p:sp>
        <p:nvSpPr>
          <p:cNvPr id="25" name="Text 23"/>
          <p:cNvSpPr/>
          <p:nvPr/>
        </p:nvSpPr>
        <p:spPr>
          <a:xfrm>
            <a:off x="274320" y="1920240"/>
            <a:ext cx="8595360" cy="237744"/>
          </a:xfrm>
          <a:prstGeom prst="rect">
            <a:avLst/>
          </a:prstGeom>
          <a:noFill/>
          <a:ln/>
        </p:spPr>
        <p:txBody>
          <a:bodyPr wrap="square" rtlCol="0" anchor="ctr"/>
          <a:lstStyle/>
          <a:p>
            <a:pPr indent="0" marL="0">
              <a:buNone/>
            </a:pPr>
            <a:r>
              <a:rPr lang="en-US" sz="1050" b="1" dirty="0">
                <a:solidFill>
                  <a:srgbClr val="222222"/>
                </a:solidFill>
                <a:latin typeface="Calibri" pitchFamily="34" charset="0"/>
                <a:ea typeface="Calibri" pitchFamily="34" charset="-122"/>
                <a:cs typeface="Calibri" pitchFamily="34" charset="-120"/>
              </a:rPr>
              <a:t>Replacement Rates -- selected months:</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74320" y="2194560"/>
          <a:ext cx="8595360" cy="1261872"/>
        </p:xfrm>
        <a:graphic>
          <a:graphicData uri="http://schemas.openxmlformats.org/drawingml/2006/table">
            <a:tbl>
              <a:tblPr/>
              <a:tblGrid>
                <a:gridCol w="955040"/>
                <a:gridCol w="955040"/>
                <a:gridCol w="955040"/>
                <a:gridCol w="955040"/>
                <a:gridCol w="955040"/>
                <a:gridCol w="955040"/>
                <a:gridCol w="955040"/>
                <a:gridCol w="955040"/>
                <a:gridCol w="955040"/>
              </a:tblGrid>
              <a:tr h="347472">
                <a:tc>
                  <a:txBody>
                    <a:bodyPr/>
                    <a:lstStyle/>
                    <a:p>
                      <a:pPr algn="ctr" indent="0" marL="0">
                        <a:buNone/>
                      </a:pPr>
                      <a:r>
                        <a:rPr lang="en-US" sz="1000" b="1" dirty="0">
                          <a:solidFill>
                            <a:srgbClr val="FFFFFF"/>
                          </a:solidFill>
                        </a:rPr>
                        <a:t>Month</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2025</a:t>
                      </a:r>
                      <a:endParaRPr lang="en-US" sz="1000" dirty="0"/>
                    </a:p>
                    <a:p>
                      <a:pPr algn="ctr" indent="0" marL="0">
                        <a:buNone/>
                      </a:pPr>
                      <a:r>
                        <a:rPr lang="en-US" sz="1000" b="1" dirty="0">
                          <a:solidFill>
                            <a:srgbClr val="FFFFFF"/>
                          </a:solidFill>
                        </a:rPr>
                        <a:t>Events</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Retained</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7D34"/>
                    </a:solidFill>
                  </a:tcPr>
                </a:tc>
                <a:tc>
                  <a:txBody>
                    <a:bodyPr/>
                    <a:lstStyle/>
                    <a:p>
                      <a:pPr algn="ctr" indent="0" marL="0">
                        <a:buNone/>
                      </a:pPr>
                      <a:r>
                        <a:rPr lang="en-US" sz="1000" b="1" dirty="0">
                          <a:solidFill>
                            <a:srgbClr val="FFFFFF"/>
                          </a:solidFill>
                        </a:rPr>
                        <a:t>Shifted</a:t>
                      </a:r>
                      <a:endParaRPr lang="en-US" sz="1000" dirty="0"/>
                    </a:p>
                    <a:p>
                      <a:pPr algn="ctr" indent="0" marL="0">
                        <a:buNone/>
                      </a:pPr>
                      <a:r>
                        <a:rPr lang="en-US" sz="1000" b="1" dirty="0">
                          <a:solidFill>
                            <a:srgbClr val="FFFFFF"/>
                          </a:solidFill>
                        </a:rPr>
                        <a:t>Out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65100"/>
                    </a:solidFill>
                  </a:tcPr>
                </a:tc>
                <a:tc>
                  <a:txBody>
                    <a:bodyPr/>
                    <a:lstStyle/>
                    <a:p>
                      <a:pPr algn="ctr" indent="0" marL="0">
                        <a:buNone/>
                      </a:pPr>
                      <a:r>
                        <a:rPr lang="en-US" sz="1000" b="1" dirty="0">
                          <a:solidFill>
                            <a:srgbClr val="FFFFFF"/>
                          </a:solidFill>
                        </a:rPr>
                        <a:t>Lost</a:t>
                      </a:r>
                      <a:endParaRPr lang="en-US" sz="1000" dirty="0"/>
                    </a:p>
                    <a:p>
                      <a:pPr algn="ctr" indent="0" marL="0">
                        <a:buNone/>
                      </a:pPr>
                      <a:r>
                        <a:rPr lang="en-US" sz="1000" b="1" dirty="0">
                          <a:solidFill>
                            <a:srgbClr val="FFFFFF"/>
                          </a:solidFill>
                        </a:rPr>
                        <a:t>(truly lost)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1000" b="1" dirty="0">
                          <a:solidFill>
                            <a:srgbClr val="FFFFFF"/>
                          </a:solidFill>
                        </a:rPr>
                        <a:t>Shifted</a:t>
                      </a:r>
                      <a:endParaRPr lang="en-US" sz="1000" dirty="0"/>
                    </a:p>
                    <a:p>
                      <a:pPr algn="ctr" indent="0" marL="0">
                        <a:buNone/>
                      </a:pPr>
                      <a:r>
                        <a:rPr lang="en-US" sz="1000" b="1" dirty="0">
                          <a:solidFill>
                            <a:srgbClr val="FFFFFF"/>
                          </a:solidFill>
                        </a:rPr>
                        <a:t>In</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5C0"/>
                    </a:solidFill>
                  </a:tcPr>
                </a:tc>
                <a:tc>
                  <a:txBody>
                    <a:bodyPr/>
                    <a:lstStyle/>
                    <a:p>
                      <a:pPr algn="ctr" indent="0" marL="0">
                        <a:buNone/>
                      </a:pPr>
                      <a:r>
                        <a:rPr lang="en-US" sz="1000" b="1" dirty="0">
                          <a:solidFill>
                            <a:srgbClr val="FFFFFF"/>
                          </a:solidFill>
                        </a:rPr>
                        <a:t>New</a:t>
                      </a:r>
                      <a:endParaRPr lang="en-US" sz="1000" dirty="0"/>
                    </a:p>
                    <a:p>
                      <a:pPr algn="ctr" indent="0" marL="0">
                        <a:buNone/>
                      </a:pPr>
                      <a:r>
                        <a:rPr lang="en-US" sz="1000" b="1" dirty="0">
                          <a:solidFill>
                            <a:srgbClr val="FFFFFF"/>
                          </a:solidFill>
                        </a:rPr>
                        <a:t>Added</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5C0"/>
                    </a:solidFill>
                  </a:tcPr>
                </a:tc>
                <a:tc>
                  <a:txBody>
                    <a:bodyPr/>
                    <a:lstStyle/>
                    <a:p>
                      <a:pPr algn="ctr" indent="0" marL="0">
                        <a:buNone/>
                      </a:pPr>
                      <a:r>
                        <a:rPr lang="en-US" sz="1000" b="1" dirty="0">
                          <a:solidFill>
                            <a:srgbClr val="FFFFFF"/>
                          </a:solidFill>
                        </a:rPr>
                        <a:t>2026</a:t>
                      </a:r>
                      <a:endParaRPr lang="en-US" sz="1000" dirty="0"/>
                    </a:p>
                    <a:p>
                      <a:pPr algn="ctr" indent="0" marL="0">
                        <a:buNone/>
                      </a:pPr>
                      <a:r>
                        <a:rPr lang="en-US" sz="1000" b="1" dirty="0">
                          <a:solidFill>
                            <a:srgbClr val="FFFFFF"/>
                          </a:solidFill>
                        </a:rPr>
                        <a:t>Total</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Repl.</a:t>
                      </a:r>
                      <a:endParaRPr lang="en-US" sz="1000" dirty="0"/>
                    </a:p>
                    <a:p>
                      <a:pPr algn="ctr" indent="0" marL="0">
                        <a:buNone/>
                      </a:pPr>
                      <a:r>
                        <a:rPr lang="en-US" sz="1000" b="1" dirty="0">
                          <a:solidFill>
                            <a:srgbClr val="FFFFFF"/>
                          </a:solidFill>
                        </a:rPr>
                        <a:t>Rate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r h="347472">
                <a:tc>
                  <a:txBody>
                    <a:bodyPr/>
                    <a:lstStyle/>
                    <a:p>
                      <a:pPr algn="l" indent="0" marL="0">
                        <a:buNone/>
                      </a:pPr>
                      <a:r>
                        <a:rPr lang="en-US" sz="1000" b="1" dirty="0">
                          <a:solidFill>
                            <a:srgbClr val="C62828"/>
                          </a:solidFill>
                        </a:rPr>
                        <a:t>August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222222"/>
                          </a:solidFill>
                        </a:rPr>
                        <a:t>220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1E7D34"/>
                          </a:solidFill>
                        </a:rPr>
                        <a:t>147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E65100"/>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00" b="1" dirty="0">
                          <a:solidFill>
                            <a:srgbClr val="C62828"/>
                          </a:solidFill>
                        </a:rPr>
                        <a:t>56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1565C0"/>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1565C0"/>
                          </a:solidFill>
                        </a:rPr>
                        <a:t>37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222222"/>
                          </a:solidFill>
                        </a:rPr>
                        <a:t>201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70%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347472">
                <a:tc>
                  <a:txBody>
                    <a:bodyPr/>
                    <a:lstStyle/>
                    <a:p>
                      <a:pPr algn="l" indent="0" marL="0">
                        <a:buNone/>
                      </a:pPr>
                      <a:r>
                        <a:rPr lang="en-US" sz="1000" b="1" dirty="0">
                          <a:solidFill>
                            <a:srgbClr val="C62828"/>
                          </a:solidFill>
                        </a:rPr>
                        <a:t>July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222222"/>
                          </a:solidFill>
                        </a:rPr>
                        <a:t>181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1E7D34"/>
                          </a:solidFill>
                        </a:rPr>
                        <a:t>115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E65100"/>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00" b="1" dirty="0">
                          <a:solidFill>
                            <a:srgbClr val="C62828"/>
                          </a:solidFill>
                        </a:rPr>
                        <a:t>49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1565C0"/>
                          </a:solidFill>
                        </a:rPr>
                        <a:t>12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1565C0"/>
                          </a:solidFill>
                        </a:rPr>
                        <a:t>35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222222"/>
                          </a:solidFill>
                        </a:rPr>
                        <a:t>165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78%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347472">
                <a:tc>
                  <a:txBody>
                    <a:bodyPr/>
                    <a:lstStyle/>
                    <a:p>
                      <a:pPr algn="l" indent="0" marL="0">
                        <a:buNone/>
                      </a:pPr>
                      <a:r>
                        <a:rPr lang="en-US" sz="1000" b="1" dirty="0">
                          <a:solidFill>
                            <a:srgbClr val="1E7D34"/>
                          </a:solidFill>
                        </a:rPr>
                        <a:t>October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222222"/>
                          </a:solidFill>
                        </a:rPr>
                        <a:t>60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42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E65100"/>
                          </a:solidFill>
                        </a:rPr>
                        <a:t>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00" b="1" dirty="0">
                          <a:solidFill>
                            <a:srgbClr val="C62828"/>
                          </a:solidFill>
                        </a:rPr>
                        <a:t>17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1565C0"/>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1565C0"/>
                          </a:solidFill>
                        </a:rPr>
                        <a:t>14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222222"/>
                          </a:solidFill>
                        </a:rPr>
                        <a:t>71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&gt;100%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bl>
          </a:graphicData>
        </a:graphic>
      </p:graphicFrame>
      <p:sp>
        <p:nvSpPr>
          <p:cNvPr id="27" name="Shape 24"/>
          <p:cNvSpPr/>
          <p:nvPr/>
        </p:nvSpPr>
        <p:spPr>
          <a:xfrm>
            <a:off x="274320" y="3547872"/>
            <a:ext cx="4160520" cy="548640"/>
          </a:xfrm>
          <a:prstGeom prst="rect">
            <a:avLst/>
          </a:prstGeom>
          <a:solidFill>
            <a:srgbClr val="F3E5F5"/>
          </a:solidFill>
          <a:ln w="12700">
            <a:solidFill>
              <a:srgbClr val="6A1B9A"/>
            </a:solidFill>
            <a:prstDash val="solid"/>
          </a:ln>
        </p:spPr>
      </p:sp>
      <p:sp>
        <p:nvSpPr>
          <p:cNvPr id="28" name="Text 25"/>
          <p:cNvSpPr/>
          <p:nvPr/>
        </p:nvSpPr>
        <p:spPr>
          <a:xfrm>
            <a:off x="384048" y="3566160"/>
            <a:ext cx="3931920" cy="512064"/>
          </a:xfrm>
          <a:prstGeom prst="rect">
            <a:avLst/>
          </a:prstGeom>
          <a:noFill/>
          <a:ln/>
        </p:spPr>
        <p:txBody>
          <a:bodyPr wrap="square" rtlCol="0" anchor="ctr"/>
          <a:lstStyle/>
          <a:p>
            <a:pPr indent="0" marL="0">
              <a:buNone/>
            </a:pPr>
            <a:r>
              <a:rPr lang="en-US" sz="950" dirty="0">
                <a:solidFill>
                  <a:srgbClr val="6A1B9A"/>
                </a:solidFill>
                <a:latin typeface="Calibri" pitchFamily="34" charset="0"/>
                <a:ea typeface="Calibri" pitchFamily="34" charset="-122"/>
                <a:cs typeface="Calibri" pitchFamily="34" charset="-120"/>
              </a:rPr>
              <a:t>13 events Tried to Return -- filed a 2026 application but were cancelled/declined. 31 events Recovered -- cancelled in 2025 but came back in 2026.</a:t>
            </a:r>
            <a:endParaRPr lang="en-US" sz="950" dirty="0"/>
          </a:p>
        </p:txBody>
      </p:sp>
      <p:sp>
        <p:nvSpPr>
          <p:cNvPr id="29" name="Shape 26"/>
          <p:cNvSpPr/>
          <p:nvPr/>
        </p:nvSpPr>
        <p:spPr>
          <a:xfrm>
            <a:off x="4617720" y="3547872"/>
            <a:ext cx="4251960" cy="548640"/>
          </a:xfrm>
          <a:prstGeom prst="rect">
            <a:avLst/>
          </a:prstGeom>
          <a:solidFill>
            <a:srgbClr val="ECEFF1"/>
          </a:solidFill>
          <a:ln w="12700">
            <a:solidFill>
              <a:srgbClr val="555555"/>
            </a:solidFill>
            <a:prstDash val="solid"/>
          </a:ln>
        </p:spPr>
      </p:sp>
      <p:sp>
        <p:nvSpPr>
          <p:cNvPr id="30" name="Text 27"/>
          <p:cNvSpPr/>
          <p:nvPr/>
        </p:nvSpPr>
        <p:spPr>
          <a:xfrm>
            <a:off x="4727448" y="3566160"/>
            <a:ext cx="4023360" cy="512064"/>
          </a:xfrm>
          <a:prstGeom prst="rect">
            <a:avLst/>
          </a:prstGeom>
          <a:noFill/>
          <a:ln/>
        </p:spPr>
        <p:txBody>
          <a:bodyPr wrap="square" rtlCol="0" anchor="ctr"/>
          <a:lstStyle/>
          <a:p>
            <a:pPr indent="0" marL="0">
              <a:buNone/>
            </a:pPr>
            <a:r>
              <a:rPr lang="en-US" sz="950" dirty="0">
                <a:solidFill>
                  <a:srgbClr val="222222"/>
                </a:solidFill>
                <a:latin typeface="Calibri" pitchFamily="34" charset="0"/>
                <a:ea typeface="Calibri" pitchFamily="34" charset="-122"/>
                <a:cs typeface="Calibri" pitchFamily="34" charset="-120"/>
              </a:rPr>
              <a:t>Overall replacement: 296 new/recovered vs 296 truly lost -- 100% gross replacement.</a:t>
            </a:r>
            <a:endParaRPr lang="en-US" sz="950" dirty="0"/>
          </a:p>
        </p:txBody>
      </p:sp>
      <p:sp>
        <p:nvSpPr>
          <p:cNvPr id="31" name="Shape 28"/>
          <p:cNvSpPr/>
          <p:nvPr/>
        </p:nvSpPr>
        <p:spPr>
          <a:xfrm>
            <a:off x="274320" y="4206240"/>
            <a:ext cx="8595360" cy="594360"/>
          </a:xfrm>
          <a:prstGeom prst="rect">
            <a:avLst/>
          </a:prstGeom>
          <a:solidFill>
            <a:srgbClr val="ECEFF1"/>
          </a:solidFill>
          <a:ln w="12700">
            <a:solidFill>
              <a:srgbClr val="CCCCCC"/>
            </a:solidFill>
            <a:prstDash val="solid"/>
          </a:ln>
        </p:spPr>
      </p:sp>
      <p:sp>
        <p:nvSpPr>
          <p:cNvPr id="32" name="Text 29"/>
          <p:cNvSpPr/>
          <p:nvPr/>
        </p:nvSpPr>
        <p:spPr>
          <a:xfrm>
            <a:off x="384048" y="4233672"/>
            <a:ext cx="8321040" cy="539496"/>
          </a:xfrm>
          <a:prstGeom prst="rect">
            <a:avLst/>
          </a:prstGeom>
          <a:noFill/>
          <a:ln/>
        </p:spPr>
        <p:txBody>
          <a:bodyPr wrap="square" rtlCol="0" anchor="ctr"/>
          <a:lstStyle/>
          <a:p>
            <a:pPr indent="0" marL="0">
              <a:buNone/>
            </a:pPr>
            <a:r>
              <a:rPr lang="en-US" sz="950" b="1" dirty="0">
                <a:solidFill>
                  <a:srgbClr val="222222"/>
                </a:solidFill>
                <a:latin typeface="Calibri" pitchFamily="34" charset="0"/>
                <a:ea typeface="Calibri" pitchFamily="34" charset="-122"/>
                <a:cs typeface="Calibri" pitchFamily="34" charset="-120"/>
              </a:rPr>
              <a:t>Narrative:  </a:t>
            </a:r>
            <a:pPr indent="0" marL="0">
              <a:buNone/>
            </a:pPr>
            <a:r>
              <a:rPr lang="en-US" sz="950" dirty="0">
                <a:solidFill>
                  <a:srgbClr val="222222"/>
                </a:solidFill>
                <a:latin typeface="Calibri" pitchFamily="34" charset="0"/>
                <a:ea typeface="Calibri" pitchFamily="34" charset="-122"/>
                <a:cs typeface="Calibri" pitchFamily="34" charset="-120"/>
              </a:rPr>
              <a:t>We replaced only 31 of 296 attrited events (10% recovery rate) and failed to win back tried-to-return events (13 lost). Replacement pipeline at 100% nominal rate masks a 25% absolute attrition problem—we're not plugging the hole fast enough.</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B5E20"/>
          </a:solidFill>
          <a:ln w="12700">
            <a:solidFill>
              <a:srgbClr val="1B5E20"/>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5  —  Application Pipeline -- Who Is Filing and When</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7 / 8</a:t>
            </a:r>
            <a:endParaRPr lang="en-US" sz="900" dirty="0"/>
          </a:p>
        </p:txBody>
      </p:sp>
      <p:sp>
        <p:nvSpPr>
          <p:cNvPr id="5" name="Text 3"/>
          <p:cNvSpPr/>
          <p:nvPr/>
        </p:nvSpPr>
        <p:spPr>
          <a:xfrm>
            <a:off x="274320" y="694944"/>
            <a:ext cx="8595360" cy="219456"/>
          </a:xfrm>
          <a:prstGeom prst="rect">
            <a:avLst/>
          </a:prstGeom>
          <a:noFill/>
          <a:ln/>
        </p:spPr>
        <p:txBody>
          <a:bodyPr wrap="square" rtlCol="0" anchor="ctr"/>
          <a:lstStyle/>
          <a:p>
            <a:pPr indent="0" marL="0">
              <a:buNone/>
            </a:pPr>
            <a:r>
              <a:rPr lang="en-US" sz="1050" dirty="0">
                <a:solidFill>
                  <a:srgbClr val="222222"/>
                </a:solidFill>
                <a:latin typeface="Calibri" pitchFamily="34" charset="0"/>
                <a:ea typeface="Calibri" pitchFamily="34" charset="-122"/>
                <a:cs typeface="Calibri" pitchFamily="34" charset="-120"/>
              </a:rPr>
              <a:t>Total applications: 1,271 for 2025 vs 1,188 for 2026. The story is in WHEN and WHICH type is filing:</a:t>
            </a:r>
            <a:endParaRPr lang="en-US" sz="10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274320" y="950976"/>
          <a:ext cx="8595360" cy="1591056"/>
        </p:xfrm>
        <a:graphic>
          <a:graphicData uri="http://schemas.openxmlformats.org/drawingml/2006/table">
            <a:tbl>
              <a:tblPr/>
              <a:tblGrid>
                <a:gridCol w="955040"/>
                <a:gridCol w="955040"/>
                <a:gridCol w="955040"/>
                <a:gridCol w="955040"/>
                <a:gridCol w="955040"/>
                <a:gridCol w="955040"/>
                <a:gridCol w="955040"/>
                <a:gridCol w="955040"/>
                <a:gridCol w="955040"/>
              </a:tblGrid>
              <a:tr h="256032">
                <a:tc>
                  <a:txBody>
                    <a:bodyPr/>
                    <a:lstStyle/>
                    <a:p>
                      <a:pPr algn="ctr" indent="0" marL="0">
                        <a:buNone/>
                      </a:pPr>
                      <a:r>
                        <a:rPr lang="en-US" sz="1000" b="1" dirty="0">
                          <a:solidFill>
                            <a:srgbClr val="FFFFFF"/>
                          </a:solidFill>
                        </a:rPr>
                        <a:t>Event Type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5E20"/>
                    </a:solidFill>
                  </a:tcPr>
                </a:tc>
                <a:tc>
                  <a:txBody>
                    <a:bodyPr/>
                    <a:lstStyle/>
                    <a:p>
                      <a:pPr algn="ctr" indent="0" marL="0">
                        <a:buNone/>
                      </a:pPr>
                      <a:r>
                        <a:rPr lang="en-US" sz="1000" b="1" dirty="0">
                          <a:solidFill>
                            <a:srgbClr val="FFFFFF"/>
                          </a:solidFill>
                        </a:rPr>
                        <a:t>Q4 2024</a:t>
                      </a:r>
                      <a:endParaRPr lang="en-US" sz="1000" dirty="0"/>
                    </a:p>
                    <a:p>
                      <a:pPr algn="ctr" indent="0" marL="0">
                        <a:buNone/>
                      </a:pPr>
                      <a:r>
                        <a:rPr lang="en-US" sz="1000" b="1" dirty="0">
                          <a:solidFill>
                            <a:srgbClr val="FFFFFF"/>
                          </a:solidFill>
                        </a:rPr>
                        <a:t>Pre-Filing</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5E20"/>
                    </a:solidFill>
                  </a:tcPr>
                </a:tc>
                <a:tc>
                  <a:txBody>
                    <a:bodyPr/>
                    <a:lstStyle/>
                    <a:p>
                      <a:pPr algn="ctr" indent="0" marL="0">
                        <a:buNone/>
                      </a:pPr>
                      <a:r>
                        <a:rPr lang="en-US" sz="1000" b="1" dirty="0">
                          <a:solidFill>
                            <a:srgbClr val="FFFFFF"/>
                          </a:solidFill>
                        </a:rPr>
                        <a:t>Jan-May</a:t>
                      </a:r>
                      <a:endParaRPr lang="en-US" sz="1000" dirty="0"/>
                    </a:p>
                    <a:p>
                      <a:pPr algn="ctr" indent="0" marL="0">
                        <a:buNone/>
                      </a:pPr>
                      <a:r>
                        <a:rPr lang="en-US" sz="1000" b="1" dirty="0">
                          <a:solidFill>
                            <a:srgbClr val="FFFFFF"/>
                          </a:solidFill>
                        </a:rPr>
                        <a:t>2025 In-Yr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5E20"/>
                    </a:solidFill>
                  </a:tcPr>
                </a:tc>
                <a:tc>
                  <a:txBody>
                    <a:bodyPr/>
                    <a:lstStyle/>
                    <a:p>
                      <a:pPr algn="ctr" indent="0" marL="0">
                        <a:buNone/>
                      </a:pPr>
                      <a:r>
                        <a:rPr lang="en-US" sz="1000" b="1" dirty="0">
                          <a:solidFill>
                            <a:srgbClr val="FFFFFF"/>
                          </a:solidFill>
                        </a:rPr>
                        <a:t>2025</a:t>
                      </a:r>
                      <a:endParaRPr lang="en-US" sz="1000" dirty="0"/>
                    </a:p>
                    <a:p>
                      <a:pPr algn="ctr" indent="0" marL="0">
                        <a:buNone/>
                      </a:pPr>
                      <a:r>
                        <a:rPr lang="en-US" sz="1000" b="1" dirty="0">
                          <a:solidFill>
                            <a:srgbClr val="FFFFFF"/>
                          </a:solidFill>
                        </a:rPr>
                        <a:t>Total Apps</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5E20"/>
                    </a:solidFill>
                  </a:tcPr>
                </a:tc>
                <a:tc>
                  <a:txBody>
                    <a:bodyPr/>
                    <a:lstStyle/>
                    <a:p>
                      <a:pPr algn="ctr" indent="0" marL="0">
                        <a:buNone/>
                      </a:pPr>
                      <a:r>
                        <a:rPr lang="en-US" sz="1000" b="1" dirty="0">
                          <a:solidFill>
                            <a:srgbClr val="FFFFFF"/>
                          </a:solidFill>
                        </a:rPr>
                        <a:t>Q4 2025</a:t>
                      </a:r>
                      <a:endParaRPr lang="en-US" sz="1000" dirty="0"/>
                    </a:p>
                    <a:p>
                      <a:pPr algn="ctr" indent="0" marL="0">
                        <a:buNone/>
                      </a:pPr>
                      <a:r>
                        <a:rPr lang="en-US" sz="1000" b="1" dirty="0">
                          <a:solidFill>
                            <a:srgbClr val="FFFFFF"/>
                          </a:solidFill>
                        </a:rPr>
                        <a:t>Pre-Filing</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Jan-May</a:t>
                      </a:r>
                      <a:endParaRPr lang="en-US" sz="1000" dirty="0"/>
                    </a:p>
                    <a:p>
                      <a:pPr algn="ctr" indent="0" marL="0">
                        <a:buNone/>
                      </a:pPr>
                      <a:r>
                        <a:rPr lang="en-US" sz="1000" b="1" dirty="0">
                          <a:solidFill>
                            <a:srgbClr val="FFFFFF"/>
                          </a:solidFill>
                        </a:rPr>
                        <a:t>2026 In-Yr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2026</a:t>
                      </a:r>
                      <a:endParaRPr lang="en-US" sz="1000" dirty="0"/>
                    </a:p>
                    <a:p>
                      <a:pPr algn="ctr" indent="0" marL="0">
                        <a:buNone/>
                      </a:pPr>
                      <a:r>
                        <a:rPr lang="en-US" sz="1000" b="1" dirty="0">
                          <a:solidFill>
                            <a:srgbClr val="FFFFFF"/>
                          </a:solidFill>
                        </a:rPr>
                        <a:t>Total Apps</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Delta Q4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Delta</a:t>
                      </a:r>
                      <a:endParaRPr lang="en-US" sz="1000" dirty="0"/>
                    </a:p>
                    <a:p>
                      <a:pPr algn="ctr" indent="0" marL="0">
                        <a:buNone/>
                      </a:pPr>
                      <a:r>
                        <a:rPr lang="en-US" sz="1000" b="1" dirty="0">
                          <a:solidFill>
                            <a:srgbClr val="FFFFFF"/>
                          </a:solidFill>
                        </a:rPr>
                        <a:t>Jan-May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r h="256032">
                <a:tc>
                  <a:txBody>
                    <a:bodyPr/>
                    <a:lstStyle/>
                    <a:p>
                      <a:pPr algn="l" indent="0" marL="0">
                        <a:buNone/>
                      </a:pPr>
                      <a:r>
                        <a:rPr lang="en-US" sz="1000" dirty="0">
                          <a:solidFill>
                            <a:srgbClr val="222222"/>
                          </a:solidFill>
                        </a:rPr>
                        <a:t>Adult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453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155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222222"/>
                          </a:solidFill>
                        </a:rPr>
                        <a:t>876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415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186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222222"/>
                          </a:solidFill>
                        </a:rPr>
                        <a:t>837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1E7D34"/>
                          </a:solidFill>
                        </a:rPr>
                        <a:t>−38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+31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56032">
                <a:tc>
                  <a:txBody>
                    <a:bodyPr/>
                    <a:lstStyle/>
                    <a:p>
                      <a:pPr algn="l" indent="0" marL="0">
                        <a:buNone/>
                      </a:pPr>
                      <a:r>
                        <a:rPr lang="en-US" sz="1000" dirty="0">
                          <a:solidFill>
                            <a:srgbClr val="222222"/>
                          </a:solidFill>
                        </a:rPr>
                        <a:t>Youth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107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88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22222"/>
                          </a:solidFill>
                        </a:rPr>
                        <a:t>246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102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94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22222"/>
                          </a:solidFill>
                        </a:rPr>
                        <a:t>229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D34"/>
                          </a:solidFill>
                        </a:rPr>
                        <a:t>−5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56032">
                <a:tc>
                  <a:txBody>
                    <a:bodyPr/>
                    <a:lstStyle/>
                    <a:p>
                      <a:pPr algn="l" indent="0" marL="0">
                        <a:buNone/>
                      </a:pPr>
                      <a:r>
                        <a:rPr lang="en-US" sz="1000" b="1" dirty="0">
                          <a:solidFill>
                            <a:srgbClr val="C62828"/>
                          </a:solidFill>
                        </a:rPr>
                        <a:t>Adult Clinic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222222"/>
                          </a:solidFill>
                        </a:rPr>
                        <a:t>25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222222"/>
                          </a:solidFill>
                        </a:rPr>
                        <a:t>73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b="1" dirty="0">
                          <a:solidFill>
                            <a:srgbClr val="222222"/>
                          </a:solidFill>
                        </a:rPr>
                        <a:t>112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222222"/>
                          </a:solidFill>
                        </a:rPr>
                        <a:t>24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222222"/>
                          </a:solidFill>
                        </a:rPr>
                        <a:t>55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b="1" dirty="0">
                          <a:solidFill>
                            <a:srgbClr val="222222"/>
                          </a:solidFill>
                        </a:rPr>
                        <a:t>87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1E7D34"/>
                          </a:solidFill>
                        </a:rPr>
                        <a:t>−1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56032">
                <a:tc>
                  <a:txBody>
                    <a:bodyPr/>
                    <a:lstStyle/>
                    <a:p>
                      <a:pPr algn="l" indent="0" marL="0">
                        <a:buNone/>
                      </a:pPr>
                      <a:r>
                        <a:rPr lang="en-US" sz="1000" dirty="0">
                          <a:solidFill>
                            <a:srgbClr val="222222"/>
                          </a:solidFill>
                        </a:rPr>
                        <a:t>Youth Clinic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22222"/>
                          </a:solidFill>
                        </a:rPr>
                        <a:t>37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20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22222"/>
                          </a:solidFill>
                        </a:rPr>
                        <a:t>35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D34"/>
                          </a:solidFill>
                        </a:rPr>
                        <a:t>+1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56032">
                <a:tc>
                  <a:txBody>
                    <a:bodyPr/>
                    <a:lstStyle/>
                    <a:p>
                      <a:pPr algn="ctr" indent="0" marL="0">
                        <a:buNone/>
                      </a:pPr>
                      <a:r>
                        <a:rPr lang="en-US" sz="1000" b="1" dirty="0">
                          <a:solidFill>
                            <a:srgbClr val="FFFFFF"/>
                          </a:solidFill>
                        </a:rPr>
                        <a:t>TOTAL</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596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331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1,271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553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355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1,188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−43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+24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bl>
          </a:graphicData>
        </a:graphic>
      </p:graphicFrame>
      <p:sp>
        <p:nvSpPr>
          <p:cNvPr id="7" name="Text 4"/>
          <p:cNvSpPr/>
          <p:nvPr/>
        </p:nvSpPr>
        <p:spPr>
          <a:xfrm>
            <a:off x="274320" y="2633472"/>
            <a:ext cx="8595360" cy="237744"/>
          </a:xfrm>
          <a:prstGeom prst="rect">
            <a:avLst/>
          </a:prstGeom>
          <a:noFill/>
          <a:ln/>
        </p:spPr>
        <p:txBody>
          <a:bodyPr wrap="square" rtlCol="0" anchor="ctr"/>
          <a:lstStyle/>
          <a:p>
            <a:pPr indent="0" marL="0">
              <a:buNone/>
            </a:pPr>
            <a:r>
              <a:rPr lang="en-US" sz="1050" b="1" dirty="0">
                <a:solidFill>
                  <a:srgbClr val="222222"/>
                </a:solidFill>
                <a:latin typeface="Calibri" pitchFamily="34" charset="0"/>
                <a:ea typeface="Calibri" pitchFamily="34" charset="-122"/>
                <a:cs typeface="Calibri" pitchFamily="34" charset="-120"/>
              </a:rPr>
              <a:t>Highest-Probability Opportunities — May through December 2026:</a:t>
            </a:r>
            <a:endParaRPr lang="en-US" sz="1050" dirty="0"/>
          </a:p>
        </p:txBody>
      </p:sp>
      <p:sp>
        <p:nvSpPr>
          <p:cNvPr id="8" name="Shape 5"/>
          <p:cNvSpPr/>
          <p:nvPr/>
        </p:nvSpPr>
        <p:spPr>
          <a:xfrm>
            <a:off x="274320" y="2907792"/>
            <a:ext cx="4160520" cy="914400"/>
          </a:xfrm>
          <a:prstGeom prst="rect">
            <a:avLst/>
          </a:prstGeom>
          <a:solidFill>
            <a:srgbClr val="FDECEA"/>
          </a:solidFill>
          <a:ln w="12700">
            <a:solidFill>
              <a:srgbClr val="C62828"/>
            </a:solidFill>
            <a:prstDash val="solid"/>
          </a:ln>
        </p:spPr>
      </p:sp>
      <p:sp>
        <p:nvSpPr>
          <p:cNvPr id="9" name="Text 6"/>
          <p:cNvSpPr/>
          <p:nvPr/>
        </p:nvSpPr>
        <p:spPr>
          <a:xfrm>
            <a:off x="384048" y="2944368"/>
            <a:ext cx="3931920" cy="841248"/>
          </a:xfrm>
          <a:prstGeom prst="rect">
            <a:avLst/>
          </a:prstGeom>
          <a:noFill/>
          <a:ln/>
        </p:spPr>
        <p:txBody>
          <a:bodyPr wrap="square" rtlCol="0" anchor="ctr"/>
          <a:lstStyle/>
          <a:p>
            <a:pPr indent="0" marL="0">
              <a:buNone/>
            </a:pPr>
            <a:r>
              <a:rPr lang="en-US" sz="1050" b="1" dirty="0">
                <a:solidFill>
                  <a:srgbClr val="C62828"/>
                </a:solidFill>
                <a:latin typeface="Calibri" pitchFamily="34" charset="0"/>
                <a:ea typeface="Calibri" pitchFamily="34" charset="-122"/>
                <a:cs typeface="Calibri" pitchFamily="34" charset="-120"/>
              </a:rPr>
              <a:t>Adult Clinic — Highest ROI Opportunity
</a:t>
            </a:r>
            <a:pPr indent="0" marL="0">
              <a:buNone/>
            </a:pPr>
            <a:r>
              <a:rPr lang="en-US" sz="950" dirty="0">
                <a:solidFill>
                  <a:srgbClr val="C62828"/>
                </a:solidFill>
                <a:latin typeface="Calibri" pitchFamily="34" charset="0"/>
                <a:ea typeface="Calibri" pitchFamily="34" charset="-122"/>
                <a:cs typeface="Calibri" pitchFamily="34" charset="-120"/>
              </a:rPr>
              <a:t>Adult Clinic is the structural decliner (−11.0 organic). Proactive outreach in the spontaneous-filing window can close part of the gap.</a:t>
            </a:r>
            <a:endParaRPr lang="en-US" sz="950" dirty="0"/>
          </a:p>
        </p:txBody>
      </p:sp>
      <p:sp>
        <p:nvSpPr>
          <p:cNvPr id="10" name="Shape 7"/>
          <p:cNvSpPr/>
          <p:nvPr/>
        </p:nvSpPr>
        <p:spPr>
          <a:xfrm>
            <a:off x="4617720" y="2907792"/>
            <a:ext cx="4251960" cy="914400"/>
          </a:xfrm>
          <a:prstGeom prst="rect">
            <a:avLst/>
          </a:prstGeom>
          <a:solidFill>
            <a:srgbClr val="E8F5E9"/>
          </a:solidFill>
          <a:ln w="12700">
            <a:solidFill>
              <a:srgbClr val="1E7D34"/>
            </a:solidFill>
            <a:prstDash val="solid"/>
          </a:ln>
        </p:spPr>
      </p:sp>
      <p:sp>
        <p:nvSpPr>
          <p:cNvPr id="11" name="Text 8"/>
          <p:cNvSpPr/>
          <p:nvPr/>
        </p:nvSpPr>
        <p:spPr>
          <a:xfrm>
            <a:off x="4727448" y="2944368"/>
            <a:ext cx="4023360" cy="841248"/>
          </a:xfrm>
          <a:prstGeom prst="rect">
            <a:avLst/>
          </a:prstGeom>
          <a:noFill/>
          <a:ln/>
        </p:spPr>
        <p:txBody>
          <a:bodyPr wrap="square" rtlCol="0" anchor="ctr"/>
          <a:lstStyle/>
          <a:p>
            <a:pPr indent="0" marL="0">
              <a:buNone/>
            </a:pPr>
            <a:r>
              <a:rPr lang="en-US" sz="1050" b="1" dirty="0">
                <a:solidFill>
                  <a:srgbClr val="1E7D34"/>
                </a:solidFill>
                <a:latin typeface="Calibri" pitchFamily="34" charset="0"/>
                <a:ea typeface="Calibri" pitchFamily="34" charset="-122"/>
                <a:cs typeface="Calibri" pitchFamily="34" charset="-120"/>
              </a:rPr>
              <a:t>Youth Clinic -- Reinforce
</a:t>
            </a:r>
            <a:pPr indent="0" marL="0">
              <a:buNone/>
            </a:pPr>
            <a:r>
              <a:rPr lang="en-US" sz="950" dirty="0">
                <a:solidFill>
                  <a:srgbClr val="1E7D34"/>
                </a:solidFill>
                <a:latin typeface="Calibri" pitchFamily="34" charset="0"/>
                <a:ea typeface="Calibri" pitchFamily="34" charset="-122"/>
                <a:cs typeface="Calibri" pitchFamily="34" charset="-120"/>
              </a:rPr>
              <a:t>Youth Clinic is the organic leader (+5.6 organic, +19.4%). Fast-track approvals so momentum is not lost.</a:t>
            </a:r>
            <a:endParaRPr lang="en-US" sz="950" dirty="0"/>
          </a:p>
        </p:txBody>
      </p:sp>
      <p:sp>
        <p:nvSpPr>
          <p:cNvPr id="12" name="Shape 9"/>
          <p:cNvSpPr/>
          <p:nvPr/>
        </p:nvSpPr>
        <p:spPr>
          <a:xfrm>
            <a:off x="274320" y="3913632"/>
            <a:ext cx="4160520" cy="457200"/>
          </a:xfrm>
          <a:prstGeom prst="rect">
            <a:avLst/>
          </a:prstGeom>
          <a:solidFill>
            <a:srgbClr val="FFCDD2"/>
          </a:solidFill>
          <a:ln w="12700">
            <a:solidFill>
              <a:srgbClr val="C62828"/>
            </a:solidFill>
            <a:prstDash val="solid"/>
          </a:ln>
        </p:spPr>
      </p:sp>
      <p:sp>
        <p:nvSpPr>
          <p:cNvPr id="13" name="Text 10"/>
          <p:cNvSpPr/>
          <p:nvPr/>
        </p:nvSpPr>
        <p:spPr>
          <a:xfrm>
            <a:off x="384048" y="3931920"/>
            <a:ext cx="3931920" cy="420624"/>
          </a:xfrm>
          <a:prstGeom prst="rect">
            <a:avLst/>
          </a:prstGeom>
          <a:noFill/>
          <a:ln/>
        </p:spPr>
        <p:txBody>
          <a:bodyPr wrap="square" rtlCol="0" anchor="ctr"/>
          <a:lstStyle/>
          <a:p>
            <a:pPr indent="0" marL="0">
              <a:buNone/>
            </a:pPr>
            <a:r>
              <a:rPr lang="en-US" sz="900" dirty="0">
                <a:solidFill>
                  <a:srgbClr val="C62828"/>
                </a:solidFill>
                <a:latin typeface="Calibri" pitchFamily="34" charset="0"/>
                <a:ea typeface="Calibri" pitchFamily="34" charset="-122"/>
                <a:cs typeface="Calibri" pitchFamily="34" charset="-120"/>
              </a:rPr>
              <a:t>Adult Clinic action: target organizers in the spontaneous-filing window. Low effort, high impact.</a:t>
            </a:r>
            <a:endParaRPr lang="en-US" sz="900" dirty="0"/>
          </a:p>
        </p:txBody>
      </p:sp>
      <p:sp>
        <p:nvSpPr>
          <p:cNvPr id="14" name="Shape 11"/>
          <p:cNvSpPr/>
          <p:nvPr/>
        </p:nvSpPr>
        <p:spPr>
          <a:xfrm>
            <a:off x="4617720" y="3913632"/>
            <a:ext cx="4251960" cy="457200"/>
          </a:xfrm>
          <a:prstGeom prst="rect">
            <a:avLst/>
          </a:prstGeom>
          <a:solidFill>
            <a:srgbClr val="E3F2FD"/>
          </a:solidFill>
          <a:ln w="12700">
            <a:solidFill>
              <a:srgbClr val="1565C0"/>
            </a:solidFill>
            <a:prstDash val="solid"/>
          </a:ln>
        </p:spPr>
      </p:sp>
      <p:sp>
        <p:nvSpPr>
          <p:cNvPr id="15" name="Text 12"/>
          <p:cNvSpPr/>
          <p:nvPr/>
        </p:nvSpPr>
        <p:spPr>
          <a:xfrm>
            <a:off x="4727448" y="3931920"/>
            <a:ext cx="4023360" cy="420624"/>
          </a:xfrm>
          <a:prstGeom prst="rect">
            <a:avLst/>
          </a:prstGeom>
          <a:noFill/>
          <a:ln/>
        </p:spPr>
        <p:txBody>
          <a:bodyPr wrap="square" rtlCol="0" anchor="ctr"/>
          <a:lstStyle/>
          <a:p>
            <a:pPr indent="0" marL="0">
              <a:buNone/>
            </a:pPr>
            <a:r>
              <a:rPr lang="en-US" sz="900" dirty="0">
                <a:solidFill>
                  <a:srgbClr val="1565C0"/>
                </a:solidFill>
                <a:latin typeface="Calibri" pitchFamily="34" charset="0"/>
                <a:ea typeface="Calibri" pitchFamily="34" charset="-122"/>
                <a:cs typeface="Calibri" pitchFamily="34" charset="-120"/>
              </a:rPr>
              <a:t>Overall pipeline is +7% (+24 in-yr apps) vs 2025 pace through May.</a:t>
            </a:r>
            <a:endParaRPr lang="en-US" sz="900" dirty="0"/>
          </a:p>
        </p:txBody>
      </p:sp>
      <p:sp>
        <p:nvSpPr>
          <p:cNvPr id="16" name="Shape 13"/>
          <p:cNvSpPr/>
          <p:nvPr/>
        </p:nvSpPr>
        <p:spPr>
          <a:xfrm>
            <a:off x="274320" y="4480560"/>
            <a:ext cx="8595360" cy="420624"/>
          </a:xfrm>
          <a:prstGeom prst="rect">
            <a:avLst/>
          </a:prstGeom>
          <a:solidFill>
            <a:srgbClr val="ECEFF1"/>
          </a:solidFill>
          <a:ln w="12700">
            <a:solidFill>
              <a:srgbClr val="CCCCCC"/>
            </a:solidFill>
            <a:prstDash val="solid"/>
          </a:ln>
        </p:spPr>
      </p:sp>
      <p:sp>
        <p:nvSpPr>
          <p:cNvPr id="17" name="Text 14"/>
          <p:cNvSpPr/>
          <p:nvPr/>
        </p:nvSpPr>
        <p:spPr>
          <a:xfrm>
            <a:off x="384048" y="4507992"/>
            <a:ext cx="8321040" cy="384048"/>
          </a:xfrm>
          <a:prstGeom prst="rect">
            <a:avLst/>
          </a:prstGeom>
          <a:noFill/>
          <a:ln/>
        </p:spPr>
        <p:txBody>
          <a:bodyPr wrap="square" rtlCol="0" anchor="ctr"/>
          <a:lstStyle/>
          <a:p>
            <a:pPr indent="0" marL="0">
              <a:buNone/>
            </a:pPr>
            <a:r>
              <a:rPr lang="en-US" sz="950" b="1" dirty="0">
                <a:solidFill>
                  <a:srgbClr val="222222"/>
                </a:solidFill>
                <a:latin typeface="Calibri" pitchFamily="34" charset="0"/>
                <a:ea typeface="Calibri" pitchFamily="34" charset="-122"/>
                <a:cs typeface="Calibri" pitchFamily="34" charset="-120"/>
              </a:rPr>
              <a:t>Narrative:  </a:t>
            </a:r>
            <a:pPr indent="0" marL="0">
              <a:buNone/>
            </a:pPr>
            <a:r>
              <a:rPr lang="en-US" sz="950" dirty="0">
                <a:solidFill>
                  <a:srgbClr val="222222"/>
                </a:solidFill>
                <a:latin typeface="Calibri" pitchFamily="34" charset="0"/>
                <a:ea typeface="Calibri" pitchFamily="34" charset="-122"/>
                <a:cs typeface="Calibri" pitchFamily="34" charset="-120"/>
              </a:rPr>
              <a:t>Pipeline opportunity exists but is undersized; Youth Clinic applications (34 in 2026) are the only growth vector and insufficient to offset Adult Clinic collapse. We need to reverse the clinic decline or accept a smaller, younger portfolio.</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62828"/>
          </a:solidFill>
          <a:ln w="12700">
            <a:solidFill>
              <a:srgbClr val="C62828"/>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6  —  July and August: Organic Churn and the Win-Back Opportunity</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8 / 8</a:t>
            </a:r>
            <a:endParaRPr lang="en-US" sz="900" dirty="0"/>
          </a:p>
        </p:txBody>
      </p:sp>
      <p:sp>
        <p:nvSpPr>
          <p:cNvPr id="5" name="Text 3"/>
          <p:cNvSpPr/>
          <p:nvPr/>
        </p:nvSpPr>
        <p:spPr>
          <a:xfrm>
            <a:off x="274320" y="694944"/>
            <a:ext cx="8595360" cy="182880"/>
          </a:xfrm>
          <a:prstGeom prst="rect">
            <a:avLst/>
          </a:prstGeom>
          <a:noFill/>
          <a:ln/>
        </p:spPr>
        <p:txBody>
          <a:bodyPr wrap="square" rtlCol="0" anchor="ctr"/>
          <a:lstStyle/>
          <a:p>
            <a:pPr indent="0" marL="0">
              <a:buNone/>
            </a:pPr>
            <a:r>
              <a:rPr lang="en-US" sz="1000" dirty="0">
                <a:solidFill>
                  <a:srgbClr val="222222"/>
                </a:solidFill>
                <a:latin typeface="Calibri" pitchFamily="34" charset="0"/>
                <a:ea typeface="Calibri" pitchFamily="34" charset="-122"/>
                <a:cs typeface="Calibri" pitchFamily="34" charset="-120"/>
              </a:rPr>
              <a:t>Replacement is partial — the volume of churn is the problem more than the rate. The actionable target is August.</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274320" y="914400"/>
          <a:ext cx="4160520" cy="1335024"/>
        </p:xfrm>
        <a:graphic>
          <a:graphicData uri="http://schemas.openxmlformats.org/drawingml/2006/table">
            <a:tbl>
              <a:tblPr/>
              <a:tblGrid>
                <a:gridCol w="1386840"/>
                <a:gridCol w="1386840"/>
                <a:gridCol w="1386840"/>
              </a:tblGrid>
              <a:tr h="210312">
                <a:tc>
                  <a:txBody>
                    <a:bodyPr/>
                    <a:lstStyle/>
                    <a:p>
                      <a:pPr algn="ctr" indent="0" marL="0">
                        <a:buNone/>
                      </a:pPr>
                      <a:r>
                        <a:rPr lang="en-US" sz="950" b="1" dirty="0">
                          <a:solidFill>
                            <a:srgbClr val="FFFFFF"/>
                          </a:solidFill>
                        </a:rPr>
                        <a:t>July</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950" b="1" dirty="0">
                          <a:solidFill>
                            <a:srgbClr val="FFFFFF"/>
                          </a:solidFill>
                        </a:rPr>
                        <a:t>2025</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950" b="1" dirty="0">
                          <a:solidFill>
                            <a:srgbClr val="FFFFFF"/>
                          </a:solidFill>
                        </a:rPr>
                        <a:t>2026</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r>
              <a:tr h="210312">
                <a:tc>
                  <a:txBody>
                    <a:bodyPr/>
                    <a:lstStyle/>
                    <a:p>
                      <a:pPr algn="l" indent="0" marL="0">
                        <a:buNone/>
                      </a:pPr>
                      <a:r>
                        <a:rPr lang="en-US" sz="950" dirty="0">
                          <a:solidFill>
                            <a:srgbClr val="222222"/>
                          </a:solidFill>
                        </a:rPr>
                        <a:t>Retained</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115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1E7D34"/>
                          </a:solidFill>
                        </a:rPr>
                        <a:t>115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10312">
                <a:tc>
                  <a:txBody>
                    <a:bodyPr/>
                    <a:lstStyle/>
                    <a:p>
                      <a:pPr algn="l" indent="0" marL="0">
                        <a:buNone/>
                      </a:pPr>
                      <a:r>
                        <a:rPr lang="en-US" sz="950" dirty="0">
                          <a:solidFill>
                            <a:srgbClr val="222222"/>
                          </a:solidFill>
                        </a:rPr>
                        <a:t>Shifted Out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C62828"/>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210312">
                <a:tc>
                  <a:txBody>
                    <a:bodyPr/>
                    <a:lstStyle/>
                    <a:p>
                      <a:pPr algn="l" indent="0" marL="0">
                        <a:buNone/>
                      </a:pPr>
                      <a:r>
                        <a:rPr lang="en-US" sz="950" b="1" dirty="0">
                          <a:solidFill>
                            <a:srgbClr val="C62828"/>
                          </a:solidFill>
                        </a:rPr>
                        <a:t>Lost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-49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210312">
                <a:tc>
                  <a:txBody>
                    <a:bodyPr/>
                    <a:lstStyle/>
                    <a:p>
                      <a:pPr algn="l" indent="0" marL="0">
                        <a:buNone/>
                      </a:pPr>
                      <a:r>
                        <a:rPr lang="en-US" sz="950" dirty="0">
                          <a:solidFill>
                            <a:srgbClr val="1E7D34"/>
                          </a:solidFill>
                        </a:rPr>
                        <a:t>Shift In</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D34"/>
                          </a:solidFill>
                        </a:rPr>
                        <a:t>+12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10312">
                <a:tc>
                  <a:txBody>
                    <a:bodyPr/>
                    <a:lstStyle/>
                    <a:p>
                      <a:pPr algn="l" indent="0" marL="0">
                        <a:buNone/>
                      </a:pPr>
                      <a:r>
                        <a:rPr lang="en-US" sz="950" dirty="0">
                          <a:solidFill>
                            <a:srgbClr val="1E7D34"/>
                          </a:solidFill>
                        </a:rPr>
                        <a:t>New / Rec'd</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+38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bl>
          </a:graphicData>
        </a:graphic>
      </p:graphicFrame>
      <p:sp>
        <p:nvSpPr>
          <p:cNvPr id="7" name="Shape 4"/>
          <p:cNvSpPr/>
          <p:nvPr/>
        </p:nvSpPr>
        <p:spPr>
          <a:xfrm>
            <a:off x="274320" y="2322576"/>
            <a:ext cx="4160520" cy="329184"/>
          </a:xfrm>
          <a:prstGeom prst="rect">
            <a:avLst/>
          </a:prstGeom>
          <a:solidFill>
            <a:srgbClr val="37474F"/>
          </a:solidFill>
          <a:ln w="12700">
            <a:solidFill>
              <a:srgbClr val="37474F"/>
            </a:solidFill>
            <a:prstDash val="solid"/>
          </a:ln>
        </p:spPr>
      </p:sp>
      <p:sp>
        <p:nvSpPr>
          <p:cNvPr id="8" name="Text 5"/>
          <p:cNvSpPr/>
          <p:nvPr/>
        </p:nvSpPr>
        <p:spPr>
          <a:xfrm>
            <a:off x="292608" y="2331720"/>
            <a:ext cx="4114800" cy="310896"/>
          </a:xfrm>
          <a:prstGeom prst="rect">
            <a:avLst/>
          </a:prstGeom>
          <a:noFill/>
          <a:ln/>
        </p:spPr>
        <p:txBody>
          <a:bodyPr wrap="square" rtlCol="0" anchor="ctr"/>
          <a:lstStyle/>
          <a:p>
            <a:pPr algn="ctr" indent="0" marL="0">
              <a:buNone/>
            </a:pPr>
            <a:r>
              <a:rPr lang="en-US" sz="900" b="1" dirty="0">
                <a:solidFill>
                  <a:srgbClr val="E8F5E9"/>
                </a:solidFill>
                <a:latin typeface="Calibri" pitchFamily="34" charset="0"/>
                <a:ea typeface="Calibri" pitchFamily="34" charset="-122"/>
                <a:cs typeface="Calibri" pitchFamily="34" charset="-120"/>
              </a:rPr>
              <a:t>2025: 181 events  -&gt;  2026: 165       Replacement: 38/49 = 78%</a:t>
            </a:r>
            <a:endParaRPr lang="en-US" sz="9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4617720" y="914400"/>
          <a:ext cx="4251960" cy="1335024"/>
        </p:xfrm>
        <a:graphic>
          <a:graphicData uri="http://schemas.openxmlformats.org/drawingml/2006/table">
            <a:tbl>
              <a:tblPr/>
              <a:tblGrid>
                <a:gridCol w="1417320"/>
                <a:gridCol w="1417320"/>
                <a:gridCol w="1417320"/>
              </a:tblGrid>
              <a:tr h="210312">
                <a:tc>
                  <a:txBody>
                    <a:bodyPr/>
                    <a:lstStyle/>
                    <a:p>
                      <a:pPr algn="ctr" indent="0" marL="0">
                        <a:buNone/>
                      </a:pPr>
                      <a:r>
                        <a:rPr lang="en-US" sz="950" b="1" dirty="0">
                          <a:solidFill>
                            <a:srgbClr val="FFFFFF"/>
                          </a:solidFill>
                        </a:rPr>
                        <a:t>August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950" b="1" dirty="0">
                          <a:solidFill>
                            <a:srgbClr val="FFFFFF"/>
                          </a:solidFill>
                        </a:rPr>
                        <a:t>2025</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950" b="1" dirty="0">
                          <a:solidFill>
                            <a:srgbClr val="FFFFFF"/>
                          </a:solidFill>
                        </a:rPr>
                        <a:t>2026</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r>
              <a:tr h="210312">
                <a:tc>
                  <a:txBody>
                    <a:bodyPr/>
                    <a:lstStyle/>
                    <a:p>
                      <a:pPr algn="l" indent="0" marL="0">
                        <a:buNone/>
                      </a:pPr>
                      <a:r>
                        <a:rPr lang="en-US" sz="950" dirty="0">
                          <a:solidFill>
                            <a:srgbClr val="222222"/>
                          </a:solidFill>
                        </a:rPr>
                        <a:t>Retained</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147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1E7D34"/>
                          </a:solidFill>
                        </a:rPr>
                        <a:t>147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10312">
                <a:tc>
                  <a:txBody>
                    <a:bodyPr/>
                    <a:lstStyle/>
                    <a:p>
                      <a:pPr algn="l" indent="0" marL="0">
                        <a:buNone/>
                      </a:pPr>
                      <a:r>
                        <a:rPr lang="en-US" sz="950" dirty="0">
                          <a:solidFill>
                            <a:srgbClr val="222222"/>
                          </a:solidFill>
                        </a:rPr>
                        <a:t>Shifted Out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C62828"/>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210312">
                <a:tc>
                  <a:txBody>
                    <a:bodyPr/>
                    <a:lstStyle/>
                    <a:p>
                      <a:pPr algn="l" indent="0" marL="0">
                        <a:buNone/>
                      </a:pPr>
                      <a:r>
                        <a:rPr lang="en-US" sz="950" b="1" dirty="0">
                          <a:solidFill>
                            <a:srgbClr val="C62828"/>
                          </a:solidFill>
                        </a:rPr>
                        <a:t>Lost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-56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210312">
                <a:tc>
                  <a:txBody>
                    <a:bodyPr/>
                    <a:lstStyle/>
                    <a:p>
                      <a:pPr algn="l" indent="0" marL="0">
                        <a:buNone/>
                      </a:pPr>
                      <a:r>
                        <a:rPr lang="en-US" sz="950" dirty="0">
                          <a:solidFill>
                            <a:srgbClr val="1E7D34"/>
                          </a:solidFill>
                        </a:rPr>
                        <a:t>Shift In</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D34"/>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10312">
                <a:tc>
                  <a:txBody>
                    <a:bodyPr/>
                    <a:lstStyle/>
                    <a:p>
                      <a:pPr algn="l" indent="0" marL="0">
                        <a:buNone/>
                      </a:pPr>
                      <a:r>
                        <a:rPr lang="en-US" sz="950" dirty="0">
                          <a:solidFill>
                            <a:srgbClr val="1E7D34"/>
                          </a:solidFill>
                        </a:rPr>
                        <a:t>New / Rec'd</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+39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bl>
          </a:graphicData>
        </a:graphic>
      </p:graphicFrame>
      <p:sp>
        <p:nvSpPr>
          <p:cNvPr id="10" name="Shape 6"/>
          <p:cNvSpPr/>
          <p:nvPr/>
        </p:nvSpPr>
        <p:spPr>
          <a:xfrm>
            <a:off x="4617720" y="2322576"/>
            <a:ext cx="4251960" cy="329184"/>
          </a:xfrm>
          <a:prstGeom prst="rect">
            <a:avLst/>
          </a:prstGeom>
          <a:solidFill>
            <a:srgbClr val="37474F"/>
          </a:solidFill>
          <a:ln w="12700">
            <a:solidFill>
              <a:srgbClr val="37474F"/>
            </a:solidFill>
            <a:prstDash val="solid"/>
          </a:ln>
        </p:spPr>
      </p:sp>
      <p:sp>
        <p:nvSpPr>
          <p:cNvPr id="11" name="Text 7"/>
          <p:cNvSpPr/>
          <p:nvPr/>
        </p:nvSpPr>
        <p:spPr>
          <a:xfrm>
            <a:off x="4636008" y="2331720"/>
            <a:ext cx="4206240" cy="310896"/>
          </a:xfrm>
          <a:prstGeom prst="rect">
            <a:avLst/>
          </a:prstGeom>
          <a:noFill/>
          <a:ln/>
        </p:spPr>
        <p:txBody>
          <a:bodyPr wrap="square" rtlCol="0" anchor="ctr"/>
          <a:lstStyle/>
          <a:p>
            <a:pPr algn="ctr" indent="0" marL="0">
              <a:buNone/>
            </a:pPr>
            <a:r>
              <a:rPr lang="en-US" sz="900" b="1" dirty="0">
                <a:solidFill>
                  <a:srgbClr val="E8F5E9"/>
                </a:solidFill>
                <a:latin typeface="Calibri" pitchFamily="34" charset="0"/>
                <a:ea typeface="Calibri" pitchFamily="34" charset="-122"/>
                <a:cs typeface="Calibri" pitchFamily="34" charset="-120"/>
              </a:rPr>
              <a:t>2025: 220 events  -&gt;  2026: 201       Replacement: 39/56 = 70%</a:t>
            </a:r>
            <a:endParaRPr lang="en-US" sz="900" dirty="0"/>
          </a:p>
        </p:txBody>
      </p:sp>
      <p:sp>
        <p:nvSpPr>
          <p:cNvPr id="12" name="Text 8"/>
          <p:cNvSpPr/>
          <p:nvPr/>
        </p:nvSpPr>
        <p:spPr>
          <a:xfrm>
            <a:off x="274320" y="2724912"/>
            <a:ext cx="8595360" cy="164592"/>
          </a:xfrm>
          <a:prstGeom prst="rect">
            <a:avLst/>
          </a:prstGeom>
          <a:noFill/>
          <a:ln/>
        </p:spPr>
        <p:txBody>
          <a:bodyPr wrap="square" rtlCol="0" anchor="ctr"/>
          <a:lstStyle/>
          <a:p>
            <a:pPr indent="0" marL="0">
              <a:buNone/>
            </a:pPr>
            <a:r>
              <a:rPr lang="en-US" sz="1000" b="1" dirty="0">
                <a:solidFill>
                  <a:srgbClr val="222222"/>
                </a:solidFill>
                <a:latin typeface="Calibri" pitchFamily="34" charset="0"/>
                <a:ea typeface="Calibri" pitchFamily="34" charset="-122"/>
                <a:cs typeface="Calibri" pitchFamily="34" charset="-120"/>
              </a:rPr>
              <a:t>Lost events by type (combined Jul + Aug):</a:t>
            </a:r>
            <a:endParaRPr lang="en-US" sz="1000" dirty="0"/>
          </a:p>
        </p:txBody>
      </p:sp>
      <p:graphicFrame>
        <p:nvGraphicFramePr>
          <p:cNvPr id="25" name="Table 2"/>
          <p:cNvGraphicFramePr>
            <a:graphicFrameLocks noGrp="1"/>
          </p:cNvGraphicFramePr>
          <p:nvPr>
            <p:extLst>
              <p:ext uri="{D42A27DB-BD31-4B8C-83A1-F6EECF244321}">
                <p14:modId xmlns:p14="http://schemas.microsoft.com/office/powerpoint/2010/main" val="1579011935"/>
              </p:ext>
            </p:extLst>
          </p:nvPr>
        </p:nvGraphicFramePr>
        <p:xfrm>
          <a:off x="274320" y="2916936"/>
          <a:ext cx="8595360" cy="621792"/>
        </p:xfrm>
        <a:graphic>
          <a:graphicData uri="http://schemas.openxmlformats.org/drawingml/2006/table">
            <a:tbl>
              <a:tblPr/>
              <a:tblGrid>
                <a:gridCol w="1719072"/>
                <a:gridCol w="1719072"/>
                <a:gridCol w="1719072"/>
                <a:gridCol w="1719072"/>
                <a:gridCol w="1719072"/>
              </a:tblGrid>
              <a:tr h="201168">
                <a:tc>
                  <a:txBody>
                    <a:bodyPr/>
                    <a:lstStyle/>
                    <a:p>
                      <a:pPr algn="ctr" indent="0" marL="0">
                        <a:buNone/>
                      </a:pPr>
                      <a:r>
                        <a:rPr lang="en-US" sz="950" b="1" dirty="0">
                          <a:solidFill>
                            <a:srgbClr val="FFFFFF"/>
                          </a:solidFill>
                        </a:rPr>
                        <a:t>Type</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950" b="1" dirty="0">
                          <a:solidFill>
                            <a:srgbClr val="FFFFFF"/>
                          </a:solidFill>
                        </a:rPr>
                        <a:t>Jul Lost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950" b="1" dirty="0">
                          <a:solidFill>
                            <a:srgbClr val="FFFFFF"/>
                          </a:solidFill>
                        </a:rPr>
                        <a:t>Aug Lost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950" b="1" dirty="0">
                          <a:solidFill>
                            <a:srgbClr val="FFFFFF"/>
                          </a:solidFill>
                        </a:rPr>
                        <a:t>Combined</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950" b="1" dirty="0">
                          <a:solidFill>
                            <a:srgbClr val="FFFFFF"/>
                          </a:solidFill>
                        </a:rPr>
                        <a:t>Share</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r h="201168">
                <a:tc>
                  <a:txBody>
                    <a:bodyPr/>
                    <a:lstStyle/>
                    <a:p>
                      <a:pPr algn="l" indent="0" marL="0">
                        <a:buNone/>
                      </a:pPr>
                      <a:r>
                        <a:rPr lang="en-US" sz="1000" b="1" dirty="0">
                          <a:solidFill>
                            <a:srgbClr val="222222"/>
                          </a:solidFill>
                        </a:rPr>
                        <a:t>Adult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C62828"/>
                          </a:solidFill>
                        </a:rPr>
                        <a:t>29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29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58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55%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201168">
                <a:tc>
                  <a:txBody>
                    <a:bodyPr/>
                    <a:lstStyle/>
                    <a:p>
                      <a:pPr algn="l" indent="0" marL="0">
                        <a:buNone/>
                      </a:pPr>
                      <a:r>
                        <a:rPr lang="en-US" sz="1000" b="1" dirty="0">
                          <a:solidFill>
                            <a:srgbClr val="222222"/>
                          </a:solidFill>
                        </a:rPr>
                        <a:t>Youth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C62828"/>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22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35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33%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bl>
          </a:graphicData>
        </a:graphic>
      </p:graphicFrame>
      <p:sp>
        <p:nvSpPr>
          <p:cNvPr id="14" name="Text 9"/>
          <p:cNvSpPr/>
          <p:nvPr/>
        </p:nvSpPr>
        <p:spPr>
          <a:xfrm>
            <a:off x="274320" y="3575304"/>
            <a:ext cx="8595360" cy="137160"/>
          </a:xfrm>
          <a:prstGeom prst="rect">
            <a:avLst/>
          </a:prstGeom>
          <a:noFill/>
          <a:ln/>
        </p:spPr>
        <p:txBody>
          <a:bodyPr wrap="square" rtlCol="0" anchor="ctr"/>
          <a:lstStyle/>
          <a:p>
            <a:pPr indent="0" marL="0">
              <a:buNone/>
            </a:pPr>
            <a:r>
              <a:rPr lang="en-US" sz="850" i="1" dirty="0">
                <a:solidFill>
                  <a:srgbClr val="777777"/>
                </a:solidFill>
                <a:latin typeface="Calibri" pitchFamily="34" charset="0"/>
                <a:ea typeface="Calibri" pitchFamily="34" charset="-122"/>
                <a:cs typeface="Calibri" pitchFamily="34" charset="-120"/>
              </a:rPr>
              <a:t>Adult Clinic: 8 lost (8%)  |  Youth Clinic: 4 lost (4%)  --  minor; not material to win-back prioritisation</a:t>
            </a:r>
            <a:endParaRPr lang="en-US" sz="850" dirty="0"/>
          </a:p>
        </p:txBody>
      </p:sp>
      <p:sp>
        <p:nvSpPr>
          <p:cNvPr id="15" name="Shape 10"/>
          <p:cNvSpPr/>
          <p:nvPr/>
        </p:nvSpPr>
        <p:spPr>
          <a:xfrm>
            <a:off x="274320" y="3785616"/>
            <a:ext cx="4160520" cy="713232"/>
          </a:xfrm>
          <a:prstGeom prst="rect">
            <a:avLst/>
          </a:prstGeom>
          <a:solidFill>
            <a:srgbClr val="FFCDD2"/>
          </a:solidFill>
          <a:ln w="12700">
            <a:solidFill>
              <a:srgbClr val="C62828"/>
            </a:solidFill>
            <a:prstDash val="solid"/>
          </a:ln>
        </p:spPr>
      </p:sp>
      <p:sp>
        <p:nvSpPr>
          <p:cNvPr id="16" name="Text 11"/>
          <p:cNvSpPr/>
          <p:nvPr/>
        </p:nvSpPr>
        <p:spPr>
          <a:xfrm>
            <a:off x="384048" y="3813048"/>
            <a:ext cx="3931920" cy="658368"/>
          </a:xfrm>
          <a:prstGeom prst="rect">
            <a:avLst/>
          </a:prstGeom>
          <a:noFill/>
          <a:ln/>
        </p:spPr>
        <p:txBody>
          <a:bodyPr wrap="square" rtlCol="0" anchor="ctr"/>
          <a:lstStyle/>
          <a:p>
            <a:pPr indent="0" marL="0">
              <a:buNone/>
            </a:pPr>
            <a:r>
              <a:rPr lang="en-US" sz="1050" b="1" dirty="0">
                <a:solidFill>
                  <a:srgbClr val="C62828"/>
                </a:solidFill>
                <a:latin typeface="Calibri" pitchFamily="34" charset="0"/>
                <a:ea typeface="Calibri" pitchFamily="34" charset="-122"/>
                <a:cs typeface="Calibri" pitchFamily="34" charset="-120"/>
              </a:rPr>
              <a:t>August -- Act Now (2026 Window)
</a:t>
            </a:r>
            <a:pPr indent="0" marL="0">
              <a:buNone/>
            </a:pPr>
            <a:r>
              <a:rPr lang="en-US" sz="950" dirty="0">
                <a:solidFill>
                  <a:srgbClr val="C62828"/>
                </a:solidFill>
                <a:latin typeface="Calibri" pitchFamily="34" charset="0"/>
                <a:ea typeface="Calibri" pitchFamily="34" charset="-122"/>
                <a:cs typeface="Calibri" pitchFamily="34" charset="-120"/>
              </a:rPr>
              <a:t>56 lost in 2025. Reach all known organizers; a 20% win-back recovers ~11 events.</a:t>
            </a:r>
            <a:endParaRPr lang="en-US" sz="1050" dirty="0"/>
          </a:p>
        </p:txBody>
      </p:sp>
      <p:sp>
        <p:nvSpPr>
          <p:cNvPr id="17" name="Shape 12"/>
          <p:cNvSpPr/>
          <p:nvPr/>
        </p:nvSpPr>
        <p:spPr>
          <a:xfrm>
            <a:off x="4617720" y="3785616"/>
            <a:ext cx="4251960" cy="713232"/>
          </a:xfrm>
          <a:prstGeom prst="rect">
            <a:avLst/>
          </a:prstGeom>
          <a:solidFill>
            <a:srgbClr val="E3F2FD"/>
          </a:solidFill>
          <a:ln w="12700">
            <a:solidFill>
              <a:srgbClr val="1565C0"/>
            </a:solidFill>
            <a:prstDash val="solid"/>
          </a:ln>
        </p:spPr>
      </p:sp>
      <p:sp>
        <p:nvSpPr>
          <p:cNvPr id="18" name="Text 13"/>
          <p:cNvSpPr/>
          <p:nvPr/>
        </p:nvSpPr>
        <p:spPr>
          <a:xfrm>
            <a:off x="4727448" y="3813048"/>
            <a:ext cx="4023360" cy="658368"/>
          </a:xfrm>
          <a:prstGeom prst="rect">
            <a:avLst/>
          </a:prstGeom>
          <a:noFill/>
          <a:ln/>
        </p:spPr>
        <p:txBody>
          <a:bodyPr wrap="square" rtlCol="0" anchor="ctr"/>
          <a:lstStyle/>
          <a:p>
            <a:pPr indent="0" marL="0">
              <a:buNone/>
            </a:pPr>
            <a:r>
              <a:rPr lang="en-US" sz="1050" b="1" dirty="0">
                <a:solidFill>
                  <a:srgbClr val="1565C0"/>
                </a:solidFill>
                <a:latin typeface="Calibri" pitchFamily="34" charset="0"/>
                <a:ea typeface="Calibri" pitchFamily="34" charset="-122"/>
                <a:cs typeface="Calibri" pitchFamily="34" charset="-120"/>
              </a:rPr>
              <a:t>July -- Diagnose for 2027
</a:t>
            </a:r>
            <a:pPr indent="0" marL="0">
              <a:buNone/>
            </a:pPr>
            <a:r>
              <a:rPr lang="en-US" sz="950" dirty="0">
                <a:solidFill>
                  <a:srgbClr val="1565C0"/>
                </a:solidFill>
                <a:latin typeface="Calibri" pitchFamily="34" charset="0"/>
                <a:ea typeface="Calibri" pitchFamily="34" charset="-122"/>
                <a:cs typeface="Calibri" pitchFamily="34" charset="-120"/>
              </a:rPr>
              <a:t>49 lost in 2025. Too late for 2026; outreach to understand WHY is the highest-ROI 2027 planning action.</a:t>
            </a:r>
            <a:endParaRPr lang="en-US" sz="1050" dirty="0"/>
          </a:p>
        </p:txBody>
      </p:sp>
      <p:sp>
        <p:nvSpPr>
          <p:cNvPr id="19" name="Shape 14"/>
          <p:cNvSpPr/>
          <p:nvPr/>
        </p:nvSpPr>
        <p:spPr>
          <a:xfrm>
            <a:off x="274320" y="4590288"/>
            <a:ext cx="8595360" cy="329184"/>
          </a:xfrm>
          <a:prstGeom prst="rect">
            <a:avLst/>
          </a:prstGeom>
          <a:solidFill>
            <a:srgbClr val="ECEFF1"/>
          </a:solidFill>
          <a:ln w="12700">
            <a:solidFill>
              <a:srgbClr val="CCCCCC"/>
            </a:solidFill>
            <a:prstDash val="solid"/>
          </a:ln>
        </p:spPr>
      </p:sp>
      <p:sp>
        <p:nvSpPr>
          <p:cNvPr id="20" name="Text 15"/>
          <p:cNvSpPr/>
          <p:nvPr/>
        </p:nvSpPr>
        <p:spPr>
          <a:xfrm>
            <a:off x="384048" y="4617720"/>
            <a:ext cx="8321040" cy="292608"/>
          </a:xfrm>
          <a:prstGeom prst="rect">
            <a:avLst/>
          </a:prstGeom>
          <a:noFill/>
          <a:ln/>
        </p:spPr>
        <p:txBody>
          <a:bodyPr wrap="square" rtlCol="0" anchor="ctr"/>
          <a:lstStyle/>
          <a:p>
            <a:pPr indent="0" marL="0">
              <a:buNone/>
            </a:pPr>
            <a:r>
              <a:rPr lang="en-US" sz="950" b="1" dirty="0">
                <a:solidFill>
                  <a:srgbClr val="222222"/>
                </a:solidFill>
                <a:latin typeface="Calibri" pitchFamily="34" charset="0"/>
                <a:ea typeface="Calibri" pitchFamily="34" charset="-122"/>
                <a:cs typeface="Calibri" pitchFamily="34" charset="-120"/>
              </a:rPr>
              <a:t>Narrative:  </a:t>
            </a:r>
            <a:pPr indent="0" marL="0">
              <a:buNone/>
            </a:pPr>
            <a:r>
              <a:rPr lang="en-US" sz="950" dirty="0">
                <a:solidFill>
                  <a:srgbClr val="222222"/>
                </a:solidFill>
                <a:latin typeface="Calibri" pitchFamily="34" charset="0"/>
                <a:ea typeface="Calibri" pitchFamily="34" charset="-122"/>
                <a:cs typeface="Calibri" pitchFamily="34" charset="-120"/>
              </a:rPr>
              <a:t>August (−19 organic) and July (−16 organic) demand immediate triage; both months show strong lost-event concentration in Adult Clinics. Fast action on July payoff risk; deeper diagnosis on August structural issues.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Sanctioned Events 2025 vs 2026</dc:title>
  <dc:subject>PptxGenJS Presentation</dc:subject>
  <dc:creator>PptxGenJS</dc:creator>
  <cp:lastModifiedBy>PptxGenJS</cp:lastModifiedBy>
  <cp:revision>1</cp:revision>
  <dcterms:created xsi:type="dcterms:W3CDTF">2026-05-17T14:52:03Z</dcterms:created>
  <dcterms:modified xsi:type="dcterms:W3CDTF">2026-05-17T14:52:03Z</dcterms:modified>
</cp:coreProperties>
</file>