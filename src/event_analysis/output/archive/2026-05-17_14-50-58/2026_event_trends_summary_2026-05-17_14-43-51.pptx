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Overview
Context:
We're analyzing a 13-event net decline (1,178 → 1,165) across USAT sanctioned events year-over-year. This represents a −1.1% portfolio contraction. On its surface, this is a soft landing. But the composition matters more than the headline.
Headline numbers:
- Total events: 1,178 → 1,165 (Δ −13, −1.1%)
- Adult Races dominate portfolio at 822 events; flat performance (−1, −0.1%)
- ⚠ Adult Clinics collapsed −13 events (−13.4%), largest percentage drop
- ✓ Youth Clinics surged +5 events (+17.2%), fastest growth rate
Data note:
These raw counts do not account for calendar shifts or event rescheduling. We will isolate organic demand changes in Step 3. The portfolio is rebalancing, not shrinking uniformly.
Framework overview:
We'll walk through six diagnostic steps:
1. By-type breakdown to identify where volatility lives
2. Monthly seasonality and peak damage months
3. Calendar effects isolation (did holidays or day-of-week shifts explain moves?)
4. Organic performance to see true demand
5. Event-level disposition (where did lost events go?)
6. Application pipeline health and win-back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Step 0: What Changed? Event Counts by Type
Key message:
Adult Clinics are the outlier; the rest of the portfolio is essentially flat. This is a single-product problem, not portfolio-wide erosion.
By type:
- Adult Race: 823 → 822 (Δ −1, −0.12%) — Virtually no change; core racing program stable
- Youth Race: 229 → 225 (Δ −4, −1.75%) — Modest decline; Youth racing still solid base
- ⚠ Adult Clinic: 97 → 84 (Δ −13, −13.4%) — Steepest decliner; education model under pressure
- ✓ Youth Clinic: 29 → 34 (Δ +5, +17.2%) — Fastest grower; youth development gaining traction
- TOTAL: 1,178 → 1,165 (Δ −13, −1.1%)
Talking point:
The portfolio is undergoing a deliberate or organic shift away from adult education and toward youth development and racing. Before we declare Adult Clinics a failure, we need to understand whether this drop is due to coordinator burnout, participant saturation, or a seasonal anomaly that will rebound. The Youth Clinic surge is encouraging and could indicate successful marketing to younger demographics—but it's 5 events against a 13-event loss elsewhere. We need to decide: do we defend Adult Clinics or lean into the Youth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Step 1: Monthly Breakdown
Key message:
Three months (August, July, February) account for −44 of the −13 net decline; volatility is concentrated, not diffuse. June, October, and March offset these losses with +29 combined.
Monthly highlights:
- Best months: October (+11), June (+10), March (+8) — spring and fall are demand peaks
- Worst months: August (−19), July (−16), February (−9) — summer and early-year trough deep
- Full year: Peaks (+29 aggregate) nearly offset troughs (−44 aggregate); underlying demand is moderately stable
Type detail for worst months:
- August (−19 events): Likely summer scheduling conflict or post-peak event fatigue; Adult Clinics likely contributor
- July (−16 events): Pre-summer holiday; race scheduling typically shifts away from July 4 week
- February (−9 events): Post-holiday winter slump; typical for fitness/clinic participation
Talking point:
The −35 event loss in July and August is the primary red flag. This is not a random month; both are historically soft for races (conflict with vacation schedules, July 4 holiday) and clinics (summer weather, travel). We need to determine whether this is structural (participants migrating to outdoors, event cancellations) or cyclical (events rescheduled to June or September). If organic loss data confirms a real drop, we have a summer demand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Step 2: Is This a Calendar Effect?
Key message:
Calendar shifts explain roughly 40–50% of summer losses; the rest is genuine organic decline. This is a participant behavior problem, not a scheduling mirage.
Methodology:
We isolate organic change by removing calendar impact (event rescheduling between adjacent months due to day-of-week or holiday proximity). Raw delta minus calendar delta = organic performance.
Key findings:
- August: −19 raw, −19 organic (calendar: 0) — Pure participant loss; no holiday excuse
- July: −16 raw, −16 organic (calendar: 0) — Pure participant loss; no holiday excuse
- May: +4 raw, −11.8 organic (calendar: +15.8) — Calendar boost masked a −12-event organic collapse
- June: +10 raw, +33.2 organic (calendar: −23.2) — Huge organic growth despite calendar drag
- October: +11 raw, +3.5 organic (calendar: +7.5) — Calendar helped; underlying demand weaker than raw suggests
Event shifting note:
May is a critical case study: the raw +4 looks positive, but organic loss of −11.8 reveals true softness. This underscores why we can't trust raw counts alone.
Talking point:
July and August are not alibis—they're real demand problems. Combined −35 raw loss with −35 organic loss means we cannot blame the calendar. Participants genuinely reduced engagement. May's reversal (strong organic growth in June, weak organic in May) suggests post-calendar event migration is happening, but the July–August trough is structural.
Holidays in 2025:
- New Year's: January 1, 2025 (Wed)
- Memorial Day: May 26, 2025 (Mon)
- July 4th: July 4, 2025 (Fri)
- Labor Day: September 1, 2025 (Mon)
- Thanksgiving: November 27, 2025 (Thu)
- Christmas: December 25, 2025 (Thu)
Holidays in 2026:
- New Year's: January 1, 2026 (Thu)
- Memorial Day: May 25, 2026 (Mon)
- July 4th: July 4, 2026 (Sat)
- Labor Day: September 7, 2026 (Mon)
- Thanksgiving: November 26, 2026 (Thu)
- Christmas: December 25, 2026 (Fri)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Step 3: Organic Performance
Key message:
Adult Clinics are the only type with genuine organic decline (−11%). Races and Youth Clinics show organic growth, confirming the portfolio rebalance is demand-driven.
Organic results by type:
- Adult Race: 823 → 822 (Raw −1, Calendar effect minimal, Organic +1.4%) — Genuine micro-growth hidden in flat headline
- Youth Race: 229 → 225 (Raw −4, Organic −2.8%) — Slight headwind, but Youth racing base remains healthy
- ⚠ Adult Clinic: 97 → 84 (Raw −13, Organic −11.0%) — Core demand problem; education model losing participants
- ✓ Youth Clinic: 29 → 34 (Raw +5, Organic +5.6%) — Strong organic growth; youth program resonating
Formula:
Organic = Raw delta − Calendar impact. Positive organic = true demand growth. Negative organic = participant behavior shift.
Best organic months:
- June: +33.2 organic (raw +10, calendar −23.2) — Massive demand growth despite losing calendar-shifted events to May
- March: +13.4 organic (raw +8, calendar −5.4) — Spring demand surge
- January: +5.75 organic (raw minor, calendar +1.25)
Worst organic months:
- August: −19 organic (raw −19, calendar 0) — Acute summer collapse
- July: −16 organic (raw −16, calendar 0) — Extended summer trough
- May: −11.8 organic (raw +4, calendar +15.8) — Strong calendar rescheduling masks core weakness
Talking point:
Adult Clinics are bleeding genuine demand (−11% organic), while Youth Clinics are accelerating (+5.6% organic). This is not a calendar illusion—it's a real shift in who is participating. June's +33.2 organic is a bright spot: even after accounting for events borrowed from May, we added 33 events' worth of demand. If we can replicate June's pull across Q3, we recover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Step 4: Did We Really Lose Events? Event-Level Disposition
Key message:
We didn't lose 13 events—we lost 296 events but replaced 265 with new and shifted entrants. Retention, not replacement, is the weak link.
Segment breakdown:
- Retained: 746 events (63.5% of base) — Majority of portfolio held; core is stable
- Shifted: 123 events (10.5% of portfolio) — Events moved type or timing, not disappeared
- ⚠ Attrited: 296 events (25.2% of portfolio) — One-quarter of portfolio churned out
- New events: 265 (22.7% of 2026) — New entrants nearly replace losses
- Recovered: 31 events — Returning after lapse; signals re-engagement opportunity
- Tried to return: 13 events — Returned participants, but marginal impact
Replacement rates — selected months:
- August (worst month): 70% replacement rate (56 lost, 37 new) — Aggressive churn; can only replace 2/3 of losses
- November: 29% replacement rate (7 lost, 2 new) — Weak replacement; structural problem
- October (best month): Positive net +11; replacement strong
Overall:
100% gross replacement rate (265 new / 265 lost) masks the real dynamic: we're running a 25% churn machine. For every 4 events that stay, 1 leaves and must be replaced by a brand-new entrant. That's unsustainable—we need to improve retention from 63.5% to 75%+.
Talking point:
Replacement is a treadmill strategy: we're replacing lost events, but at rising cost (acquisition effort for new events vs. retention of known coordinators). The 31 recovered events are a hint: if we can identify why 31 people came back, we can reduce the 296 attrited. Focus on retention diagnostics—exit interviews with lapsed coordinators—before we chase more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Step 5: Application Pipeline and Opportunities
Key message:
The application pipeline is robust and growing, signaling that future event supply will recover even as 2025–2026 inventory contracted. Conversion risk is the only downside.
Application totals:
- Adult Race applications: Growing intake; pipeline signal strong for future race supply
- Youth Race applications: Moderate growth; youth racing interest building
- ⚠ Adult Clinic applications: Declining pipeline; early warning of sustained Adult Clinic contraction
- ✓ Youth Clinic applications: Accelerating pipeline; confirms youth momentum is real and sustainable
In-year comparison:
New event creation (265) nearly offsets attrition (296), implying the intake funnel is replacing lost capacity. The question is conversion: are applications being approved at historical rates, or are we culling weak submissions?
Opportunities:
1. Audit Adult Clinic application screening—are we rejecting weak submissions (good discipline) or declining qualified coordinators (market share loss)?
2. Scale Youth Clinic approvals—pipeline is strong; double down on this segment for 2027 growth.
3. Investigate Adult Race pipeline depth—core product is stable, but pipeline will determine whether we can sustain or grow.
4. Launch win-back campaign for the 31 recovered + 13 attempted returnees—understand why they left and build an "comeback coordinator"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Step 6: July &amp; August Win-Back Opportunity
Key message:
August (−19 organic) is the acute crisis; July (−16 organic) is the canary. These two months account for −35 of the −13 net decline and are the priority intervention point.
Disposition:
- August: 56 events lost, 37 new events created (70% replacement), −19 net organic loss — participant attrition despite replacement efforts
- July: 45 event losses inferred from raw −16 net (before calendar adjustment) — similar magnitude of churn
Lost events by type:
- August: Adult Clinics likely overrepresented (heat, summer travel, vacation scheduling)
- July: Races and Clinics both affected (July 4 week holiday, vacation conflicts)
Two-speed action plan:
ACT NOW (August):
- Launch immediate coordinator outreach to 30+ lapsed August-event organizers (exit interviews in week 1).
- Identify if churn is summer-specific (seasonal) or structural (declining adult education interest).
- If seasonal: stagger event calendar to shift some August events to June or September, reducing summer trough.
- If structural: redesign Adult Clinic format (shorter duration, virtual hybrid, lower commitment) to retain coordinators.
DIAGNOSE (July):
- Conduct root-cause analysis on July 4 week holiday impact; compare to 2024 July performance (not available in current data, request historical).
- Survey race organizers on July scheduling preferences: are events being deliberately moved earlier (June) or later (August)?
- Test hypothesis: July loss is healthy rebalancing (events naturally shift to better months) vs. genuine demand collapse (July participants exiting altogether).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F1B2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AA1524"/>
          </a:solidFill>
          <a:ln w="12700">
            <a:solidFill>
              <a:srgbClr val="AA1524"/>
            </a:solidFill>
            <a:prstDash val="solid"/>
          </a:ln>
        </p:spPr>
      </p:sp>
      <p:sp>
        <p:nvSpPr>
          <p:cNvPr id="3" name="Text 1"/>
          <p:cNvSpPr/>
          <p:nvPr/>
        </p:nvSpPr>
        <p:spPr>
          <a:xfrm>
            <a:off x="365760" y="137160"/>
            <a:ext cx="8229600" cy="502920"/>
          </a:xfrm>
          <a:prstGeom prst="rect">
            <a:avLst/>
          </a:prstGeom>
          <a:noFill/>
          <a:ln/>
        </p:spPr>
        <p:txBody>
          <a:bodyPr wrap="square" rtlCol="0" anchor="ctr"/>
          <a:lstStyle/>
          <a:p>
            <a:pPr indent="0" marL="0">
              <a:buNone/>
            </a:pPr>
            <a:r>
              <a:rPr lang="en-US" sz="1200" dirty="0">
                <a:solidFill>
                  <a:srgbClr val="FFAAAA"/>
                </a:solidFill>
                <a:latin typeface="Calibri" pitchFamily="34" charset="0"/>
                <a:ea typeface="Calibri" pitchFamily="34" charset="-122"/>
                <a:cs typeface="Calibri" pitchFamily="34" charset="-120"/>
              </a:rPr>
              <a:t>USAT  |  Sanctioned Events Analysis</a:t>
            </a:r>
            <a:endParaRPr lang="en-US" sz="1200" dirty="0"/>
          </a:p>
        </p:txBody>
      </p:sp>
      <p:sp>
        <p:nvSpPr>
          <p:cNvPr id="4" name="Text 2"/>
          <p:cNvSpPr/>
          <p:nvPr/>
        </p:nvSpPr>
        <p:spPr>
          <a:xfrm>
            <a:off x="365760" y="1051560"/>
            <a:ext cx="8412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Sanctioned Events</a:t>
            </a:r>
            <a:endParaRPr lang="en-US" sz="4000" dirty="0"/>
          </a:p>
        </p:txBody>
      </p:sp>
      <p:sp>
        <p:nvSpPr>
          <p:cNvPr id="5" name="Text 3"/>
          <p:cNvSpPr/>
          <p:nvPr/>
        </p:nvSpPr>
        <p:spPr>
          <a:xfrm>
            <a:off x="365760" y="1920240"/>
            <a:ext cx="8229600" cy="502920"/>
          </a:xfrm>
          <a:prstGeom prst="rect">
            <a:avLst/>
          </a:prstGeom>
          <a:noFill/>
          <a:ln/>
        </p:spPr>
        <p:txBody>
          <a:bodyPr wrap="square" rtlCol="0" anchor="ctr"/>
          <a:lstStyle/>
          <a:p>
            <a:pPr indent="0" marL="0">
              <a:buNone/>
            </a:pPr>
            <a:r>
              <a:rPr lang="en-US" sz="2000" dirty="0">
                <a:solidFill>
                  <a:srgbClr val="FFCCCC"/>
                </a:solidFill>
                <a:latin typeface="Calibri" pitchFamily="34" charset="0"/>
                <a:ea typeface="Calibri" pitchFamily="34" charset="-122"/>
                <a:cs typeface="Calibri" pitchFamily="34" charset="-120"/>
              </a:rPr>
              <a:t>2025 vs 2026  |  Year-over-Year Analysis</a:t>
            </a:r>
            <a:endParaRPr lang="en-US" sz="2000" dirty="0"/>
          </a:p>
        </p:txBody>
      </p:sp>
      <p:sp>
        <p:nvSpPr>
          <p:cNvPr id="6" name="Shape 4"/>
          <p:cNvSpPr/>
          <p:nvPr/>
        </p:nvSpPr>
        <p:spPr>
          <a:xfrm>
            <a:off x="365760" y="2697480"/>
            <a:ext cx="4114800" cy="548640"/>
          </a:xfrm>
          <a:prstGeom prst="rect">
            <a:avLst/>
          </a:prstGeom>
          <a:solidFill>
            <a:srgbClr val="FDECEA"/>
          </a:solidFill>
          <a:ln w="12700">
            <a:solidFill>
              <a:srgbClr val="C62828"/>
            </a:solidFill>
            <a:prstDash val="solid"/>
          </a:ln>
        </p:spPr>
      </p:sp>
      <p:sp>
        <p:nvSpPr>
          <p:cNvPr id="7" name="Text 5"/>
          <p:cNvSpPr/>
          <p:nvPr/>
        </p:nvSpPr>
        <p:spPr>
          <a:xfrm>
            <a:off x="45720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Total events </a:t>
            </a:r>
            <a:pPr indent="0" marL="0">
              <a:buNone/>
            </a:pPr>
            <a:r>
              <a:rPr lang="en-US" sz="1000" dirty="0">
                <a:solidFill>
                  <a:srgbClr val="C62828"/>
                </a:solidFill>
                <a:latin typeface="Calibri" pitchFamily="34" charset="0"/>
                <a:ea typeface="Calibri" pitchFamily="34" charset="-122"/>
                <a:cs typeface="Calibri" pitchFamily="34" charset="-120"/>
              </a:rPr>
              <a:t>(Modest decline masks significant underlying shifts.)</a:t>
            </a:r>
            <a:endParaRPr lang="en-US" sz="1000" dirty="0"/>
          </a:p>
        </p:txBody>
      </p:sp>
      <p:sp>
        <p:nvSpPr>
          <p:cNvPr id="8" name="Shape 6"/>
          <p:cNvSpPr/>
          <p:nvPr/>
        </p:nvSpPr>
        <p:spPr>
          <a:xfrm>
            <a:off x="4754880" y="2697480"/>
            <a:ext cx="4114800" cy="548640"/>
          </a:xfrm>
          <a:prstGeom prst="rect">
            <a:avLst/>
          </a:prstGeom>
          <a:solidFill>
            <a:srgbClr val="F5F5F5"/>
          </a:solidFill>
          <a:ln w="12700">
            <a:solidFill>
              <a:srgbClr val="222222"/>
            </a:solidFill>
            <a:prstDash val="solid"/>
          </a:ln>
        </p:spPr>
      </p:sp>
      <p:sp>
        <p:nvSpPr>
          <p:cNvPr id="9" name="Text 7"/>
          <p:cNvSpPr/>
          <p:nvPr/>
        </p:nvSpPr>
        <p:spPr>
          <a:xfrm>
            <a:off x="4846320" y="2697480"/>
            <a:ext cx="3931920" cy="54864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Adult Races stable </a:t>
            </a:r>
            <a:pPr indent="0" marL="0">
              <a:buNone/>
            </a:pPr>
            <a:r>
              <a:rPr lang="en-US" sz="1000" dirty="0">
                <a:solidFill>
                  <a:srgbClr val="222222"/>
                </a:solidFill>
                <a:latin typeface="Calibri" pitchFamily="34" charset="0"/>
                <a:ea typeface="Calibri" pitchFamily="34" charset="-122"/>
                <a:cs typeface="Calibri" pitchFamily="34" charset="-120"/>
              </a:rPr>
              <a:t>(Core offering holding steady; no structural erosion.)</a:t>
            </a:r>
            <a:endParaRPr lang="en-US" sz="1000" dirty="0"/>
          </a:p>
        </p:txBody>
      </p:sp>
      <p:sp>
        <p:nvSpPr>
          <p:cNvPr id="10" name="Shape 8"/>
          <p:cNvSpPr/>
          <p:nvPr/>
        </p:nvSpPr>
        <p:spPr>
          <a:xfrm>
            <a:off x="365760" y="3337560"/>
            <a:ext cx="4114800" cy="548640"/>
          </a:xfrm>
          <a:prstGeom prst="rect">
            <a:avLst/>
          </a:prstGeom>
          <a:solidFill>
            <a:srgbClr val="FDECEA"/>
          </a:solidFill>
          <a:ln w="12700">
            <a:solidFill>
              <a:srgbClr val="C62828"/>
            </a:solidFill>
            <a:prstDash val="solid"/>
          </a:ln>
        </p:spPr>
      </p:sp>
      <p:sp>
        <p:nvSpPr>
          <p:cNvPr id="11" name="Text 9"/>
          <p:cNvSpPr/>
          <p:nvPr/>
        </p:nvSpPr>
        <p:spPr>
          <a:xfrm>
            <a:off x="457200" y="333756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 Adult Clinics down 13% </a:t>
            </a:r>
            <a:pPr indent="0" marL="0">
              <a:buNone/>
            </a:pPr>
            <a:r>
              <a:rPr lang="en-US" sz="1000" dirty="0">
                <a:solidFill>
                  <a:srgbClr val="C62828"/>
                </a:solidFill>
                <a:latin typeface="Calibri" pitchFamily="34" charset="0"/>
                <a:ea typeface="Calibri" pitchFamily="34" charset="-122"/>
                <a:cs typeface="Calibri" pitchFamily="34" charset="-120"/>
              </a:rPr>
              <a:t>(Steepest drop signals education program fatigue or repositioning.)</a:t>
            </a:r>
            <a:endParaRPr lang="en-US" sz="1000" dirty="0"/>
          </a:p>
        </p:txBody>
      </p:sp>
      <p:sp>
        <p:nvSpPr>
          <p:cNvPr id="12" name="Shape 10"/>
          <p:cNvSpPr/>
          <p:nvPr/>
        </p:nvSpPr>
        <p:spPr>
          <a:xfrm>
            <a:off x="4754880" y="3337560"/>
            <a:ext cx="4114800" cy="548640"/>
          </a:xfrm>
          <a:prstGeom prst="rect">
            <a:avLst/>
          </a:prstGeom>
          <a:solidFill>
            <a:srgbClr val="F5F5F5"/>
          </a:solidFill>
          <a:ln w="12700">
            <a:solidFill>
              <a:srgbClr val="222222"/>
            </a:solidFill>
            <a:prstDash val="solid"/>
          </a:ln>
        </p:spPr>
      </p:sp>
      <p:sp>
        <p:nvSpPr>
          <p:cNvPr id="13" name="Text 11"/>
          <p:cNvSpPr/>
          <p:nvPr/>
        </p:nvSpPr>
        <p:spPr>
          <a:xfrm>
            <a:off x="4846320" y="3337560"/>
            <a:ext cx="3931920" cy="54864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 Youth Clinics up 17% </a:t>
            </a:r>
            <a:pPr indent="0" marL="0">
              <a:buNone/>
            </a:pPr>
            <a:r>
              <a:rPr lang="en-US" sz="1000" dirty="0">
                <a:solidFill>
                  <a:srgbClr val="222222"/>
                </a:solidFill>
                <a:latin typeface="Calibri" pitchFamily="34" charset="0"/>
                <a:ea typeface="Calibri" pitchFamily="34" charset="-122"/>
                <a:cs typeface="Calibri" pitchFamily="34" charset="-120"/>
              </a:rPr>
              <a:t>(Youth education momentum strong; opportunity to scale.)</a:t>
            </a:r>
            <a:endParaRPr lang="en-US" sz="1000" dirty="0"/>
          </a:p>
        </p:txBody>
      </p:sp>
      <p:sp>
        <p:nvSpPr>
          <p:cNvPr id="14" name="Text 12"/>
          <p:cNvSpPr/>
          <p:nvPr/>
        </p:nvSpPr>
        <p:spPr>
          <a:xfrm>
            <a:off x="365760" y="4663440"/>
            <a:ext cx="8229600" cy="320040"/>
          </a:xfrm>
          <a:prstGeom prst="rect">
            <a:avLst/>
          </a:prstGeom>
          <a:noFill/>
          <a:ln/>
        </p:spPr>
        <p:txBody>
          <a:bodyPr wrap="square" rtlCol="0" anchor="ctr"/>
          <a:lstStyle/>
          <a:p>
            <a:pPr indent="0" marL="0">
              <a:buNone/>
            </a:pPr>
            <a:r>
              <a:rPr lang="en-US" sz="850" i="1" dirty="0">
                <a:solidFill>
                  <a:srgbClr val="FFAAAA"/>
                </a:solidFill>
                <a:latin typeface="Calibri" pitchFamily="34" charset="0"/>
                <a:ea typeface="Calibri" pitchFamily="34" charset="-122"/>
                <a:cs typeface="Calibri" pitchFamily="34" charset="-120"/>
              </a:rPr>
              <a:t>Data as of May 17, 2026  |  Excl. Cancelled / Declined / Deleted  |  ~85–90% event-level match confidence</a:t>
            </a:r>
            <a:endParaRPr lang="en-US" sz="850" dirty="0"/>
          </a:p>
        </p:txBody>
      </p:sp>
      <p:sp>
        <p:nvSpPr>
          <p:cNvPr id="15" name="Text 13"/>
          <p:cNvSpPr/>
          <p:nvPr/>
        </p:nvSpPr>
        <p:spPr>
          <a:xfrm>
            <a:off x="8458200" y="4919472"/>
            <a:ext cx="594360" cy="182880"/>
          </a:xfrm>
          <a:prstGeom prst="rect">
            <a:avLst/>
          </a:prstGeom>
          <a:noFill/>
          <a:ln/>
        </p:spPr>
        <p:txBody>
          <a:bodyPr wrap="square" rtlCol="0" anchor="ctr"/>
          <a:lstStyle/>
          <a:p>
            <a:pPr algn="r" indent="0" marL="0">
              <a:buNone/>
            </a:pPr>
            <a:r>
              <a:rPr lang="en-US" sz="850" dirty="0">
                <a:solidFill>
                  <a:srgbClr val="FFAAAA"/>
                </a:solidFill>
                <a:latin typeface="Calibri" pitchFamily="34" charset="0"/>
                <a:ea typeface="Calibri" pitchFamily="34" charset="-122"/>
                <a:cs typeface="Calibri" pitchFamily="34" charset="-120"/>
              </a:rPr>
              <a:t>1 /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0  —  What Changed? Event Counts by Type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2 / 8</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8595360" cy="2487168"/>
        </p:xfrm>
        <a:graphic>
          <a:graphicData uri="http://schemas.openxmlformats.org/drawingml/2006/table">
            <a:tbl>
              <a:tblPr/>
              <a:tblGrid>
                <a:gridCol w="1432560"/>
                <a:gridCol w="1432560"/>
                <a:gridCol w="1432560"/>
                <a:gridCol w="1432560"/>
                <a:gridCol w="1432560"/>
                <a:gridCol w="1432560"/>
              </a:tblGrid>
              <a:tr h="402336">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Count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Read as...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402336">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Essentially flat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02336">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Mild softness</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97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84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C62828"/>
                          </a:solidFill>
                        </a:rPr>
                        <a:t>Structural contraction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402336">
                <a:tc>
                  <a:txBody>
                    <a:bodyPr/>
                    <a:lstStyle/>
                    <a:p>
                      <a:pPr algn="l" indent="0" marL="0">
                        <a:buNone/>
                      </a:pPr>
                      <a:r>
                        <a:rPr lang="en-US" sz="1000" b="1" dirty="0">
                          <a:solidFill>
                            <a:srgbClr val="1E7D34"/>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+17.2%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1E7D34"/>
                          </a:solidFill>
                        </a:rPr>
                        <a:t>Growing (+5)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402336">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 drives the decline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Shape 3"/>
          <p:cNvSpPr/>
          <p:nvPr/>
        </p:nvSpPr>
        <p:spPr>
          <a:xfrm>
            <a:off x="274320" y="3310128"/>
            <a:ext cx="8595360" cy="1005840"/>
          </a:xfrm>
          <a:prstGeom prst="rect">
            <a:avLst/>
          </a:prstGeom>
          <a:solidFill>
            <a:srgbClr val="ECEFF1"/>
          </a:solidFill>
          <a:ln w="12700">
            <a:solidFill>
              <a:srgbClr val="CCCCCC"/>
            </a:solidFill>
            <a:prstDash val="solid"/>
          </a:ln>
        </p:spPr>
      </p:sp>
      <p:sp>
        <p:nvSpPr>
          <p:cNvPr id="7" name="Text 4"/>
          <p:cNvSpPr/>
          <p:nvPr/>
        </p:nvSpPr>
        <p:spPr>
          <a:xfrm>
            <a:off x="384048" y="3355848"/>
            <a:ext cx="8321040" cy="91440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Narrative:  </a:t>
            </a:r>
            <a:pPr indent="0" marL="0">
              <a:buNone/>
            </a:pPr>
            <a:r>
              <a:rPr lang="en-US" sz="1000" dirty="0">
                <a:solidFill>
                  <a:srgbClr val="222222"/>
                </a:solidFill>
                <a:latin typeface="Calibri" pitchFamily="34" charset="0"/>
                <a:ea typeface="Calibri" pitchFamily="34" charset="-122"/>
                <a:cs typeface="Calibri" pitchFamily="34" charset="-120"/>
              </a:rPr>
              <a:t>Adult Clinics cratered while Youth Clinics surged—a clear pivot away from adult education toward youth development. The portfolio is rebalancing; we're not in decline, we're in transition.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1  —  Monthly Breakdown — July and August Drive the Declines</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3 / 8</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3108960" cy="3493008"/>
        </p:xfrm>
        <a:graphic>
          <a:graphicData uri="http://schemas.openxmlformats.org/drawingml/2006/table">
            <a:tbl>
              <a:tblPr/>
              <a:tblGrid>
                <a:gridCol w="777240"/>
                <a:gridCol w="777240"/>
                <a:gridCol w="777240"/>
                <a:gridCol w="777240"/>
              </a:tblGrid>
              <a:tr h="24688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Var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46888">
                <a:tc>
                  <a:txBody>
                    <a:bodyPr/>
                    <a:lstStyle/>
                    <a:p>
                      <a:pPr algn="l" indent="0" marL="0">
                        <a:buNone/>
                      </a:pPr>
                      <a:r>
                        <a:rPr lang="en-US" sz="1000" dirty="0">
                          <a:solidFill>
                            <a:srgbClr val="1E7D34"/>
                          </a:solidFill>
                        </a:rPr>
                        <a:t>Jan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Feb</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Mar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Apr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Jun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Jul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Aug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Sep</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Oct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Nov</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Dec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46888">
                <a:tc>
                  <a:txBody>
                    <a:bodyPr/>
                    <a:lstStyle/>
                    <a:p>
                      <a:pPr algn="ctr" indent="0" marL="0">
                        <a:buNone/>
                      </a:pPr>
                      <a:r>
                        <a:rPr lang="en-US" sz="1000" b="1" dirty="0">
                          <a:solidFill>
                            <a:srgbClr val="FFFFFF"/>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Text 3"/>
          <p:cNvSpPr/>
          <p:nvPr/>
        </p:nvSpPr>
        <p:spPr>
          <a:xfrm>
            <a:off x="3566160" y="694944"/>
            <a:ext cx="5394960" cy="256032"/>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Type Detail — July and August</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66160" y="987552"/>
          <a:ext cx="5394960" cy="1261872"/>
        </p:xfrm>
        <a:graphic>
          <a:graphicData uri="http://schemas.openxmlformats.org/drawingml/2006/table">
            <a:tbl>
              <a:tblPr/>
              <a:tblGrid>
                <a:gridCol w="899160"/>
                <a:gridCol w="899160"/>
                <a:gridCol w="899160"/>
                <a:gridCol w="899160"/>
                <a:gridCol w="899160"/>
                <a:gridCol w="899160"/>
              </a:tblGrid>
              <a:tr h="29260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9260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222222"/>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8" name="Shape 4"/>
          <p:cNvSpPr/>
          <p:nvPr/>
        </p:nvSpPr>
        <p:spPr>
          <a:xfrm>
            <a:off x="3566160" y="2340864"/>
            <a:ext cx="5394960" cy="658368"/>
          </a:xfrm>
          <a:prstGeom prst="rect">
            <a:avLst/>
          </a:prstGeom>
          <a:solidFill>
            <a:srgbClr val="FFCDD2"/>
          </a:solidFill>
          <a:ln w="12700">
            <a:solidFill>
              <a:srgbClr val="C62828"/>
            </a:solidFill>
            <a:prstDash val="solid"/>
          </a:ln>
        </p:spPr>
      </p:sp>
      <p:sp>
        <p:nvSpPr>
          <p:cNvPr id="9" name="Text 5"/>
          <p:cNvSpPr/>
          <p:nvPr/>
        </p:nvSpPr>
        <p:spPr>
          <a:xfrm>
            <a:off x="3630168" y="2340864"/>
            <a:ext cx="5266944" cy="6583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July and August are driven by Youth Race and Adult Race — not clinic-related.</a:t>
            </a:r>
            <a:endParaRPr lang="en-US" sz="1000" dirty="0"/>
          </a:p>
        </p:txBody>
      </p:sp>
      <p:sp>
        <p:nvSpPr>
          <p:cNvPr id="10" name="Shape 6"/>
          <p:cNvSpPr/>
          <p:nvPr/>
        </p:nvSpPr>
        <p:spPr>
          <a:xfrm>
            <a:off x="3566160" y="3090672"/>
            <a:ext cx="5394960" cy="914400"/>
          </a:xfrm>
          <a:prstGeom prst="rect">
            <a:avLst/>
          </a:prstGeom>
          <a:solidFill>
            <a:srgbClr val="C8E6C9"/>
          </a:solidFill>
          <a:ln w="12700">
            <a:solidFill>
              <a:srgbClr val="1E7D34"/>
            </a:solidFill>
            <a:prstDash val="solid"/>
          </a:ln>
        </p:spPr>
      </p:sp>
      <p:sp>
        <p:nvSpPr>
          <p:cNvPr id="11" name="Text 7"/>
          <p:cNvSpPr/>
          <p:nvPr/>
        </p:nvSpPr>
        <p:spPr>
          <a:xfrm>
            <a:off x="3630168" y="3090672"/>
            <a:ext cx="5266944" cy="914400"/>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October (+11) and June (+10) are the strongest months. Both show genuine organic strength plus new event additions.</a:t>
            </a:r>
            <a:endParaRPr lang="en-US" sz="1000" dirty="0"/>
          </a:p>
        </p:txBody>
      </p:sp>
      <p:sp>
        <p:nvSpPr>
          <p:cNvPr id="12" name="Shape 8"/>
          <p:cNvSpPr/>
          <p:nvPr/>
        </p:nvSpPr>
        <p:spPr>
          <a:xfrm>
            <a:off x="274320" y="4315968"/>
            <a:ext cx="8595360" cy="457200"/>
          </a:xfrm>
          <a:prstGeom prst="rect">
            <a:avLst/>
          </a:prstGeom>
          <a:solidFill>
            <a:srgbClr val="ECEFF1"/>
          </a:solidFill>
          <a:ln w="12700">
            <a:solidFill>
              <a:srgbClr val="CCCCCC"/>
            </a:solidFill>
            <a:prstDash val="solid"/>
          </a:ln>
        </p:spPr>
      </p:sp>
      <p:sp>
        <p:nvSpPr>
          <p:cNvPr id="13" name="Text 9"/>
          <p:cNvSpPr/>
          <p:nvPr/>
        </p:nvSpPr>
        <p:spPr>
          <a:xfrm>
            <a:off x="384048" y="4343400"/>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July and August bled −35 events combined; February added another −9. But June, October, and March more than stabilized the year, suggesting seasonal volatility rather than systemic collapse.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06064"/>
          </a:solidFill>
          <a:ln w="12700">
            <a:solidFill>
              <a:srgbClr val="006064"/>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2  —  Is This a Calendar Effect?  No — Not for July and August</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4 / 8</a:t>
            </a:r>
            <a:endParaRPr lang="en-US" sz="900" dirty="0"/>
          </a:p>
        </p:txBody>
      </p:sp>
      <p:sp>
        <p:nvSpPr>
          <p:cNvPr id="5" name="Shape 3"/>
          <p:cNvSpPr/>
          <p:nvPr/>
        </p:nvSpPr>
        <p:spPr>
          <a:xfrm>
            <a:off x="274320" y="694944"/>
            <a:ext cx="8595360" cy="566928"/>
          </a:xfrm>
          <a:prstGeom prst="rect">
            <a:avLst/>
          </a:prstGeom>
          <a:solidFill>
            <a:srgbClr val="FDECEA"/>
          </a:solidFill>
          <a:ln w="12700">
            <a:solidFill>
              <a:srgbClr val="C62828"/>
            </a:solidFill>
            <a:prstDash val="solid"/>
          </a:ln>
        </p:spPr>
      </p:sp>
      <p:sp>
        <p:nvSpPr>
          <p:cNvPr id="6" name="Text 4"/>
          <p:cNvSpPr/>
          <p:nvPr/>
        </p:nvSpPr>
        <p:spPr>
          <a:xfrm>
            <a:off x="420624" y="722376"/>
            <a:ext cx="8302752" cy="512064"/>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July and August had ZERO change in weekend days (Sat or Sun) between 2025 and 2026. There is no calendar explanation for the declines — they are fully organic.</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2231136"/>
        </p:xfrm>
        <a:graphic>
          <a:graphicData uri="http://schemas.openxmlformats.org/drawingml/2006/table">
            <a:tbl>
              <a:tblPr/>
              <a:tblGrid>
                <a:gridCol w="1432560"/>
                <a:gridCol w="1432560"/>
                <a:gridCol w="1432560"/>
                <a:gridCol w="1432560"/>
                <a:gridCol w="1432560"/>
                <a:gridCol w="1432560"/>
              </a:tblGrid>
              <a:tr h="33832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Weekend Days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Calendar Expected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Actual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Organic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Interpretation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r>
              <a:tr h="338328">
                <a:tc>
                  <a:txBody>
                    <a:bodyPr/>
                    <a:lstStyle/>
                    <a:p>
                      <a:pPr algn="l" indent="0" marL="0">
                        <a:buNone/>
                      </a:pPr>
                      <a:r>
                        <a:rPr lang="en-US" sz="1000" b="1" dirty="0">
                          <a:solidFill>
                            <a:srgbClr val="1E7D34"/>
                          </a:solidFill>
                        </a:rPr>
                        <a:t>March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+15.8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Looks +4 raw -- actually −11.8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1E7D34"/>
                          </a:solidFill>
                        </a:rPr>
                        <a:t>June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−23.2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8" name="Shape 5"/>
          <p:cNvSpPr/>
          <p:nvPr/>
        </p:nvSpPr>
        <p:spPr>
          <a:xfrm>
            <a:off x="274320" y="3675888"/>
            <a:ext cx="4160520" cy="566928"/>
          </a:xfrm>
          <a:prstGeom prst="rect">
            <a:avLst/>
          </a:prstGeom>
          <a:solidFill>
            <a:srgbClr val="E3F2FD"/>
          </a:solidFill>
          <a:ln w="12700">
            <a:solidFill>
              <a:srgbClr val="1565C0"/>
            </a:solidFill>
            <a:prstDash val="solid"/>
          </a:ln>
        </p:spPr>
      </p:sp>
      <p:sp>
        <p:nvSpPr>
          <p:cNvPr id="9" name="Text 6"/>
          <p:cNvSpPr/>
          <p:nvPr/>
        </p:nvSpPr>
        <p:spPr>
          <a:xfrm>
            <a:off x="384048" y="3694176"/>
            <a:ext cx="3931920" cy="530352"/>
          </a:xfrm>
          <a:prstGeom prst="rect">
            <a:avLst/>
          </a:prstGeom>
          <a:noFill/>
          <a:ln/>
        </p:spPr>
        <p:txBody>
          <a:bodyPr wrap="square" rtlCol="0" anchor="ctr"/>
          <a:lstStyle/>
          <a:p>
            <a:pPr indent="0" marL="0">
              <a:buNone/>
            </a:pPr>
            <a:r>
              <a:rPr lang="en-US" sz="950" dirty="0">
                <a:solidFill>
                  <a:srgbClr val="1565C0"/>
                </a:solidFill>
                <a:latin typeface="Calibri" pitchFamily="34" charset="0"/>
                <a:ea typeface="Calibri" pitchFamily="34" charset="-122"/>
                <a:cs typeface="Calibri" pitchFamily="34" charset="-120"/>
              </a:rPr>
              <a:t>Event shifting (123 events, 10%) explains a small share of monthly net changes.</a:t>
            </a:r>
            <a:endParaRPr lang="en-US" sz="950" dirty="0"/>
          </a:p>
        </p:txBody>
      </p:sp>
      <p:sp>
        <p:nvSpPr>
          <p:cNvPr id="10" name="Shape 7"/>
          <p:cNvSpPr/>
          <p:nvPr/>
        </p:nvSpPr>
        <p:spPr>
          <a:xfrm>
            <a:off x="4617720" y="3675888"/>
            <a:ext cx="4251960" cy="566928"/>
          </a:xfrm>
          <a:prstGeom prst="rect">
            <a:avLst/>
          </a:prstGeom>
          <a:solidFill>
            <a:srgbClr val="FFF8E1"/>
          </a:solidFill>
          <a:ln w="12700">
            <a:solidFill>
              <a:srgbClr val="E65100"/>
            </a:solidFill>
            <a:prstDash val="solid"/>
          </a:ln>
        </p:spPr>
      </p:sp>
      <p:sp>
        <p:nvSpPr>
          <p:cNvPr id="11" name="Text 8"/>
          <p:cNvSpPr/>
          <p:nvPr/>
        </p:nvSpPr>
        <p:spPr>
          <a:xfrm>
            <a:off x="4727448" y="3694176"/>
            <a:ext cx="4023360" cy="530352"/>
          </a:xfrm>
          <a:prstGeom prst="rect">
            <a:avLst/>
          </a:prstGeom>
          <a:noFill/>
          <a:ln/>
        </p:spPr>
        <p:txBody>
          <a:bodyPr wrap="square" rtlCol="0" anchor="ctr"/>
          <a:lstStyle/>
          <a:p>
            <a:pPr indent="0" marL="0">
              <a:buNone/>
            </a:pPr>
            <a:r>
              <a:rPr lang="en-US" sz="950" dirty="0">
                <a:solidFill>
                  <a:srgbClr val="E65100"/>
                </a:solidFill>
                <a:latin typeface="Calibri" pitchFamily="34" charset="0"/>
                <a:ea typeface="Calibri" pitchFamily="34" charset="-122"/>
                <a:cs typeface="Calibri" pitchFamily="34" charset="-120"/>
              </a:rPr>
              <a:t>May distortion: raw +4 masks −11.8 organic. Calendar effect was +15.8.</a:t>
            </a:r>
            <a:endParaRPr lang="en-US" sz="950" dirty="0"/>
          </a:p>
        </p:txBody>
      </p:sp>
      <p:sp>
        <p:nvSpPr>
          <p:cNvPr id="12" name="Shape 9"/>
          <p:cNvSpPr/>
          <p:nvPr/>
        </p:nvSpPr>
        <p:spPr>
          <a:xfrm>
            <a:off x="274320" y="4352544"/>
            <a:ext cx="8595360" cy="457200"/>
          </a:xfrm>
          <a:prstGeom prst="rect">
            <a:avLst/>
          </a:prstGeom>
          <a:solidFill>
            <a:srgbClr val="ECEFF1"/>
          </a:solidFill>
          <a:ln w="12700">
            <a:solidFill>
              <a:srgbClr val="CCCCCC"/>
            </a:solidFill>
            <a:prstDash val="solid"/>
          </a:ln>
        </p:spPr>
      </p:sp>
      <p:sp>
        <p:nvSpPr>
          <p:cNvPr id="13" name="Text 10"/>
          <p:cNvSpPr/>
          <p:nvPr/>
        </p:nvSpPr>
        <p:spPr>
          <a:xfrm>
            <a:off x="384048" y="4379976"/>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Calendar effects explain roughly half the July–August damage, but organic loss still dominates—this is participant behavior, not scheduling bad luck. May's false positive shows why raw counts lie; we need to isolate true demand shifts.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4A148C"/>
          </a:solidFill>
          <a:ln w="12700">
            <a:solidFill>
              <a:srgbClr val="4A148C"/>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3  —  Organic Performance -- True Signal After Removing Calendar Noise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5 / 8</a:t>
            </a:r>
            <a:endParaRPr lang="en-US" sz="900" dirty="0"/>
          </a:p>
        </p:txBody>
      </p:sp>
      <p:sp>
        <p:nvSpPr>
          <p:cNvPr id="5" name="Text 3"/>
          <p:cNvSpPr/>
          <p:nvPr/>
        </p:nvSpPr>
        <p:spPr>
          <a:xfrm>
            <a:off x="274320" y="694944"/>
            <a:ext cx="8595360" cy="237744"/>
          </a:xfrm>
          <a:prstGeom prst="rect">
            <a:avLst/>
          </a:prstGeom>
          <a:noFill/>
          <a:ln/>
        </p:spPr>
        <p:txBody>
          <a:bodyPr wrap="square" rtlCol="0" anchor="ctr"/>
          <a:lstStyle/>
          <a:p>
            <a:pPr indent="0" marL="0">
              <a:buNone/>
            </a:pPr>
            <a:r>
              <a:rPr lang="en-US" sz="1100" dirty="0">
                <a:solidFill>
                  <a:srgbClr val="222222"/>
                </a:solidFill>
                <a:latin typeface="Calibri" pitchFamily="34" charset="0"/>
                <a:ea typeface="Calibri" pitchFamily="34" charset="-122"/>
                <a:cs typeface="Calibri" pitchFamily="34" charset="-120"/>
              </a:rPr>
              <a:t>Once calendar effects are stripped, the real performance picture: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69264"/>
          <a:ext cx="8595360" cy="1828800"/>
        </p:xfrm>
        <a:graphic>
          <a:graphicData uri="http://schemas.openxmlformats.org/drawingml/2006/table">
            <a:tbl>
              <a:tblPr/>
              <a:tblGrid>
                <a:gridCol w="1719072"/>
                <a:gridCol w="1719072"/>
                <a:gridCol w="1719072"/>
                <a:gridCol w="1719072"/>
                <a:gridCol w="1719072"/>
              </a:tblGrid>
              <a:tr h="329184">
                <a:tc>
                  <a:txBody>
                    <a:bodyPr/>
                    <a:lstStyle/>
                    <a:p>
                      <a:pPr algn="ctr" indent="0" marL="0">
                        <a:buNone/>
                      </a:pPr>
                      <a:r>
                        <a:rPr lang="en-US" sz="1050" b="1" dirty="0">
                          <a:solidFill>
                            <a:srgbClr val="FFFFFF"/>
                          </a:solidFill>
                        </a:rPr>
                        <a:t>Event Type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Raw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Calendar Effect</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r>
              <a:tr h="329184">
                <a:tc>
                  <a:txBody>
                    <a:bodyPr/>
                    <a:lstStyle/>
                    <a:p>
                      <a:pPr algn="l" indent="0" marL="0">
                        <a:buNone/>
                      </a:pPr>
                      <a:r>
                        <a:rPr lang="en-US" sz="1050" dirty="0">
                          <a:solidFill>
                            <a:srgbClr val="222222"/>
                          </a:solidFill>
                        </a:rPr>
                        <a:t>Adult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1E7D34"/>
                          </a:solidFill>
                        </a:rPr>
                        <a:t>−1</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+1.4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+0.2%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29184">
                <a:tc>
                  <a:txBody>
                    <a:bodyPr/>
                    <a:lstStyle/>
                    <a:p>
                      <a:pPr algn="l" indent="0" marL="0">
                        <a:buNone/>
                      </a:pPr>
                      <a:r>
                        <a:rPr lang="en-US" sz="1050" dirty="0">
                          <a:solidFill>
                            <a:srgbClr val="222222"/>
                          </a:solidFill>
                        </a:rPr>
                        <a:t>Youth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7D34"/>
                          </a:solidFill>
                        </a:rPr>
                        <a:t>−4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−2.8</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C62828"/>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C62828"/>
                          </a:solidFill>
                        </a:rPr>
                        <a:t>Adult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b="1" dirty="0">
                          <a:solidFill>
                            <a:srgbClr val="1E7D34"/>
                          </a:solidFill>
                        </a:rPr>
                        <a:t>−13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b="1" dirty="0">
                          <a:solidFill>
                            <a:srgbClr val="1E7D34"/>
                          </a:solidFill>
                        </a:rPr>
                        <a:t>−11.0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C62828"/>
                          </a:solidFill>
                        </a:rPr>
                        <a:t>-11.3%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1E7D34"/>
                          </a:solidFill>
                        </a:rPr>
                        <a:t>Youth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+5</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−0.6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+5.6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1E7D34"/>
                          </a:solidFill>
                        </a:rPr>
                        <a:t>+19.4%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889504"/>
            <a:ext cx="8595360" cy="402336"/>
          </a:xfrm>
          <a:prstGeom prst="rect">
            <a:avLst/>
          </a:prstGeom>
          <a:solidFill>
            <a:srgbClr val="E3F2FD"/>
          </a:solidFill>
          <a:ln w="12700">
            <a:solidFill>
              <a:srgbClr val="1565C0"/>
            </a:solidFill>
            <a:prstDash val="solid"/>
          </a:ln>
        </p:spPr>
      </p:sp>
      <p:sp>
        <p:nvSpPr>
          <p:cNvPr id="8" name="Text 5"/>
          <p:cNvSpPr/>
          <p:nvPr/>
        </p:nvSpPr>
        <p:spPr>
          <a:xfrm>
            <a:off x="384048" y="2907792"/>
            <a:ext cx="8321040" cy="365760"/>
          </a:xfrm>
          <a:prstGeom prst="rect">
            <a:avLst/>
          </a:prstGeom>
          <a:noFill/>
          <a:ln/>
        </p:spPr>
        <p:txBody>
          <a:bodyPr wrap="square"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Organic Delta = Actual Delta - Calendar Expected Delta.   Calendar effect = Delta weekend days x 2025 events-per-weekend-day for that month &amp; type.</a:t>
            </a:r>
            <a:endParaRPr lang="en-US" sz="950" dirty="0"/>
          </a:p>
        </p:txBody>
      </p:sp>
      <p:sp>
        <p:nvSpPr>
          <p:cNvPr id="9" name="Shape 6"/>
          <p:cNvSpPr/>
          <p:nvPr/>
        </p:nvSpPr>
        <p:spPr>
          <a:xfrm>
            <a:off x="274320" y="3218688"/>
            <a:ext cx="4160520" cy="713232"/>
          </a:xfrm>
          <a:prstGeom prst="rect">
            <a:avLst/>
          </a:prstGeom>
          <a:solidFill>
            <a:srgbClr val="FDECEA"/>
          </a:solidFill>
          <a:ln w="12700">
            <a:solidFill>
              <a:srgbClr val="C62828"/>
            </a:solidFill>
            <a:prstDash val="solid"/>
          </a:ln>
        </p:spPr>
      </p:sp>
      <p:sp>
        <p:nvSpPr>
          <p:cNvPr id="10" name="Text 7"/>
          <p:cNvSpPr/>
          <p:nvPr/>
        </p:nvSpPr>
        <p:spPr>
          <a:xfrm>
            <a:off x="384048" y="3246120"/>
            <a:ext cx="3931920" cy="676656"/>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−11.3% organic
</a:t>
            </a:r>
            <a:pPr indent="0" marL="0">
              <a:buNone/>
            </a:pPr>
            <a:r>
              <a:rPr lang="en-US" sz="950" dirty="0">
                <a:solidFill>
                  <a:srgbClr val="C62828"/>
                </a:solidFill>
                <a:latin typeface="Calibri" pitchFamily="34" charset="0"/>
                <a:ea typeface="Calibri" pitchFamily="34" charset="-122"/>
                <a:cs typeface="Calibri" pitchFamily="34" charset="-120"/>
              </a:rPr>
              <a:t>Organic delta −11.0 (-11.3%). Calendar noise cannot explain it.</a:t>
            </a:r>
            <a:endParaRPr lang="en-US" sz="950" dirty="0"/>
          </a:p>
        </p:txBody>
      </p:sp>
      <p:sp>
        <p:nvSpPr>
          <p:cNvPr id="11" name="Shape 8"/>
          <p:cNvSpPr/>
          <p:nvPr/>
        </p:nvSpPr>
        <p:spPr>
          <a:xfrm>
            <a:off x="4617720" y="3218688"/>
            <a:ext cx="4251960" cy="713232"/>
          </a:xfrm>
          <a:prstGeom prst="rect">
            <a:avLst/>
          </a:prstGeom>
          <a:solidFill>
            <a:srgbClr val="E8F5E9"/>
          </a:solidFill>
          <a:ln w="12700">
            <a:solidFill>
              <a:srgbClr val="1E7D34"/>
            </a:solidFill>
            <a:prstDash val="solid"/>
          </a:ln>
        </p:spPr>
      </p:sp>
      <p:sp>
        <p:nvSpPr>
          <p:cNvPr id="12" name="Text 9"/>
          <p:cNvSpPr/>
          <p:nvPr/>
        </p:nvSpPr>
        <p:spPr>
          <a:xfrm>
            <a:off x="4727448" y="3246120"/>
            <a:ext cx="4023360" cy="676656"/>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+19.4% organic
</a:t>
            </a:r>
            <a:pPr indent="0" marL="0">
              <a:buNone/>
            </a:pPr>
            <a:r>
              <a:rPr lang="en-US" sz="950" dirty="0">
                <a:solidFill>
                  <a:srgbClr val="1E7D34"/>
                </a:solidFill>
                <a:latin typeface="Calibri" pitchFamily="34" charset="0"/>
                <a:ea typeface="Calibri" pitchFamily="34" charset="-122"/>
                <a:cs typeface="Calibri" pitchFamily="34" charset="-120"/>
              </a:rPr>
              <a:t>Organic delta +5.6 (+19.4%) -- no calendar help required.</a:t>
            </a:r>
            <a:endParaRPr lang="en-US" sz="950" dirty="0"/>
          </a:p>
        </p:txBody>
      </p:sp>
      <p:sp>
        <p:nvSpPr>
          <p:cNvPr id="13" name="Text 10"/>
          <p:cNvSpPr/>
          <p:nvPr/>
        </p:nvSpPr>
        <p:spPr>
          <a:xfrm>
            <a:off x="274320" y="4041648"/>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Best &amp; worst organic months (calendar-adjusted):</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274320" y="4315968"/>
          <a:ext cx="8595360" cy="603504"/>
        </p:xfrm>
        <a:graphic>
          <a:graphicData uri="http://schemas.openxmlformats.org/drawingml/2006/table">
            <a:tbl>
              <a:tblPr/>
              <a:tblGrid>
                <a:gridCol w="1719072"/>
                <a:gridCol w="1719072"/>
                <a:gridCol w="1719072"/>
                <a:gridCol w="1719072"/>
                <a:gridCol w="1719072"/>
              </a:tblGrid>
              <a:tr h="283464">
                <a:tc>
                  <a:txBody>
                    <a:bodyPr/>
                    <a:lstStyle/>
                    <a:p>
                      <a:pPr algn="ctr" indent="0" marL="0">
                        <a:buNone/>
                      </a:pPr>
                      <a:r>
                        <a:rPr lang="en-US" sz="1000" b="1" dirty="0">
                          <a:solidFill>
                            <a:srgbClr val="FFFFFF"/>
                          </a:solidFill>
                        </a:rPr>
                        <a:t>Strongest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Jun +33.2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Mar +13.4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Jan +5.8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Apr +5.0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r>
              <a:tr h="283464">
                <a:tc>
                  <a:txBody>
                    <a:bodyPr/>
                    <a:lstStyle/>
                    <a:p>
                      <a:pPr algn="ctr" indent="0" marL="0">
                        <a:buNone/>
                      </a:pPr>
                      <a:r>
                        <a:rPr lang="en-US" sz="1000" b="1" dirty="0">
                          <a:solidFill>
                            <a:srgbClr val="FFFFFF"/>
                          </a:solidFill>
                        </a:rPr>
                        <a:t>Weakest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Aug −19.0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Jul −16.0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May −11.8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Feb −9.0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r>
            </a:tbl>
          </a:graphicData>
        </a:graphic>
      </p:graphicFrame>
      <p:sp>
        <p:nvSpPr>
          <p:cNvPr id="15" name="Shape 11"/>
          <p:cNvSpPr/>
          <p:nvPr/>
        </p:nvSpPr>
        <p:spPr>
          <a:xfrm>
            <a:off x="274320" y="4974336"/>
            <a:ext cx="8595360" cy="128016"/>
          </a:xfrm>
          <a:prstGeom prst="rect">
            <a:avLst/>
          </a:prstGeom>
          <a:solidFill>
            <a:srgbClr val="ECEFF1"/>
          </a:solidFill>
          <a:ln w="12700">
            <a:solidFill>
              <a:srgbClr val="CCCCCC"/>
            </a:solidFill>
            <a:prstDash val="solid"/>
          </a:ln>
        </p:spPr>
      </p:sp>
      <p:sp>
        <p:nvSpPr>
          <p:cNvPr id="16" name="Text 12"/>
          <p:cNvSpPr/>
          <p:nvPr/>
        </p:nvSpPr>
        <p:spPr>
          <a:xfrm>
            <a:off x="384048" y="4983480"/>
            <a:ext cx="8321040" cy="109728"/>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Adult Clinics bled organically (−11% core demand) even after removing calendar noise; Youth Clinics and Races show genuine organic growth. The problem is concentrated in one product line, not portfolio-wide.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7474F"/>
          </a:solidFill>
          <a:ln w="12700">
            <a:solidFill>
              <a:srgbClr val="37474F"/>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4  —  Did We Really Lose Events?  Event-Level Disposition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6 / 8</a:t>
            </a:r>
            <a:endParaRPr lang="en-US" sz="900" dirty="0"/>
          </a:p>
        </p:txBody>
      </p:sp>
      <p:sp>
        <p:nvSpPr>
          <p:cNvPr id="5" name="Shape 3"/>
          <p:cNvSpPr/>
          <p:nvPr/>
        </p:nvSpPr>
        <p:spPr>
          <a:xfrm>
            <a:off x="274320" y="694944"/>
            <a:ext cx="2029968" cy="1152144"/>
          </a:xfrm>
          <a:prstGeom prst="rect">
            <a:avLst/>
          </a:prstGeom>
          <a:solidFill>
            <a:srgbClr val="E8F5E9"/>
          </a:solidFill>
          <a:ln w="12700">
            <a:solidFill>
              <a:srgbClr val="1E7D34"/>
            </a:solidFill>
            <a:prstDash val="solid"/>
          </a:ln>
        </p:spPr>
      </p:sp>
      <p:sp>
        <p:nvSpPr>
          <p:cNvPr id="6" name="Text 4"/>
          <p:cNvSpPr/>
          <p:nvPr/>
        </p:nvSpPr>
        <p:spPr>
          <a:xfrm>
            <a:off x="274320" y="722376"/>
            <a:ext cx="2029968" cy="475488"/>
          </a:xfrm>
          <a:prstGeom prst="rect">
            <a:avLst/>
          </a:prstGeom>
          <a:noFill/>
          <a:ln/>
        </p:spPr>
        <p:txBody>
          <a:bodyPr wrap="square" rtlCol="0" anchor="ctr"/>
          <a:lstStyle/>
          <a:p>
            <a:pPr algn="ctr" indent="0" marL="0">
              <a:buNone/>
            </a:pPr>
            <a:r>
              <a:rPr lang="en-US" sz="2700" b="1" dirty="0">
                <a:solidFill>
                  <a:srgbClr val="1E7D34"/>
                </a:solidFill>
                <a:latin typeface="Calibri" pitchFamily="34" charset="0"/>
                <a:ea typeface="Calibri" pitchFamily="34" charset="-122"/>
                <a:cs typeface="Calibri" pitchFamily="34" charset="-120"/>
              </a:rPr>
              <a:t>746</a:t>
            </a:r>
            <a:endParaRPr lang="en-US" sz="2700" dirty="0"/>
          </a:p>
        </p:txBody>
      </p:sp>
      <p:sp>
        <p:nvSpPr>
          <p:cNvPr id="7" name="Text 5"/>
          <p:cNvSpPr/>
          <p:nvPr/>
        </p:nvSpPr>
        <p:spPr>
          <a:xfrm>
            <a:off x="274320" y="1161288"/>
            <a:ext cx="2029968" cy="201168"/>
          </a:xfrm>
          <a:prstGeom prst="rect">
            <a:avLst/>
          </a:prstGeom>
          <a:noFill/>
          <a:ln/>
        </p:spPr>
        <p:txBody>
          <a:bodyPr wrap="square" rtlCol="0" anchor="ctr"/>
          <a:lstStyle/>
          <a:p>
            <a:pPr algn="ctr" indent="0" marL="0">
              <a:buNone/>
            </a:pPr>
            <a:r>
              <a:rPr lang="en-US" sz="900" i="1" dirty="0">
                <a:solidFill>
                  <a:srgbClr val="1E7D34"/>
                </a:solidFill>
                <a:latin typeface="Calibri" pitchFamily="34" charset="0"/>
                <a:ea typeface="Calibri" pitchFamily="34" charset="-122"/>
                <a:cs typeface="Calibri" pitchFamily="34" charset="-120"/>
              </a:rPr>
              <a:t>63% of 2025</a:t>
            </a:r>
            <a:endParaRPr lang="en-US" sz="900" dirty="0"/>
          </a:p>
        </p:txBody>
      </p:sp>
      <p:sp>
        <p:nvSpPr>
          <p:cNvPr id="8" name="Text 6"/>
          <p:cNvSpPr/>
          <p:nvPr/>
        </p:nvSpPr>
        <p:spPr>
          <a:xfrm>
            <a:off x="274320" y="1344168"/>
            <a:ext cx="2029968" cy="201168"/>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Retained</a:t>
            </a:r>
            <a:endParaRPr lang="en-US" sz="1000" dirty="0"/>
          </a:p>
        </p:txBody>
      </p:sp>
      <p:sp>
        <p:nvSpPr>
          <p:cNvPr id="9" name="Text 7"/>
          <p:cNvSpPr/>
          <p:nvPr/>
        </p:nvSpPr>
        <p:spPr>
          <a:xfrm>
            <a:off x="274320"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same month</a:t>
            </a:r>
            <a:endParaRPr lang="en-US" sz="850" dirty="0"/>
          </a:p>
        </p:txBody>
      </p:sp>
      <p:sp>
        <p:nvSpPr>
          <p:cNvPr id="10" name="Shape 8"/>
          <p:cNvSpPr/>
          <p:nvPr/>
        </p:nvSpPr>
        <p:spPr>
          <a:xfrm>
            <a:off x="2450592" y="694944"/>
            <a:ext cx="2029968" cy="1152144"/>
          </a:xfrm>
          <a:prstGeom prst="rect">
            <a:avLst/>
          </a:prstGeom>
          <a:solidFill>
            <a:srgbClr val="FFF8E1"/>
          </a:solidFill>
          <a:ln w="12700">
            <a:solidFill>
              <a:srgbClr val="E65100"/>
            </a:solidFill>
            <a:prstDash val="solid"/>
          </a:ln>
        </p:spPr>
      </p:sp>
      <p:sp>
        <p:nvSpPr>
          <p:cNvPr id="11" name="Text 9"/>
          <p:cNvSpPr/>
          <p:nvPr/>
        </p:nvSpPr>
        <p:spPr>
          <a:xfrm>
            <a:off x="2450592" y="722376"/>
            <a:ext cx="2029968" cy="475488"/>
          </a:xfrm>
          <a:prstGeom prst="rect">
            <a:avLst/>
          </a:prstGeom>
          <a:noFill/>
          <a:ln/>
        </p:spPr>
        <p:txBody>
          <a:bodyPr wrap="square" rtlCol="0" anchor="ctr"/>
          <a:lstStyle/>
          <a:p>
            <a:pPr algn="ctr" indent="0" marL="0">
              <a:buNone/>
            </a:pPr>
            <a:r>
              <a:rPr lang="en-US" sz="2700" b="1" dirty="0">
                <a:solidFill>
                  <a:srgbClr val="E65100"/>
                </a:solidFill>
                <a:latin typeface="Calibri" pitchFamily="34" charset="0"/>
                <a:ea typeface="Calibri" pitchFamily="34" charset="-122"/>
                <a:cs typeface="Calibri" pitchFamily="34" charset="-120"/>
              </a:rPr>
              <a:t>123</a:t>
            </a:r>
            <a:endParaRPr lang="en-US" sz="2700" dirty="0"/>
          </a:p>
        </p:txBody>
      </p:sp>
      <p:sp>
        <p:nvSpPr>
          <p:cNvPr id="12" name="Text 10"/>
          <p:cNvSpPr/>
          <p:nvPr/>
        </p:nvSpPr>
        <p:spPr>
          <a:xfrm>
            <a:off x="2450592" y="1161288"/>
            <a:ext cx="2029968" cy="201168"/>
          </a:xfrm>
          <a:prstGeom prst="rect">
            <a:avLst/>
          </a:prstGeom>
          <a:noFill/>
          <a:ln/>
        </p:spPr>
        <p:txBody>
          <a:bodyPr wrap="square" rtlCol="0" anchor="ctr"/>
          <a:lstStyle/>
          <a:p>
            <a:pPr algn="ctr" indent="0" marL="0">
              <a:buNone/>
            </a:pPr>
            <a:r>
              <a:rPr lang="en-US" sz="900" i="1" dirty="0">
                <a:solidFill>
                  <a:srgbClr val="E65100"/>
                </a:solidFill>
                <a:latin typeface="Calibri" pitchFamily="34" charset="0"/>
                <a:ea typeface="Calibri" pitchFamily="34" charset="-122"/>
                <a:cs typeface="Calibri" pitchFamily="34" charset="-120"/>
              </a:rPr>
              <a:t>10% of 2025</a:t>
            </a:r>
            <a:endParaRPr lang="en-US" sz="900" dirty="0"/>
          </a:p>
        </p:txBody>
      </p:sp>
      <p:sp>
        <p:nvSpPr>
          <p:cNvPr id="13" name="Text 11"/>
          <p:cNvSpPr/>
          <p:nvPr/>
        </p:nvSpPr>
        <p:spPr>
          <a:xfrm>
            <a:off x="2450592" y="1344168"/>
            <a:ext cx="2029968" cy="201168"/>
          </a:xfrm>
          <a:prstGeom prst="rect">
            <a:avLst/>
          </a:prstGeom>
          <a:noFill/>
          <a:ln/>
        </p:spPr>
        <p:txBody>
          <a:bodyPr wrap="square" rtlCol="0" anchor="ctr"/>
          <a:lstStyle/>
          <a:p>
            <a:pPr algn="ctr" indent="0" marL="0">
              <a:buNone/>
            </a:pPr>
            <a:r>
              <a:rPr lang="en-US" sz="1000" b="1" dirty="0">
                <a:solidFill>
                  <a:srgbClr val="E65100"/>
                </a:solidFill>
                <a:latin typeface="Calibri" pitchFamily="34" charset="0"/>
                <a:ea typeface="Calibri" pitchFamily="34" charset="-122"/>
                <a:cs typeface="Calibri" pitchFamily="34" charset="-120"/>
              </a:rPr>
              <a:t>Shifted</a:t>
            </a:r>
            <a:endParaRPr lang="en-US" sz="1000" dirty="0"/>
          </a:p>
        </p:txBody>
      </p:sp>
      <p:sp>
        <p:nvSpPr>
          <p:cNvPr id="14" name="Text 12"/>
          <p:cNvSpPr/>
          <p:nvPr/>
        </p:nvSpPr>
        <p:spPr>
          <a:xfrm>
            <a:off x="2450592"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diff month</a:t>
            </a:r>
            <a:endParaRPr lang="en-US" sz="850" dirty="0"/>
          </a:p>
        </p:txBody>
      </p:sp>
      <p:sp>
        <p:nvSpPr>
          <p:cNvPr id="15" name="Shape 13"/>
          <p:cNvSpPr/>
          <p:nvPr/>
        </p:nvSpPr>
        <p:spPr>
          <a:xfrm>
            <a:off x="4626864" y="694944"/>
            <a:ext cx="2029968" cy="1152144"/>
          </a:xfrm>
          <a:prstGeom prst="rect">
            <a:avLst/>
          </a:prstGeom>
          <a:solidFill>
            <a:srgbClr val="FFCDD2"/>
          </a:solidFill>
          <a:ln w="12700">
            <a:solidFill>
              <a:srgbClr val="C62828"/>
            </a:solidFill>
            <a:prstDash val="solid"/>
          </a:ln>
        </p:spPr>
      </p:sp>
      <p:sp>
        <p:nvSpPr>
          <p:cNvPr id="16" name="Text 14"/>
          <p:cNvSpPr/>
          <p:nvPr/>
        </p:nvSpPr>
        <p:spPr>
          <a:xfrm>
            <a:off x="4626864" y="722376"/>
            <a:ext cx="2029968" cy="475488"/>
          </a:xfrm>
          <a:prstGeom prst="rect">
            <a:avLst/>
          </a:prstGeom>
          <a:noFill/>
          <a:ln/>
        </p:spPr>
        <p:txBody>
          <a:bodyPr wrap="square" rtlCol="0" anchor="ctr"/>
          <a:lstStyle/>
          <a:p>
            <a:pPr algn="ctr" indent="0" marL="0">
              <a:buNone/>
            </a:pPr>
            <a:r>
              <a:rPr lang="en-US" sz="2700" b="1" dirty="0">
                <a:solidFill>
                  <a:srgbClr val="C62828"/>
                </a:solidFill>
                <a:latin typeface="Calibri" pitchFamily="34" charset="0"/>
                <a:ea typeface="Calibri" pitchFamily="34" charset="-122"/>
                <a:cs typeface="Calibri" pitchFamily="34" charset="-120"/>
              </a:rPr>
              <a:t>296</a:t>
            </a:r>
            <a:endParaRPr lang="en-US" sz="2700" dirty="0"/>
          </a:p>
        </p:txBody>
      </p:sp>
      <p:sp>
        <p:nvSpPr>
          <p:cNvPr id="17" name="Text 15"/>
          <p:cNvSpPr/>
          <p:nvPr/>
        </p:nvSpPr>
        <p:spPr>
          <a:xfrm>
            <a:off x="4626864" y="1161288"/>
            <a:ext cx="2029968" cy="201168"/>
          </a:xfrm>
          <a:prstGeom prst="rect">
            <a:avLst/>
          </a:prstGeom>
          <a:noFill/>
          <a:ln/>
        </p:spPr>
        <p:txBody>
          <a:bodyPr wrap="square" rtlCol="0" anchor="ctr"/>
          <a:lstStyle/>
          <a:p>
            <a:pPr algn="ctr" indent="0" marL="0">
              <a:buNone/>
            </a:pPr>
            <a:r>
              <a:rPr lang="en-US" sz="900" i="1" dirty="0">
                <a:solidFill>
                  <a:srgbClr val="C62828"/>
                </a:solidFill>
                <a:latin typeface="Calibri" pitchFamily="34" charset="0"/>
                <a:ea typeface="Calibri" pitchFamily="34" charset="-122"/>
                <a:cs typeface="Calibri" pitchFamily="34" charset="-120"/>
              </a:rPr>
              <a:t>25% of 2025</a:t>
            </a:r>
            <a:endParaRPr lang="en-US" sz="900" dirty="0"/>
          </a:p>
        </p:txBody>
      </p:sp>
      <p:sp>
        <p:nvSpPr>
          <p:cNvPr id="18" name="Text 16"/>
          <p:cNvSpPr/>
          <p:nvPr/>
        </p:nvSpPr>
        <p:spPr>
          <a:xfrm>
            <a:off x="4626864" y="1344168"/>
            <a:ext cx="2029968" cy="2011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Lost</a:t>
            </a:r>
            <a:endParaRPr lang="en-US" sz="1000" dirty="0"/>
          </a:p>
        </p:txBody>
      </p:sp>
      <p:sp>
        <p:nvSpPr>
          <p:cNvPr id="19" name="Text 17"/>
          <p:cNvSpPr/>
          <p:nvPr/>
        </p:nvSpPr>
        <p:spPr>
          <a:xfrm>
            <a:off x="4626864"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Did not return to 2026</a:t>
            </a:r>
            <a:endParaRPr lang="en-US" sz="850" dirty="0"/>
          </a:p>
        </p:txBody>
      </p:sp>
      <p:sp>
        <p:nvSpPr>
          <p:cNvPr id="20" name="Shape 18"/>
          <p:cNvSpPr/>
          <p:nvPr/>
        </p:nvSpPr>
        <p:spPr>
          <a:xfrm>
            <a:off x="6803136" y="694944"/>
            <a:ext cx="2029968" cy="1152144"/>
          </a:xfrm>
          <a:prstGeom prst="rect">
            <a:avLst/>
          </a:prstGeom>
          <a:solidFill>
            <a:srgbClr val="E3F2FD"/>
          </a:solidFill>
          <a:ln w="12700">
            <a:solidFill>
              <a:srgbClr val="1565C0"/>
            </a:solidFill>
            <a:prstDash val="solid"/>
          </a:ln>
        </p:spPr>
      </p:sp>
      <p:sp>
        <p:nvSpPr>
          <p:cNvPr id="21" name="Text 19"/>
          <p:cNvSpPr/>
          <p:nvPr/>
        </p:nvSpPr>
        <p:spPr>
          <a:xfrm>
            <a:off x="6803136" y="722376"/>
            <a:ext cx="2029968" cy="475488"/>
          </a:xfrm>
          <a:prstGeom prst="rect">
            <a:avLst/>
          </a:prstGeom>
          <a:noFill/>
          <a:ln/>
        </p:spPr>
        <p:txBody>
          <a:bodyPr wrap="square" rtlCol="0" anchor="ctr"/>
          <a:lstStyle/>
          <a:p>
            <a:pPr algn="ctr" indent="0" marL="0">
              <a:buNone/>
            </a:pPr>
            <a:r>
              <a:rPr lang="en-US" sz="2700" b="1" dirty="0">
                <a:solidFill>
                  <a:srgbClr val="1565C0"/>
                </a:solidFill>
                <a:latin typeface="Calibri" pitchFamily="34" charset="0"/>
                <a:ea typeface="Calibri" pitchFamily="34" charset="-122"/>
                <a:cs typeface="Calibri" pitchFamily="34" charset="-120"/>
              </a:rPr>
              <a:t>265</a:t>
            </a:r>
            <a:endParaRPr lang="en-US" sz="2700" dirty="0"/>
          </a:p>
        </p:txBody>
      </p:sp>
      <p:sp>
        <p:nvSpPr>
          <p:cNvPr id="22" name="Text 20"/>
          <p:cNvSpPr/>
          <p:nvPr/>
        </p:nvSpPr>
        <p:spPr>
          <a:xfrm>
            <a:off x="6803136" y="1161288"/>
            <a:ext cx="2029968" cy="201168"/>
          </a:xfrm>
          <a:prstGeom prst="rect">
            <a:avLst/>
          </a:prstGeom>
          <a:noFill/>
          <a:ln/>
        </p:spPr>
        <p:txBody>
          <a:bodyPr wrap="square" rtlCol="0" anchor="ctr"/>
          <a:lstStyle/>
          <a:p>
            <a:pPr algn="ctr" indent="0" marL="0">
              <a:buNone/>
            </a:pPr>
            <a:r>
              <a:rPr lang="en-US" sz="900" i="1" dirty="0">
                <a:solidFill>
                  <a:srgbClr val="1565C0"/>
                </a:solidFill>
                <a:latin typeface="Calibri" pitchFamily="34" charset="0"/>
                <a:ea typeface="Calibri" pitchFamily="34" charset="-122"/>
                <a:cs typeface="Calibri" pitchFamily="34" charset="-120"/>
              </a:rPr>
              <a:t>22% of 2025</a:t>
            </a:r>
            <a:endParaRPr lang="en-US" sz="900" dirty="0"/>
          </a:p>
        </p:txBody>
      </p:sp>
      <p:sp>
        <p:nvSpPr>
          <p:cNvPr id="23" name="Text 21"/>
          <p:cNvSpPr/>
          <p:nvPr/>
        </p:nvSpPr>
        <p:spPr>
          <a:xfrm>
            <a:off x="6803136" y="1344168"/>
            <a:ext cx="2029968" cy="201168"/>
          </a:xfrm>
          <a:prstGeom prst="rect">
            <a:avLst/>
          </a:prstGeom>
          <a:noFill/>
          <a:ln/>
        </p:spPr>
        <p:txBody>
          <a:bodyPr wrap="square" rtlCol="0" anchor="ctr"/>
          <a:lstStyle/>
          <a:p>
            <a:pPr algn="ctr" indent="0" marL="0">
              <a:buNone/>
            </a:pPr>
            <a:r>
              <a:rPr lang="en-US" sz="1000" b="1" dirty="0">
                <a:solidFill>
                  <a:srgbClr val="1565C0"/>
                </a:solidFill>
                <a:latin typeface="Calibri" pitchFamily="34" charset="0"/>
                <a:ea typeface="Calibri" pitchFamily="34" charset="-122"/>
                <a:cs typeface="Calibri" pitchFamily="34" charset="-120"/>
              </a:rPr>
              <a:t>New</a:t>
            </a:r>
            <a:endParaRPr lang="en-US" sz="1000" dirty="0"/>
          </a:p>
        </p:txBody>
      </p:sp>
      <p:sp>
        <p:nvSpPr>
          <p:cNvPr id="24" name="Text 22"/>
          <p:cNvSpPr/>
          <p:nvPr/>
        </p:nvSpPr>
        <p:spPr>
          <a:xfrm>
            <a:off x="6803136"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Brand new to 2026</a:t>
            </a:r>
            <a:endParaRPr lang="en-US" sz="850" dirty="0"/>
          </a:p>
        </p:txBody>
      </p:sp>
      <p:sp>
        <p:nvSpPr>
          <p:cNvPr id="25" name="Text 23"/>
          <p:cNvSpPr/>
          <p:nvPr/>
        </p:nvSpPr>
        <p:spPr>
          <a:xfrm>
            <a:off x="274320" y="1920240"/>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Replacement Rates -- selected months: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194560"/>
          <a:ext cx="8595360" cy="1261872"/>
        </p:xfrm>
        <a:graphic>
          <a:graphicData uri="http://schemas.openxmlformats.org/drawingml/2006/table">
            <a:tbl>
              <a:tblPr/>
              <a:tblGrid>
                <a:gridCol w="955040"/>
                <a:gridCol w="955040"/>
                <a:gridCol w="955040"/>
                <a:gridCol w="955040"/>
                <a:gridCol w="955040"/>
                <a:gridCol w="955040"/>
                <a:gridCol w="955040"/>
                <a:gridCol w="955040"/>
                <a:gridCol w="955040"/>
              </a:tblGrid>
              <a:tr h="347472">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Events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Retained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Out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5100"/>
                    </a:solidFill>
                  </a:tcPr>
                </a:tc>
                <a:tc>
                  <a:txBody>
                    <a:bodyPr/>
                    <a:lstStyle/>
                    <a:p>
                      <a:pPr algn="ctr" indent="0" marL="0">
                        <a:buNone/>
                      </a:pPr>
                      <a:r>
                        <a:rPr lang="en-US" sz="1000" b="1" dirty="0">
                          <a:solidFill>
                            <a:srgbClr val="FFFFFF"/>
                          </a:solidFill>
                        </a:rPr>
                        <a:t>Lost</a:t>
                      </a:r>
                      <a:endParaRPr lang="en-US" sz="1000" dirty="0"/>
                    </a:p>
                    <a:p>
                      <a:pPr algn="ctr" indent="0" marL="0">
                        <a:buNone/>
                      </a:pPr>
                      <a:r>
                        <a:rPr lang="en-US" sz="1000" b="1" dirty="0">
                          <a:solidFill>
                            <a:srgbClr val="FFFFFF"/>
                          </a:solidFill>
                        </a:rPr>
                        <a:t>(truly lost)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In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New</a:t>
                      </a:r>
                      <a:endParaRPr lang="en-US" sz="1000" dirty="0"/>
                    </a:p>
                    <a:p>
                      <a:pPr algn="ctr" indent="0" marL="0">
                        <a:buNone/>
                      </a:pPr>
                      <a:r>
                        <a:rPr lang="en-US" sz="1000" b="1" dirty="0">
                          <a:solidFill>
                            <a:srgbClr val="FFFFFF"/>
                          </a:solidFill>
                        </a:rPr>
                        <a:t>Added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Repl.</a:t>
                      </a:r>
                      <a:endParaRPr lang="en-US" sz="1000" dirty="0"/>
                    </a:p>
                    <a:p>
                      <a:pPr algn="ctr" indent="0" marL="0">
                        <a:buNone/>
                      </a:pPr>
                      <a:r>
                        <a:rPr lang="en-US" sz="1000" b="1" dirty="0">
                          <a:solidFill>
                            <a:srgbClr val="FFFFFF"/>
                          </a:solidFill>
                        </a:rPr>
                        <a:t>Rate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347472">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1E7D34"/>
                          </a:solidFill>
                        </a:rPr>
                        <a:t>October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14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&gt;100%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27" name="Shape 24"/>
          <p:cNvSpPr/>
          <p:nvPr/>
        </p:nvSpPr>
        <p:spPr>
          <a:xfrm>
            <a:off x="274320" y="3547872"/>
            <a:ext cx="4160520" cy="548640"/>
          </a:xfrm>
          <a:prstGeom prst="rect">
            <a:avLst/>
          </a:prstGeom>
          <a:solidFill>
            <a:srgbClr val="F3E5F5"/>
          </a:solidFill>
          <a:ln w="12700">
            <a:solidFill>
              <a:srgbClr val="6A1B9A"/>
            </a:solidFill>
            <a:prstDash val="solid"/>
          </a:ln>
        </p:spPr>
      </p:sp>
      <p:sp>
        <p:nvSpPr>
          <p:cNvPr id="28" name="Text 25"/>
          <p:cNvSpPr/>
          <p:nvPr/>
        </p:nvSpPr>
        <p:spPr>
          <a:xfrm>
            <a:off x="384048" y="3566160"/>
            <a:ext cx="3931920" cy="512064"/>
          </a:xfrm>
          <a:prstGeom prst="rect">
            <a:avLst/>
          </a:prstGeom>
          <a:noFill/>
          <a:ln/>
        </p:spPr>
        <p:txBody>
          <a:bodyPr wrap="square" rtlCol="0" anchor="ctr"/>
          <a:lstStyle/>
          <a:p>
            <a:pPr indent="0" marL="0">
              <a:buNone/>
            </a:pPr>
            <a:r>
              <a:rPr lang="en-US" sz="950" dirty="0">
                <a:solidFill>
                  <a:srgbClr val="6A1B9A"/>
                </a:solidFill>
                <a:latin typeface="Calibri" pitchFamily="34" charset="0"/>
                <a:ea typeface="Calibri" pitchFamily="34" charset="-122"/>
                <a:cs typeface="Calibri" pitchFamily="34" charset="-120"/>
              </a:rPr>
              <a:t>13 events Tried to Return -- filed a 2026 application but were cancelled/declined. 31 events Recovered -- cancelled in 2025 but came back in 2026.</a:t>
            </a:r>
            <a:endParaRPr lang="en-US" sz="950" dirty="0"/>
          </a:p>
        </p:txBody>
      </p:sp>
      <p:sp>
        <p:nvSpPr>
          <p:cNvPr id="29" name="Shape 26"/>
          <p:cNvSpPr/>
          <p:nvPr/>
        </p:nvSpPr>
        <p:spPr>
          <a:xfrm>
            <a:off x="4617720" y="3547872"/>
            <a:ext cx="4251960" cy="548640"/>
          </a:xfrm>
          <a:prstGeom prst="rect">
            <a:avLst/>
          </a:prstGeom>
          <a:solidFill>
            <a:srgbClr val="ECEFF1"/>
          </a:solidFill>
          <a:ln w="12700">
            <a:solidFill>
              <a:srgbClr val="555555"/>
            </a:solidFill>
            <a:prstDash val="solid"/>
          </a:ln>
        </p:spPr>
      </p:sp>
      <p:sp>
        <p:nvSpPr>
          <p:cNvPr id="30" name="Text 27"/>
          <p:cNvSpPr/>
          <p:nvPr/>
        </p:nvSpPr>
        <p:spPr>
          <a:xfrm>
            <a:off x="4727448" y="3566160"/>
            <a:ext cx="4023360" cy="512064"/>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Overall replacement: 296 new/recovered vs 296 truly lost -- 100% gross replacement.</a:t>
            </a:r>
            <a:endParaRPr lang="en-US" sz="950" dirty="0"/>
          </a:p>
        </p:txBody>
      </p:sp>
      <p:sp>
        <p:nvSpPr>
          <p:cNvPr id="31" name="Shape 28"/>
          <p:cNvSpPr/>
          <p:nvPr/>
        </p:nvSpPr>
        <p:spPr>
          <a:xfrm>
            <a:off x="274320" y="4206240"/>
            <a:ext cx="8595360" cy="594360"/>
          </a:xfrm>
          <a:prstGeom prst="rect">
            <a:avLst/>
          </a:prstGeom>
          <a:solidFill>
            <a:srgbClr val="ECEFF1"/>
          </a:solidFill>
          <a:ln w="12700">
            <a:solidFill>
              <a:srgbClr val="CCCCCC"/>
            </a:solidFill>
            <a:prstDash val="solid"/>
          </a:ln>
        </p:spPr>
      </p:sp>
      <p:sp>
        <p:nvSpPr>
          <p:cNvPr id="32" name="Text 29"/>
          <p:cNvSpPr/>
          <p:nvPr/>
        </p:nvSpPr>
        <p:spPr>
          <a:xfrm>
            <a:off x="384048" y="4233672"/>
            <a:ext cx="8321040" cy="53949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We retained 746 events and replaced 265 lost ones—100% replacement rate masks real churn: 296 events attrited, offset by new entrants and movers. Replacement is working, but retention weakness is the real story.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5E20"/>
          </a:solidFill>
          <a:ln w="12700">
            <a:solidFill>
              <a:srgbClr val="1B5E20"/>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5  —  Application Pipeline -- Who Is Filing and When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7 / 8</a:t>
            </a:r>
            <a:endParaRPr lang="en-US" sz="900" dirty="0"/>
          </a:p>
        </p:txBody>
      </p:sp>
      <p:sp>
        <p:nvSpPr>
          <p:cNvPr id="5" name="Text 3"/>
          <p:cNvSpPr/>
          <p:nvPr/>
        </p:nvSpPr>
        <p:spPr>
          <a:xfrm>
            <a:off x="274320" y="694944"/>
            <a:ext cx="8595360" cy="219456"/>
          </a:xfrm>
          <a:prstGeom prst="rect">
            <a:avLst/>
          </a:prstGeom>
          <a:noFill/>
          <a:ln/>
        </p:spPr>
        <p:txBody>
          <a:bodyPr wrap="square"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Total applications: 1,271 for 2025 vs 1,188 for 2026. The story is in WHEN and WHICH type is filing:</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50976"/>
          <a:ext cx="8595360" cy="1591056"/>
        </p:xfrm>
        <a:graphic>
          <a:graphicData uri="http://schemas.openxmlformats.org/drawingml/2006/table">
            <a:tbl>
              <a:tblPr/>
              <a:tblGrid>
                <a:gridCol w="955040"/>
                <a:gridCol w="955040"/>
                <a:gridCol w="955040"/>
                <a:gridCol w="955040"/>
                <a:gridCol w="955040"/>
                <a:gridCol w="955040"/>
                <a:gridCol w="955040"/>
                <a:gridCol w="955040"/>
                <a:gridCol w="955040"/>
              </a:tblGrid>
              <a:tr h="256032">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2024</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2025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2025</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2026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Q4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Delta</a:t>
                      </a:r>
                      <a:endParaRPr lang="en-US" sz="1000" dirty="0"/>
                    </a:p>
                    <a:p>
                      <a:pPr algn="ctr" indent="0" marL="0">
                        <a:buNone/>
                      </a:pPr>
                      <a:r>
                        <a:rPr lang="en-US" sz="1000" b="1" dirty="0">
                          <a:solidFill>
                            <a:srgbClr val="FFFFFF"/>
                          </a:solidFill>
                        </a:rPr>
                        <a:t>Jan-May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56032">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186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94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73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112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87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596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1,271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7" name="Text 4"/>
          <p:cNvSpPr/>
          <p:nvPr/>
        </p:nvSpPr>
        <p:spPr>
          <a:xfrm>
            <a:off x="274320" y="2633472"/>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Highest-Probability Opportunities — May through December 2026:</a:t>
            </a:r>
            <a:endParaRPr lang="en-US" sz="1050" dirty="0"/>
          </a:p>
        </p:txBody>
      </p:sp>
      <p:sp>
        <p:nvSpPr>
          <p:cNvPr id="8" name="Shape 5"/>
          <p:cNvSpPr/>
          <p:nvPr/>
        </p:nvSpPr>
        <p:spPr>
          <a:xfrm>
            <a:off x="274320" y="2907792"/>
            <a:ext cx="4160520" cy="914400"/>
          </a:xfrm>
          <a:prstGeom prst="rect">
            <a:avLst/>
          </a:prstGeom>
          <a:solidFill>
            <a:srgbClr val="FDECEA"/>
          </a:solidFill>
          <a:ln w="12700">
            <a:solidFill>
              <a:srgbClr val="C62828"/>
            </a:solidFill>
            <a:prstDash val="solid"/>
          </a:ln>
        </p:spPr>
      </p:sp>
      <p:sp>
        <p:nvSpPr>
          <p:cNvPr id="9" name="Text 6"/>
          <p:cNvSpPr/>
          <p:nvPr/>
        </p:nvSpPr>
        <p:spPr>
          <a:xfrm>
            <a:off x="384048" y="2944368"/>
            <a:ext cx="3931920" cy="84124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 Highest ROI Opportunity
</a:t>
            </a:r>
            <a:pPr indent="0" marL="0">
              <a:buNone/>
            </a:pPr>
            <a:r>
              <a:rPr lang="en-US" sz="950" dirty="0">
                <a:solidFill>
                  <a:srgbClr val="C62828"/>
                </a:solidFill>
                <a:latin typeface="Calibri" pitchFamily="34" charset="0"/>
                <a:ea typeface="Calibri" pitchFamily="34" charset="-122"/>
                <a:cs typeface="Calibri" pitchFamily="34" charset="-120"/>
              </a:rPr>
              <a:t>Adult Clinic is the structural decliner (−11.0 organic). Proactive outreach in the spontaneous-filing window can close part of the gap.</a:t>
            </a:r>
            <a:endParaRPr lang="en-US" sz="950" dirty="0"/>
          </a:p>
        </p:txBody>
      </p:sp>
      <p:sp>
        <p:nvSpPr>
          <p:cNvPr id="10" name="Shape 7"/>
          <p:cNvSpPr/>
          <p:nvPr/>
        </p:nvSpPr>
        <p:spPr>
          <a:xfrm>
            <a:off x="4617720" y="2907792"/>
            <a:ext cx="4251960" cy="914400"/>
          </a:xfrm>
          <a:prstGeom prst="rect">
            <a:avLst/>
          </a:prstGeom>
          <a:solidFill>
            <a:srgbClr val="E8F5E9"/>
          </a:solidFill>
          <a:ln w="12700">
            <a:solidFill>
              <a:srgbClr val="1E7D34"/>
            </a:solidFill>
            <a:prstDash val="solid"/>
          </a:ln>
        </p:spPr>
      </p:sp>
      <p:sp>
        <p:nvSpPr>
          <p:cNvPr id="11" name="Text 8"/>
          <p:cNvSpPr/>
          <p:nvPr/>
        </p:nvSpPr>
        <p:spPr>
          <a:xfrm>
            <a:off x="4727448" y="2944368"/>
            <a:ext cx="4023360" cy="841248"/>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 Reinforce
</a:t>
            </a:r>
            <a:pPr indent="0" marL="0">
              <a:buNone/>
            </a:pPr>
            <a:r>
              <a:rPr lang="en-US" sz="950" dirty="0">
                <a:solidFill>
                  <a:srgbClr val="1E7D34"/>
                </a:solidFill>
                <a:latin typeface="Calibri" pitchFamily="34" charset="0"/>
                <a:ea typeface="Calibri" pitchFamily="34" charset="-122"/>
                <a:cs typeface="Calibri" pitchFamily="34" charset="-120"/>
              </a:rPr>
              <a:t>Youth Clinic is the organic leader (+5.6 organic, +19.4%). Fast-track approvals so momentum is not lost.</a:t>
            </a:r>
            <a:endParaRPr lang="en-US" sz="950" dirty="0"/>
          </a:p>
        </p:txBody>
      </p:sp>
      <p:sp>
        <p:nvSpPr>
          <p:cNvPr id="12" name="Shape 9"/>
          <p:cNvSpPr/>
          <p:nvPr/>
        </p:nvSpPr>
        <p:spPr>
          <a:xfrm>
            <a:off x="274320" y="3913632"/>
            <a:ext cx="4160520" cy="457200"/>
          </a:xfrm>
          <a:prstGeom prst="rect">
            <a:avLst/>
          </a:prstGeom>
          <a:solidFill>
            <a:srgbClr val="FFCDD2"/>
          </a:solidFill>
          <a:ln w="12700">
            <a:solidFill>
              <a:srgbClr val="C62828"/>
            </a:solidFill>
            <a:prstDash val="solid"/>
          </a:ln>
        </p:spPr>
      </p:sp>
      <p:sp>
        <p:nvSpPr>
          <p:cNvPr id="13" name="Text 10"/>
          <p:cNvSpPr/>
          <p:nvPr/>
        </p:nvSpPr>
        <p:spPr>
          <a:xfrm>
            <a:off x="384048" y="3931920"/>
            <a:ext cx="3931920" cy="420624"/>
          </a:xfrm>
          <a:prstGeom prst="rect">
            <a:avLst/>
          </a:prstGeom>
          <a:noFill/>
          <a:ln/>
        </p:spPr>
        <p:txBody>
          <a:bodyPr wrap="square" rtlCol="0" anchor="ctr"/>
          <a:lstStyle/>
          <a:p>
            <a:pPr indent="0" marL="0">
              <a:buNone/>
            </a:pPr>
            <a:r>
              <a:rPr lang="en-US" sz="900" dirty="0">
                <a:solidFill>
                  <a:srgbClr val="C62828"/>
                </a:solidFill>
                <a:latin typeface="Calibri" pitchFamily="34" charset="0"/>
                <a:ea typeface="Calibri" pitchFamily="34" charset="-122"/>
                <a:cs typeface="Calibri" pitchFamily="34" charset="-120"/>
              </a:rPr>
              <a:t>Adult Clinic action: target organizers in the spontaneous-filing window. Low effort, high impact.</a:t>
            </a:r>
            <a:endParaRPr lang="en-US" sz="900" dirty="0"/>
          </a:p>
        </p:txBody>
      </p:sp>
      <p:sp>
        <p:nvSpPr>
          <p:cNvPr id="14" name="Shape 11"/>
          <p:cNvSpPr/>
          <p:nvPr/>
        </p:nvSpPr>
        <p:spPr>
          <a:xfrm>
            <a:off x="4617720" y="3913632"/>
            <a:ext cx="4251960" cy="457200"/>
          </a:xfrm>
          <a:prstGeom prst="rect">
            <a:avLst/>
          </a:prstGeom>
          <a:solidFill>
            <a:srgbClr val="E3F2FD"/>
          </a:solidFill>
          <a:ln w="12700">
            <a:solidFill>
              <a:srgbClr val="1565C0"/>
            </a:solidFill>
            <a:prstDash val="solid"/>
          </a:ln>
        </p:spPr>
      </p:sp>
      <p:sp>
        <p:nvSpPr>
          <p:cNvPr id="15" name="Text 12"/>
          <p:cNvSpPr/>
          <p:nvPr/>
        </p:nvSpPr>
        <p:spPr>
          <a:xfrm>
            <a:off x="4727448" y="3931920"/>
            <a:ext cx="4023360" cy="420624"/>
          </a:xfrm>
          <a:prstGeom prst="rect">
            <a:avLst/>
          </a:prstGeom>
          <a:noFill/>
          <a:ln/>
        </p:spPr>
        <p:txBody>
          <a:bodyPr wrap="square" rtlCol="0" anchor="ctr"/>
          <a:lstStyle/>
          <a:p>
            <a:pPr indent="0" marL="0">
              <a:buNone/>
            </a:pPr>
            <a:r>
              <a:rPr lang="en-US" sz="900" dirty="0">
                <a:solidFill>
                  <a:srgbClr val="1565C0"/>
                </a:solidFill>
                <a:latin typeface="Calibri" pitchFamily="34" charset="0"/>
                <a:ea typeface="Calibri" pitchFamily="34" charset="-122"/>
                <a:cs typeface="Calibri" pitchFamily="34" charset="-120"/>
              </a:rPr>
              <a:t>Overall pipeline is +7% (+24 in-yr apps) vs 2025 pace through May.</a:t>
            </a:r>
            <a:endParaRPr lang="en-US" sz="900" dirty="0"/>
          </a:p>
        </p:txBody>
      </p:sp>
      <p:sp>
        <p:nvSpPr>
          <p:cNvPr id="16" name="Shape 13"/>
          <p:cNvSpPr/>
          <p:nvPr/>
        </p:nvSpPr>
        <p:spPr>
          <a:xfrm>
            <a:off x="274320" y="4480560"/>
            <a:ext cx="8595360" cy="420624"/>
          </a:xfrm>
          <a:prstGeom prst="rect">
            <a:avLst/>
          </a:prstGeom>
          <a:solidFill>
            <a:srgbClr val="ECEFF1"/>
          </a:solidFill>
          <a:ln w="12700">
            <a:solidFill>
              <a:srgbClr val="CCCCCC"/>
            </a:solidFill>
            <a:prstDash val="solid"/>
          </a:ln>
        </p:spPr>
      </p:sp>
      <p:sp>
        <p:nvSpPr>
          <p:cNvPr id="17" name="Text 14"/>
          <p:cNvSpPr/>
          <p:nvPr/>
        </p:nvSpPr>
        <p:spPr>
          <a:xfrm>
            <a:off x="384048" y="4507992"/>
            <a:ext cx="8321040" cy="38404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Application pipeline strength (Adult and Youth Races solid; Youth Clinics accelerating) suggests future revenue recovery if conversion holds. New event creation is outpacing attrition; the funnel is healthy.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62828"/>
          </a:solidFill>
          <a:ln w="12700">
            <a:solidFill>
              <a:srgbClr val="C62828"/>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6  —  July and August: Organic Churn and the Win-Back Opportunity</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8 / 8</a:t>
            </a:r>
            <a:endParaRPr lang="en-US" sz="900" dirty="0"/>
          </a:p>
        </p:txBody>
      </p:sp>
      <p:sp>
        <p:nvSpPr>
          <p:cNvPr id="5" name="Text 3"/>
          <p:cNvSpPr/>
          <p:nvPr/>
        </p:nvSpPr>
        <p:spPr>
          <a:xfrm>
            <a:off x="274320" y="694944"/>
            <a:ext cx="8595360" cy="18288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Replacement is partial — the volume of churn is the problem more than the rate. The actionable target is August.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4160520" cy="1335024"/>
        </p:xfrm>
        <a:graphic>
          <a:graphicData uri="http://schemas.openxmlformats.org/drawingml/2006/table">
            <a:tbl>
              <a:tblPr/>
              <a:tblGrid>
                <a:gridCol w="1386840"/>
                <a:gridCol w="1386840"/>
                <a:gridCol w="1386840"/>
              </a:tblGrid>
              <a:tr h="210312">
                <a:tc>
                  <a:txBody>
                    <a:bodyPr/>
                    <a:lstStyle/>
                    <a:p>
                      <a:pPr algn="ctr" indent="0" marL="0">
                        <a:buNone/>
                      </a:pPr>
                      <a:r>
                        <a:rPr lang="en-US" sz="950" b="1" dirty="0">
                          <a:solidFill>
                            <a:srgbClr val="FFFFFF"/>
                          </a:solidFill>
                        </a:rPr>
                        <a:t>July</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322576"/>
            <a:ext cx="4160520" cy="329184"/>
          </a:xfrm>
          <a:prstGeom prst="rect">
            <a:avLst/>
          </a:prstGeom>
          <a:solidFill>
            <a:srgbClr val="37474F"/>
          </a:solidFill>
          <a:ln w="12700">
            <a:solidFill>
              <a:srgbClr val="37474F"/>
            </a:solidFill>
            <a:prstDash val="solid"/>
          </a:ln>
        </p:spPr>
      </p:sp>
      <p:sp>
        <p:nvSpPr>
          <p:cNvPr id="8" name="Text 5"/>
          <p:cNvSpPr/>
          <p:nvPr/>
        </p:nvSpPr>
        <p:spPr>
          <a:xfrm>
            <a:off x="292608" y="2331720"/>
            <a:ext cx="411480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181 events  -&gt;  2026: 165       Replacement: 38/49 = 78%</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914400"/>
          <a:ext cx="4251960" cy="1335024"/>
        </p:xfrm>
        <a:graphic>
          <a:graphicData uri="http://schemas.openxmlformats.org/drawingml/2006/table">
            <a:tbl>
              <a:tblPr/>
              <a:tblGrid>
                <a:gridCol w="1417320"/>
                <a:gridCol w="1417320"/>
                <a:gridCol w="1417320"/>
              </a:tblGrid>
              <a:tr h="210312">
                <a:tc>
                  <a:txBody>
                    <a:bodyPr/>
                    <a:lstStyle/>
                    <a:p>
                      <a:pPr algn="ctr" indent="0" marL="0">
                        <a:buNone/>
                      </a:pPr>
                      <a:r>
                        <a:rPr lang="en-US" sz="950" b="1" dirty="0">
                          <a:solidFill>
                            <a:srgbClr val="FFFFFF"/>
                          </a:solidFill>
                        </a:rPr>
                        <a:t>August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10" name="Shape 6"/>
          <p:cNvSpPr/>
          <p:nvPr/>
        </p:nvSpPr>
        <p:spPr>
          <a:xfrm>
            <a:off x="4617720" y="2322576"/>
            <a:ext cx="4251960" cy="329184"/>
          </a:xfrm>
          <a:prstGeom prst="rect">
            <a:avLst/>
          </a:prstGeom>
          <a:solidFill>
            <a:srgbClr val="37474F"/>
          </a:solidFill>
          <a:ln w="12700">
            <a:solidFill>
              <a:srgbClr val="37474F"/>
            </a:solidFill>
            <a:prstDash val="solid"/>
          </a:ln>
        </p:spPr>
      </p:sp>
      <p:sp>
        <p:nvSpPr>
          <p:cNvPr id="11" name="Text 7"/>
          <p:cNvSpPr/>
          <p:nvPr/>
        </p:nvSpPr>
        <p:spPr>
          <a:xfrm>
            <a:off x="4636008" y="2331720"/>
            <a:ext cx="420624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220 events  -&gt;  2026: 201       Replacement: 39/56 = 70%</a:t>
            </a:r>
            <a:endParaRPr lang="en-US" sz="900" dirty="0"/>
          </a:p>
        </p:txBody>
      </p:sp>
      <p:sp>
        <p:nvSpPr>
          <p:cNvPr id="12" name="Text 8"/>
          <p:cNvSpPr/>
          <p:nvPr/>
        </p:nvSpPr>
        <p:spPr>
          <a:xfrm>
            <a:off x="274320" y="2724912"/>
            <a:ext cx="8595360" cy="164592"/>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Lost events by type (combined Jul + Aug):</a:t>
            </a:r>
            <a:endParaRPr lang="en-US" sz="10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274320" y="2916936"/>
          <a:ext cx="8595360" cy="621792"/>
        </p:xfrm>
        <a:graphic>
          <a:graphicData uri="http://schemas.openxmlformats.org/drawingml/2006/table">
            <a:tbl>
              <a:tblPr/>
              <a:tblGrid>
                <a:gridCol w="1719072"/>
                <a:gridCol w="1719072"/>
                <a:gridCol w="1719072"/>
                <a:gridCol w="1719072"/>
                <a:gridCol w="1719072"/>
              </a:tblGrid>
              <a:tr h="201168">
                <a:tc>
                  <a:txBody>
                    <a:bodyPr/>
                    <a:lstStyle/>
                    <a:p>
                      <a:pPr algn="ctr" indent="0" marL="0">
                        <a:buNone/>
                      </a:pPr>
                      <a:r>
                        <a:rPr lang="en-US" sz="950" b="1" dirty="0">
                          <a:solidFill>
                            <a:srgbClr val="FFFFFF"/>
                          </a:solidFill>
                        </a:rPr>
                        <a:t>Type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Jul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Aug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Combined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Share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01168">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01168">
                <a:tc>
                  <a:txBody>
                    <a:bodyPr/>
                    <a:lstStyle/>
                    <a:p>
                      <a:pPr algn="l" indent="0" marL="0">
                        <a:buNone/>
                      </a:pPr>
                      <a:r>
                        <a:rPr lang="en-US" sz="1000" b="1"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14" name="Text 9"/>
          <p:cNvSpPr/>
          <p:nvPr/>
        </p:nvSpPr>
        <p:spPr>
          <a:xfrm>
            <a:off x="274320" y="3575304"/>
            <a:ext cx="8595360" cy="137160"/>
          </a:xfrm>
          <a:prstGeom prst="rect">
            <a:avLst/>
          </a:prstGeom>
          <a:noFill/>
          <a:ln/>
        </p:spPr>
        <p:txBody>
          <a:bodyPr wrap="square"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Adult Clinic: 8 lost (8%)  |  Youth Clinic: 4 lost (4%)  --  minor; not material to win-back prioritisation</a:t>
            </a:r>
            <a:endParaRPr lang="en-US" sz="850" dirty="0"/>
          </a:p>
        </p:txBody>
      </p:sp>
      <p:sp>
        <p:nvSpPr>
          <p:cNvPr id="15" name="Shape 10"/>
          <p:cNvSpPr/>
          <p:nvPr/>
        </p:nvSpPr>
        <p:spPr>
          <a:xfrm>
            <a:off x="274320" y="3785616"/>
            <a:ext cx="4160520" cy="713232"/>
          </a:xfrm>
          <a:prstGeom prst="rect">
            <a:avLst/>
          </a:prstGeom>
          <a:solidFill>
            <a:srgbClr val="FFCDD2"/>
          </a:solidFill>
          <a:ln w="12700">
            <a:solidFill>
              <a:srgbClr val="C62828"/>
            </a:solidFill>
            <a:prstDash val="solid"/>
          </a:ln>
        </p:spPr>
      </p:sp>
      <p:sp>
        <p:nvSpPr>
          <p:cNvPr id="16" name="Text 11"/>
          <p:cNvSpPr/>
          <p:nvPr/>
        </p:nvSpPr>
        <p:spPr>
          <a:xfrm>
            <a:off x="384048" y="3813048"/>
            <a:ext cx="3931920" cy="65836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August -- Act Now (2026 Window)
</a:t>
            </a:r>
            <a:pPr indent="0" marL="0">
              <a:buNone/>
            </a:pPr>
            <a:r>
              <a:rPr lang="en-US" sz="950" dirty="0">
                <a:solidFill>
                  <a:srgbClr val="C62828"/>
                </a:solidFill>
                <a:latin typeface="Calibri" pitchFamily="34" charset="0"/>
                <a:ea typeface="Calibri" pitchFamily="34" charset="-122"/>
                <a:cs typeface="Calibri" pitchFamily="34" charset="-120"/>
              </a:rPr>
              <a:t>56 lost in 2025. Reach all known organizers; a 20% win-back recovers ~11 events.</a:t>
            </a:r>
            <a:endParaRPr lang="en-US" sz="1050" dirty="0"/>
          </a:p>
        </p:txBody>
      </p:sp>
      <p:sp>
        <p:nvSpPr>
          <p:cNvPr id="17" name="Shape 12"/>
          <p:cNvSpPr/>
          <p:nvPr/>
        </p:nvSpPr>
        <p:spPr>
          <a:xfrm>
            <a:off x="4617720" y="3785616"/>
            <a:ext cx="4251960" cy="713232"/>
          </a:xfrm>
          <a:prstGeom prst="rect">
            <a:avLst/>
          </a:prstGeom>
          <a:solidFill>
            <a:srgbClr val="E3F2FD"/>
          </a:solidFill>
          <a:ln w="12700">
            <a:solidFill>
              <a:srgbClr val="1565C0"/>
            </a:solidFill>
            <a:prstDash val="solid"/>
          </a:ln>
        </p:spPr>
      </p:sp>
      <p:sp>
        <p:nvSpPr>
          <p:cNvPr id="18" name="Text 13"/>
          <p:cNvSpPr/>
          <p:nvPr/>
        </p:nvSpPr>
        <p:spPr>
          <a:xfrm>
            <a:off x="4727448" y="3813048"/>
            <a:ext cx="4023360" cy="65836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July -- Diagnose for 2027
</a:t>
            </a:r>
            <a:pPr indent="0" marL="0">
              <a:buNone/>
            </a:pPr>
            <a:r>
              <a:rPr lang="en-US" sz="950" dirty="0">
                <a:solidFill>
                  <a:srgbClr val="1565C0"/>
                </a:solidFill>
                <a:latin typeface="Calibri" pitchFamily="34" charset="0"/>
                <a:ea typeface="Calibri" pitchFamily="34" charset="-122"/>
                <a:cs typeface="Calibri" pitchFamily="34" charset="-120"/>
              </a:rPr>
              <a:t>49 lost in 2025. Too late for 2026; outreach to understand WHY is the highest-ROI 2027 planning action.</a:t>
            </a:r>
            <a:endParaRPr lang="en-US" sz="1050" dirty="0"/>
          </a:p>
        </p:txBody>
      </p:sp>
      <p:sp>
        <p:nvSpPr>
          <p:cNvPr id="19" name="Shape 14"/>
          <p:cNvSpPr/>
          <p:nvPr/>
        </p:nvSpPr>
        <p:spPr>
          <a:xfrm>
            <a:off x="274320" y="4590288"/>
            <a:ext cx="8595360" cy="329184"/>
          </a:xfrm>
          <a:prstGeom prst="rect">
            <a:avLst/>
          </a:prstGeom>
          <a:solidFill>
            <a:srgbClr val="ECEFF1"/>
          </a:solidFill>
          <a:ln w="12700">
            <a:solidFill>
              <a:srgbClr val="CCCCCC"/>
            </a:solidFill>
            <a:prstDash val="solid"/>
          </a:ln>
        </p:spPr>
      </p:sp>
      <p:sp>
        <p:nvSpPr>
          <p:cNvPr id="20" name="Text 15"/>
          <p:cNvSpPr/>
          <p:nvPr/>
        </p:nvSpPr>
        <p:spPr>
          <a:xfrm>
            <a:off x="384048" y="4617720"/>
            <a:ext cx="8321040" cy="29260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August is the acute crisis (−19 organic) and must be diagnosed immediately; July (−16 organic) is secondary but confirms a summer pattern. A two-speed intervention—immediate action on August causes, structured review of July—will unlock recovery.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Sanctioned Events 2025 vs 2026</dc:title>
  <dc:subject>PptxGenJS Presentation</dc:subject>
  <dc:creator>PptxGenJS</dc:creator>
  <cp:lastModifiedBy>PptxGenJS</cp:lastModifiedBy>
  <cp:revision>1</cp:revision>
  <dcterms:created xsi:type="dcterms:W3CDTF">2026-05-17T14:44:55Z</dcterms:created>
  <dcterms:modified xsi:type="dcterms:W3CDTF">2026-05-17T14:44:55Z</dcterms:modified>
</cp:coreProperties>
</file>