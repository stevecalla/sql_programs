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anchors the year-over-year comparison, establishing that USAT portfolio contracted slightly (-13 events, -1.1%) driven by Adult Clinic headwinds, stabilized by robust pipeline replacement. The 100% replacement rate is a positive operational metric but masks underlying attrition and organic growth challenges. Audience should understand that volume is held, but composition is shifting (Youth Clinic growing, Adult Clinic shrinking) and organic health is mixed.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Adult Race: 823→822 (-1, -0.1%). This is the portfolio's largest segment and remains nearly flat, with organic lift of +1.42 events (+0.17%). Youth Race: 229→225 (-4, -1.7%), with organic decline of -2.78 events (-1.2%), suggesting loss of organic appeal. Adult Clinic: 97→84 (-13, -13.4%), the sharpest percentage decline and a structural headwind; organic drop of -10.96 events (-11.3%) shows this is not a calendar artifact. Youth Clinic: 29→34 (+5, +17.2%), the growth leader with robust organic performance of +5.62 events (+19.4%), indicating expansion in youth offerings and potential strategic opportunity.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Worst months by raw delta: August (-19), July (-16), February (-9). All three are organic declines with zero or negligible calendar offset, suggesting environmental or operational challenges. Best months by raw delta: October (+11, with +7 from calendar), June (+10, with +33.2 organic but -23.2 calendar headwind), March (+8, with +13.4 organic and -5.4 calendar headwind). June and March show strong organic performance despite calendar friction. Worst-organic months: August (-19), July (-16), May (-11.78 organic despite +15.78 calendar gain). June is the organic hero at +33.22.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Calendar shifts between 2025 and 2026 include: New Year's (Wed→Thu), Memorial Day (May 26→May 25), July 4th (Fri→Sat), Labor Day (Sept 1→Sept 7), Thanksgiving (Nov 27→Nov 26), Christmas (Thu→Fri). Methodology: 'organic' isolates true demand changes by adjusting for calendar reallocation across months; 'cal' shows the pure calendar effect (e.g., Labor Day shift may move events between August and September). Key finding: August and July's massive declines (-19, -16) are both organic with zero calendar offset, ruling out holiday repositioning as the cause. May shows the opposite pattern: raw data +4, but organic -11.78 offset by +15.78 calendar gain, indicating true underlying weakness masked by favorable holiday spacing.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Adult Race: +1.42 organic events (+0.17% organic %), demonstrating near-flat underlying demand but slight positive momentum; this segment is stable and benefit from new-event pipeline. Youth Race: -2.78 organic events (-1.215% organic %), signaling organic erosion despite segment size (225 events); this category is losing intrinsic appeal. Adult Clinic: -10.96 organic events (-11.3% organic %), the steepest organic contraction; this is the core problem area, indicating coaching, venue, or scheduling constraints independent of calendar effects. Youth Clinic: +5.62 organic events (+19.4% organic %), strongest organic growth rate; this is a genuine expansion driven by demand, not calendar timing.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 breakdown of 2025→2026 transition: 746 events retained (63.3%), 296 attrited (25.1%), 123 shifted event types (10.4%), 265 new events added, 31 recovered from prior lapse. Replacement rate: 100% (265 new + 31 recovered = 296 attrited). Friction point: 13 events attempted to return but failed, suggesting barriers in reactivation (possibly organizer contact issues, payment/sanction problems, or changed circumstances). Net result: healthy pipeline capacity and replacement volume, but underlying attrition (25.1%) is substantial and win-back success is imperfect (31 recovered vs. 13 failed attempts = 70% recovery rate on attempted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delivered 265 new events in 2026, sufficient to cover net attrition and maintain replacement rate at 100%. However, organic growth is muted: +1.42 (Adult Race), -2.78 (Youth Race), -10.96 (Adult Clinic), +5.62 (Youth Clinic). Youth Clinic's +19.4% organic growth is the highest-leverage opportunity for expansion; consider resource allocation to youth segment. Adult Clinic's -11.3% organic decline warrants root-cause analysis (supply-side constraint, demand shift, or execution issue). The pipeline is healthy in volume but should shift focus toward organic growth in high-potential segments rather than relying on new-event onboarding to offset churn.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August (-19 organic, zero calendar offset) and July (-16 organic, zero calendar offset) combined for -35 events with no holiday timing explanation. These summer months likely reflect seasonal factors: school breaks affecting youth participation, coach vacations, or competing summer activities. Secondary concern: 13 attempted win-back events failed to return despite recovery effort, and 56 events lost in August with only 37 new ones added (70% replacement rate in that month alone). Action: diagnose August/July churn root causes through organizer surveys; identify barriers to the 13 failed recoveries (contact? payment? rule changes?); pilot targeted retention campaigns for high-churn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F1B2C"/>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AA1524"/>
          </a:solidFill>
          <a:ln w="12700">
            <a:solidFill>
              <a:srgbClr val="AA1524"/>
            </a:solidFill>
            <a:prstDash val="solid"/>
          </a:ln>
        </p:spPr>
      </p:sp>
      <p:sp>
        <p:nvSpPr>
          <p:cNvPr id="3" name="Text 1"/>
          <p:cNvSpPr/>
          <p:nvPr/>
        </p:nvSpPr>
        <p:spPr>
          <a:xfrm>
            <a:off x="365760" y="137160"/>
            <a:ext cx="8229600" cy="502920"/>
          </a:xfrm>
          <a:prstGeom prst="rect">
            <a:avLst/>
          </a:prstGeom>
          <a:noFill/>
          <a:ln/>
        </p:spPr>
        <p:txBody>
          <a:bodyPr wrap="square" rtlCol="0" anchor="ctr"/>
          <a:lstStyle/>
          <a:p>
            <a:pPr indent="0" marL="0">
              <a:buNone/>
            </a:pPr>
            <a:r>
              <a:rPr lang="en-US" sz="1200" dirty="0">
                <a:solidFill>
                  <a:srgbClr val="FFAAAA"/>
                </a:solidFill>
                <a:latin typeface="Calibri" pitchFamily="34" charset="0"/>
                <a:ea typeface="Calibri" pitchFamily="34" charset="-122"/>
                <a:cs typeface="Calibri" pitchFamily="34" charset="-120"/>
              </a:rPr>
              <a:t>USAT  |  Sanctioned Events Analysis</a:t>
            </a:r>
            <a:endParaRPr lang="en-US" sz="1200" dirty="0"/>
          </a:p>
        </p:txBody>
      </p:sp>
      <p:sp>
        <p:nvSpPr>
          <p:cNvPr id="4" name="Text 2"/>
          <p:cNvSpPr/>
          <p:nvPr/>
        </p:nvSpPr>
        <p:spPr>
          <a:xfrm>
            <a:off x="365760" y="1051560"/>
            <a:ext cx="8412480" cy="91440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Sanctioned Events</a:t>
            </a:r>
            <a:endParaRPr lang="en-US" sz="4000" dirty="0"/>
          </a:p>
        </p:txBody>
      </p:sp>
      <p:sp>
        <p:nvSpPr>
          <p:cNvPr id="5" name="Text 3"/>
          <p:cNvSpPr/>
          <p:nvPr/>
        </p:nvSpPr>
        <p:spPr>
          <a:xfrm>
            <a:off x="365760" y="1920240"/>
            <a:ext cx="8229600" cy="502920"/>
          </a:xfrm>
          <a:prstGeom prst="rect">
            <a:avLst/>
          </a:prstGeom>
          <a:noFill/>
          <a:ln/>
        </p:spPr>
        <p:txBody>
          <a:bodyPr wrap="square" rtlCol="0" anchor="ctr"/>
          <a:lstStyle/>
          <a:p>
            <a:pPr indent="0" marL="0">
              <a:buNone/>
            </a:pPr>
            <a:r>
              <a:rPr lang="en-US" sz="2000" dirty="0">
                <a:solidFill>
                  <a:srgbClr val="FFCCCC"/>
                </a:solidFill>
                <a:latin typeface="Calibri" pitchFamily="34" charset="0"/>
                <a:ea typeface="Calibri" pitchFamily="34" charset="-122"/>
                <a:cs typeface="Calibri" pitchFamily="34" charset="-120"/>
              </a:rPr>
              <a:t>2025 vs 2026  |  Year-over-Year Analysis</a:t>
            </a:r>
            <a:endParaRPr lang="en-US" sz="2000" dirty="0"/>
          </a:p>
        </p:txBody>
      </p:sp>
      <p:sp>
        <p:nvSpPr>
          <p:cNvPr id="6" name="Shape 4"/>
          <p:cNvSpPr/>
          <p:nvPr/>
        </p:nvSpPr>
        <p:spPr>
          <a:xfrm>
            <a:off x="365760" y="2697480"/>
            <a:ext cx="4114800" cy="548640"/>
          </a:xfrm>
          <a:prstGeom prst="rect">
            <a:avLst/>
          </a:prstGeom>
          <a:solidFill>
            <a:srgbClr val="FDECEA"/>
          </a:solidFill>
          <a:ln w="12700">
            <a:solidFill>
              <a:srgbClr val="C62828"/>
            </a:solidFill>
            <a:prstDash val="solid"/>
          </a:ln>
        </p:spPr>
      </p:sp>
      <p:sp>
        <p:nvSpPr>
          <p:cNvPr id="7" name="Text 5"/>
          <p:cNvSpPr/>
          <p:nvPr/>
        </p:nvSpPr>
        <p:spPr>
          <a:xfrm>
            <a:off x="457200" y="2697480"/>
            <a:ext cx="3931920" cy="548640"/>
          </a:xfrm>
          <a:prstGeom prst="rect">
            <a:avLst/>
          </a:prstGeom>
          <a:noFill/>
          <a:ln/>
        </p:spPr>
        <p:txBody>
          <a:bodyPr wrap="square" rtlCol="0" anchor="ctr"/>
          <a:lstStyle/>
          <a:p>
            <a:pPr indent="0" marL="0">
              <a:buNone/>
            </a:pPr>
            <a:r>
              <a:rPr lang="en-US" sz="1000" b="1" dirty="0">
                <a:solidFill>
                  <a:srgbClr val="C62828"/>
                </a:solidFill>
                <a:latin typeface="Calibri" pitchFamily="34" charset="0"/>
                <a:ea typeface="Calibri" pitchFamily="34" charset="-122"/>
                <a:cs typeface="Calibri" pitchFamily="34" charset="-120"/>
              </a:rPr>
              <a:t>Total Events Down 13 </a:t>
            </a:r>
            <a:pPr indent="0" marL="0">
              <a:buNone/>
            </a:pPr>
            <a:r>
              <a:rPr lang="en-US" sz="1000" dirty="0">
                <a:solidFill>
                  <a:srgbClr val="C62828"/>
                </a:solidFill>
                <a:latin typeface="Calibri" pitchFamily="34" charset="0"/>
                <a:ea typeface="Calibri" pitchFamily="34" charset="-122"/>
                <a:cs typeface="Calibri" pitchFamily="34" charset="-120"/>
              </a:rPr>
              <a:t>(1178 (2025) vs 1165 (2026))</a:t>
            </a:r>
            <a:endParaRPr lang="en-US" sz="1000" dirty="0"/>
          </a:p>
        </p:txBody>
      </p:sp>
      <p:sp>
        <p:nvSpPr>
          <p:cNvPr id="8" name="Shape 6"/>
          <p:cNvSpPr/>
          <p:nvPr/>
        </p:nvSpPr>
        <p:spPr>
          <a:xfrm>
            <a:off x="4754880" y="2697480"/>
            <a:ext cx="4114800" cy="548640"/>
          </a:xfrm>
          <a:prstGeom prst="rect">
            <a:avLst/>
          </a:prstGeom>
          <a:solidFill>
            <a:srgbClr val="FDECEA"/>
          </a:solidFill>
          <a:ln w="12700">
            <a:solidFill>
              <a:srgbClr val="C62828"/>
            </a:solidFill>
            <a:prstDash val="solid"/>
          </a:ln>
        </p:spPr>
      </p:sp>
      <p:sp>
        <p:nvSpPr>
          <p:cNvPr id="9" name="Text 7"/>
          <p:cNvSpPr/>
          <p:nvPr/>
        </p:nvSpPr>
        <p:spPr>
          <a:xfrm>
            <a:off x="4846320" y="2697480"/>
            <a:ext cx="3931920" cy="548640"/>
          </a:xfrm>
          <a:prstGeom prst="rect">
            <a:avLst/>
          </a:prstGeom>
          <a:noFill/>
          <a:ln/>
        </p:spPr>
        <p:txBody>
          <a:bodyPr wrap="square" rtlCol="0" anchor="ctr"/>
          <a:lstStyle/>
          <a:p>
            <a:pPr indent="0" marL="0">
              <a:buNone/>
            </a:pPr>
            <a:r>
              <a:rPr lang="en-US" sz="1000" b="1" dirty="0">
                <a:solidFill>
                  <a:srgbClr val="C62828"/>
                </a:solidFill>
                <a:latin typeface="Calibri" pitchFamily="34" charset="0"/>
                <a:ea typeface="Calibri" pitchFamily="34" charset="-122"/>
                <a:cs typeface="Calibri" pitchFamily="34" charset="-120"/>
              </a:rPr>
              <a:t>Adult Clinic Largest Decline </a:t>
            </a:r>
            <a:pPr indent="0" marL="0">
              <a:buNone/>
            </a:pPr>
            <a:r>
              <a:rPr lang="en-US" sz="1000" dirty="0">
                <a:solidFill>
                  <a:srgbClr val="C62828"/>
                </a:solidFill>
                <a:latin typeface="Calibri" pitchFamily="34" charset="0"/>
                <a:ea typeface="Calibri" pitchFamily="34" charset="-122"/>
                <a:cs typeface="Calibri" pitchFamily="34" charset="-120"/>
              </a:rPr>
              <a:t>(-13 events, -13.4% year-over-year)</a:t>
            </a:r>
            <a:endParaRPr lang="en-US" sz="1000" dirty="0"/>
          </a:p>
        </p:txBody>
      </p:sp>
      <p:sp>
        <p:nvSpPr>
          <p:cNvPr id="10" name="Shape 8"/>
          <p:cNvSpPr/>
          <p:nvPr/>
        </p:nvSpPr>
        <p:spPr>
          <a:xfrm>
            <a:off x="365760" y="3337560"/>
            <a:ext cx="4114800" cy="548640"/>
          </a:xfrm>
          <a:prstGeom prst="rect">
            <a:avLst/>
          </a:prstGeom>
          <a:solidFill>
            <a:srgbClr val="E8F5E9"/>
          </a:solidFill>
          <a:ln w="12700">
            <a:solidFill>
              <a:srgbClr val="1E7D34"/>
            </a:solidFill>
            <a:prstDash val="solid"/>
          </a:ln>
        </p:spPr>
      </p:sp>
      <p:sp>
        <p:nvSpPr>
          <p:cNvPr id="11" name="Text 9"/>
          <p:cNvSpPr/>
          <p:nvPr/>
        </p:nvSpPr>
        <p:spPr>
          <a:xfrm>
            <a:off x="457200" y="3337560"/>
            <a:ext cx="3931920" cy="548640"/>
          </a:xfrm>
          <a:prstGeom prst="rect">
            <a:avLst/>
          </a:prstGeom>
          <a:noFill/>
          <a:ln/>
        </p:spPr>
        <p:txBody>
          <a:bodyPr wrap="square" rtlCol="0" anchor="ctr"/>
          <a:lstStyle/>
          <a:p>
            <a:pPr indent="0" marL="0">
              <a:buNone/>
            </a:pPr>
            <a:r>
              <a:rPr lang="en-US" sz="1000" b="1" dirty="0">
                <a:solidFill>
                  <a:srgbClr val="1E7D34"/>
                </a:solidFill>
                <a:latin typeface="Calibri" pitchFamily="34" charset="0"/>
                <a:ea typeface="Calibri" pitchFamily="34" charset="-122"/>
                <a:cs typeface="Calibri" pitchFamily="34" charset="-120"/>
              </a:rPr>
              <a:t>Youth Clinic Growth Bright Spot </a:t>
            </a:r>
            <a:pPr indent="0" marL="0">
              <a:buNone/>
            </a:pPr>
            <a:r>
              <a:rPr lang="en-US" sz="1000" dirty="0">
                <a:solidFill>
                  <a:srgbClr val="1E7D34"/>
                </a:solidFill>
                <a:latin typeface="Calibri" pitchFamily="34" charset="0"/>
                <a:ea typeface="Calibri" pitchFamily="34" charset="-122"/>
                <a:cs typeface="Calibri" pitchFamily="34" charset="-120"/>
              </a:rPr>
              <a:t>(+5 events, +17.2% year-over-year)</a:t>
            </a:r>
            <a:endParaRPr lang="en-US" sz="1000" dirty="0"/>
          </a:p>
        </p:txBody>
      </p:sp>
      <p:sp>
        <p:nvSpPr>
          <p:cNvPr id="12" name="Shape 10"/>
          <p:cNvSpPr/>
          <p:nvPr/>
        </p:nvSpPr>
        <p:spPr>
          <a:xfrm>
            <a:off x="4754880" y="3337560"/>
            <a:ext cx="4114800" cy="548640"/>
          </a:xfrm>
          <a:prstGeom prst="rect">
            <a:avLst/>
          </a:prstGeom>
          <a:solidFill>
            <a:srgbClr val="F5F5F5"/>
          </a:solidFill>
          <a:ln w="12700">
            <a:solidFill>
              <a:srgbClr val="222222"/>
            </a:solidFill>
            <a:prstDash val="solid"/>
          </a:ln>
        </p:spPr>
      </p:sp>
      <p:sp>
        <p:nvSpPr>
          <p:cNvPr id="13" name="Text 11"/>
          <p:cNvSpPr/>
          <p:nvPr/>
        </p:nvSpPr>
        <p:spPr>
          <a:xfrm>
            <a:off x="4846320" y="3337560"/>
            <a:ext cx="3931920" cy="548640"/>
          </a:xfrm>
          <a:prstGeom prst="rect">
            <a:avLst/>
          </a:prstGeom>
          <a:noFill/>
          <a:ln/>
        </p:spPr>
        <p:txBody>
          <a:bodyPr wrap="square" rtlCol="0" anchor="ctr"/>
          <a:lstStyle/>
          <a:p>
            <a:pPr indent="0" marL="0">
              <a:buNone/>
            </a:pPr>
            <a:r>
              <a:rPr lang="en-US" sz="1000" b="1" dirty="0">
                <a:solidFill>
                  <a:srgbClr val="222222"/>
                </a:solidFill>
                <a:latin typeface="Calibri" pitchFamily="34" charset="0"/>
                <a:ea typeface="Calibri" pitchFamily="34" charset="-122"/>
                <a:cs typeface="Calibri" pitchFamily="34" charset="-120"/>
              </a:rPr>
              <a:t>100% Event Replacement Rate </a:t>
            </a:r>
            <a:pPr indent="0" marL="0">
              <a:buNone/>
            </a:pPr>
            <a:r>
              <a:rPr lang="en-US" sz="1000" dirty="0">
                <a:solidFill>
                  <a:srgbClr val="222222"/>
                </a:solidFill>
                <a:latin typeface="Calibri" pitchFamily="34" charset="0"/>
                <a:ea typeface="Calibri" pitchFamily="34" charset="-122"/>
                <a:cs typeface="Calibri" pitchFamily="34" charset="-120"/>
              </a:rPr>
              <a:t>(265 new events offset 296 attritions)</a:t>
            </a:r>
            <a:endParaRPr lang="en-US" sz="1000" dirty="0"/>
          </a:p>
        </p:txBody>
      </p:sp>
      <p:sp>
        <p:nvSpPr>
          <p:cNvPr id="14" name="Text 12"/>
          <p:cNvSpPr/>
          <p:nvPr/>
        </p:nvSpPr>
        <p:spPr>
          <a:xfrm>
            <a:off x="365760" y="4663440"/>
            <a:ext cx="8229600" cy="320040"/>
          </a:xfrm>
          <a:prstGeom prst="rect">
            <a:avLst/>
          </a:prstGeom>
          <a:noFill/>
          <a:ln/>
        </p:spPr>
        <p:txBody>
          <a:bodyPr wrap="square" rtlCol="0" anchor="ctr"/>
          <a:lstStyle/>
          <a:p>
            <a:pPr indent="0" marL="0">
              <a:buNone/>
            </a:pPr>
            <a:r>
              <a:rPr lang="en-US" sz="850" i="1" dirty="0">
                <a:solidFill>
                  <a:srgbClr val="FFAAAA"/>
                </a:solidFill>
                <a:latin typeface="Calibri" pitchFamily="34" charset="0"/>
                <a:ea typeface="Calibri" pitchFamily="34" charset="-122"/>
                <a:cs typeface="Calibri" pitchFamily="34" charset="-120"/>
              </a:rPr>
              <a:t>Data as of May 17, 2026  |  Excl. Cancelled / Declined / Deleted  |  ~85-90% event-level match confidence</a:t>
            </a:r>
            <a:endParaRPr lang="en-US" sz="850" dirty="0"/>
          </a:p>
        </p:txBody>
      </p:sp>
      <p:sp>
        <p:nvSpPr>
          <p:cNvPr id="15" name="Text 13"/>
          <p:cNvSpPr/>
          <p:nvPr/>
        </p:nvSpPr>
        <p:spPr>
          <a:xfrm>
            <a:off x="8458200" y="4919472"/>
            <a:ext cx="594360" cy="182880"/>
          </a:xfrm>
          <a:prstGeom prst="rect">
            <a:avLst/>
          </a:prstGeom>
          <a:noFill/>
          <a:ln/>
        </p:spPr>
        <p:txBody>
          <a:bodyPr wrap="square" rtlCol="0" anchor="ctr"/>
          <a:lstStyle/>
          <a:p>
            <a:pPr algn="r" indent="0" marL="0">
              <a:buNone/>
            </a:pPr>
            <a:r>
              <a:rPr lang="en-US" sz="850" dirty="0">
                <a:solidFill>
                  <a:srgbClr val="FFAAAA"/>
                </a:solidFill>
                <a:latin typeface="Calibri" pitchFamily="34" charset="0"/>
                <a:ea typeface="Calibri" pitchFamily="34" charset="-122"/>
                <a:cs typeface="Calibri" pitchFamily="34" charset="-120"/>
              </a:rPr>
              <a:t>1 / 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222222"/>
          </a:solidFill>
          <a:ln w="12700">
            <a:solidFill>
              <a:srgbClr val="222222"/>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0  --  What Changed? Event Counts by Type</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2 / 8</a:t>
            </a:r>
            <a:endParaRPr lang="en-US" sz="9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274320" y="694944"/>
          <a:ext cx="8595360" cy="2487168"/>
        </p:xfrm>
        <a:graphic>
          <a:graphicData uri="http://schemas.openxmlformats.org/drawingml/2006/table">
            <a:tbl>
              <a:tblPr/>
              <a:tblGrid>
                <a:gridCol w="1432560"/>
                <a:gridCol w="1432560"/>
                <a:gridCol w="1432560"/>
                <a:gridCol w="1432560"/>
                <a:gridCol w="1432560"/>
                <a:gridCol w="1432560"/>
              </a:tblGrid>
              <a:tr h="402336">
                <a:tc>
                  <a:txBody>
                    <a:bodyPr/>
                    <a:lstStyle/>
                    <a:p>
                      <a:pPr algn="ctr" indent="0" marL="0">
                        <a:buNone/>
                      </a:pPr>
                      <a:r>
                        <a:rPr lang="en-US" sz="1000" b="1" dirty="0">
                          <a:solidFill>
                            <a:srgbClr val="FFFFFF"/>
                          </a:solidFill>
                        </a:rPr>
                        <a:t>Event Type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2025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2026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Delta Count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Delta %</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Read as...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r>
              <a:tr h="402336">
                <a:tc>
                  <a:txBody>
                    <a:bodyPr/>
                    <a:lstStyle/>
                    <a:p>
                      <a:pPr algn="l" indent="0" marL="0">
                        <a:buNone/>
                      </a:pPr>
                      <a:r>
                        <a:rPr lang="en-US" sz="1000" dirty="0">
                          <a:solidFill>
                            <a:srgbClr val="222222"/>
                          </a:solidFill>
                        </a:rPr>
                        <a:t>Adult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823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822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C62828"/>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C62828"/>
                          </a:solidFill>
                        </a:rPr>
                        <a:t>-0.1%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l" indent="0" marL="0">
                        <a:buNone/>
                      </a:pPr>
                      <a:r>
                        <a:rPr lang="en-US" sz="950" dirty="0">
                          <a:solidFill>
                            <a:srgbClr val="222222"/>
                          </a:solidFill>
                        </a:rPr>
                        <a:t>Essentially flat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402336">
                <a:tc>
                  <a:txBody>
                    <a:bodyPr/>
                    <a:lstStyle/>
                    <a:p>
                      <a:pPr algn="l" indent="0" marL="0">
                        <a:buNone/>
                      </a:pPr>
                      <a:r>
                        <a:rPr lang="en-US" sz="1000" dirty="0">
                          <a:solidFill>
                            <a:srgbClr val="222222"/>
                          </a:solidFill>
                        </a:rPr>
                        <a:t>Youth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229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225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C62828"/>
                          </a:solidFill>
                        </a:rPr>
                        <a:t>-4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C62828"/>
                          </a:solidFill>
                        </a:rPr>
                        <a:t>-1.7%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l" indent="0" marL="0">
                        <a:buNone/>
                      </a:pPr>
                      <a:r>
                        <a:rPr lang="en-US" sz="950" dirty="0">
                          <a:solidFill>
                            <a:srgbClr val="222222"/>
                          </a:solidFill>
                        </a:rPr>
                        <a:t>Mild softness</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402336">
                <a:tc>
                  <a:txBody>
                    <a:bodyPr/>
                    <a:lstStyle/>
                    <a:p>
                      <a:pPr algn="l" indent="0" marL="0">
                        <a:buNone/>
                      </a:pPr>
                      <a:r>
                        <a:rPr lang="en-US" sz="1000" b="1" dirty="0">
                          <a:solidFill>
                            <a:srgbClr val="C62828"/>
                          </a:solidFill>
                        </a:rPr>
                        <a:t>Adult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97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84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C62828"/>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C62828"/>
                          </a:solidFill>
                        </a:rPr>
                        <a:t>-13.4%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l" indent="0" marL="0">
                        <a:buNone/>
                      </a:pPr>
                      <a:r>
                        <a:rPr lang="en-US" sz="950" b="1" dirty="0">
                          <a:solidFill>
                            <a:srgbClr val="C62828"/>
                          </a:solidFill>
                        </a:rPr>
                        <a:t>Structural contraction</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402336">
                <a:tc>
                  <a:txBody>
                    <a:bodyPr/>
                    <a:lstStyle/>
                    <a:p>
                      <a:pPr algn="l" indent="0" marL="0">
                        <a:buNone/>
                      </a:pPr>
                      <a:r>
                        <a:rPr lang="en-US" sz="1000" b="1" dirty="0">
                          <a:solidFill>
                            <a:srgbClr val="1E7D34"/>
                          </a:solidFill>
                        </a:rPr>
                        <a:t>Youth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222222"/>
                          </a:solidFill>
                        </a:rPr>
                        <a:t>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222222"/>
                          </a:solidFill>
                        </a:rPr>
                        <a:t>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17.2%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50" b="1" dirty="0">
                          <a:solidFill>
                            <a:srgbClr val="1E7D34"/>
                          </a:solidFill>
                        </a:rPr>
                        <a:t>Growing (+5)</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402336">
                <a:tc>
                  <a:txBody>
                    <a:bodyPr/>
                    <a:lstStyle/>
                    <a:p>
                      <a:pPr algn="ctr" indent="0" marL="0">
                        <a:buNone/>
                      </a:pPr>
                      <a:r>
                        <a:rPr lang="en-US" sz="1000" b="1" dirty="0">
                          <a:solidFill>
                            <a:srgbClr val="FFFFFF"/>
                          </a:solidFill>
                        </a:rPr>
                        <a:t>TOTAL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1,178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1,165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Adult Clinic drives the decline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bl>
          </a:graphicData>
        </a:graphic>
      </p:graphicFrame>
      <p:sp>
        <p:nvSpPr>
          <p:cNvPr id="6" name="Shape 3"/>
          <p:cNvSpPr/>
          <p:nvPr/>
        </p:nvSpPr>
        <p:spPr>
          <a:xfrm>
            <a:off x="274320" y="3310128"/>
            <a:ext cx="8595360" cy="1005840"/>
          </a:xfrm>
          <a:prstGeom prst="rect">
            <a:avLst/>
          </a:prstGeom>
          <a:solidFill>
            <a:srgbClr val="ECEFF1"/>
          </a:solidFill>
          <a:ln w="12700">
            <a:solidFill>
              <a:srgbClr val="CCCCCC"/>
            </a:solidFill>
            <a:prstDash val="solid"/>
          </a:ln>
        </p:spPr>
      </p:sp>
      <p:sp>
        <p:nvSpPr>
          <p:cNvPr id="7" name="Text 4"/>
          <p:cNvSpPr/>
          <p:nvPr/>
        </p:nvSpPr>
        <p:spPr>
          <a:xfrm>
            <a:off x="384048" y="3355848"/>
            <a:ext cx="8321040" cy="914400"/>
          </a:xfrm>
          <a:prstGeom prst="rect">
            <a:avLst/>
          </a:prstGeom>
          <a:noFill/>
          <a:ln/>
        </p:spPr>
        <p:txBody>
          <a:bodyPr wrap="square" rtlCol="0" anchor="ctr"/>
          <a:lstStyle/>
          <a:p>
            <a:pPr indent="0" marL="0">
              <a:buNone/>
            </a:pPr>
            <a:r>
              <a:rPr lang="en-US" sz="1000" b="1" dirty="0">
                <a:solidFill>
                  <a:srgbClr val="222222"/>
                </a:solidFill>
                <a:latin typeface="Calibri" pitchFamily="34" charset="0"/>
                <a:ea typeface="Calibri" pitchFamily="34" charset="-122"/>
                <a:cs typeface="Calibri" pitchFamily="34" charset="-120"/>
              </a:rPr>
              <a:t>Narrative:  </a:t>
            </a:r>
            <a:pPr indent="0" marL="0">
              <a:buNone/>
            </a:pPr>
            <a:r>
              <a:rPr lang="en-US" sz="1000" dirty="0">
                <a:solidFill>
                  <a:srgbClr val="222222"/>
                </a:solidFill>
                <a:latin typeface="Calibri" pitchFamily="34" charset="0"/>
                <a:ea typeface="Calibri" pitchFamily="34" charset="-122"/>
                <a:cs typeface="Calibri" pitchFamily="34" charset="-120"/>
              </a:rPr>
              <a:t>Adult Race remained essentially flat with 823 events in 2025 and 822 in 2026 (-1, -0.1%), showing portfolio stability in the largest segment. Youth Race declined modestly by 4 events (-1.7%), while Adult Clinic contracted significantly by 13 events (-13.4%). Youth Clinic emerged as the clear growth driver, adding 5 events (+17.2%), indicating potential momentum in youth programming.</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222222"/>
          </a:solidFill>
          <a:ln w="12700">
            <a:solidFill>
              <a:srgbClr val="222222"/>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1  --  Monthly Breakdown -- Jul &amp; Aug Drive the Changes</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3 / 8</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274320" y="694944"/>
          <a:ext cx="3108960" cy="3493008"/>
        </p:xfrm>
        <a:graphic>
          <a:graphicData uri="http://schemas.openxmlformats.org/drawingml/2006/table">
            <a:tbl>
              <a:tblPr/>
              <a:tblGrid>
                <a:gridCol w="777240"/>
                <a:gridCol w="777240"/>
                <a:gridCol w="777240"/>
                <a:gridCol w="777240"/>
              </a:tblGrid>
              <a:tr h="246888">
                <a:tc>
                  <a:txBody>
                    <a:bodyPr/>
                    <a:lstStyle/>
                    <a:p>
                      <a:pPr algn="ctr" indent="0" marL="0">
                        <a:buNone/>
                      </a:pPr>
                      <a:r>
                        <a:rPr lang="en-US" sz="1000" b="1" dirty="0">
                          <a:solidFill>
                            <a:srgbClr val="FFFFFF"/>
                          </a:solidFill>
                        </a:rPr>
                        <a:t>Month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2025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2026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Var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r>
              <a:tr h="246888">
                <a:tc>
                  <a:txBody>
                    <a:bodyPr/>
                    <a:lstStyle/>
                    <a:p>
                      <a:pPr algn="l" indent="0" marL="0">
                        <a:buNone/>
                      </a:pPr>
                      <a:r>
                        <a:rPr lang="en-US" sz="1000" dirty="0">
                          <a:solidFill>
                            <a:srgbClr val="1E7D34"/>
                          </a:solidFill>
                        </a:rPr>
                        <a:t>Jan</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17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1E7D34"/>
                          </a:solidFill>
                        </a:rPr>
                        <a:t>+7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222222"/>
                          </a:solidFill>
                        </a:rPr>
                        <a:t>Feb</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43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rPr>
                        <a:t>-9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246888">
                <a:tc>
                  <a:txBody>
                    <a:bodyPr/>
                    <a:lstStyle/>
                    <a:p>
                      <a:pPr algn="l" indent="0" marL="0">
                        <a:buNone/>
                      </a:pPr>
                      <a:r>
                        <a:rPr lang="en-US" sz="1000" b="1" dirty="0">
                          <a:solidFill>
                            <a:srgbClr val="1E7D34"/>
                          </a:solidFill>
                        </a:rPr>
                        <a:t>Mar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54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62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b="1" dirty="0">
                          <a:solidFill>
                            <a:srgbClr val="1E7D34"/>
                          </a:solidFill>
                        </a:rPr>
                        <a:t>+8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1E7D34"/>
                          </a:solidFill>
                        </a:rPr>
                        <a:t>Apr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76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81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1E7D34"/>
                          </a:solidFill>
                        </a:rPr>
                        <a:t>May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142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146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1E7D34"/>
                          </a:solidFill>
                        </a:rPr>
                        <a:t>+4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b="1" dirty="0">
                          <a:solidFill>
                            <a:srgbClr val="1E7D34"/>
                          </a:solidFill>
                        </a:rPr>
                        <a:t>Jun</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209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219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b="1" dirty="0">
                          <a:solidFill>
                            <a:srgbClr val="1E7D34"/>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b="1" dirty="0">
                          <a:solidFill>
                            <a:srgbClr val="C62828"/>
                          </a:solidFill>
                        </a:rPr>
                        <a:t>Jul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181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165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-16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246888">
                <a:tc>
                  <a:txBody>
                    <a:bodyPr/>
                    <a:lstStyle/>
                    <a:p>
                      <a:pPr algn="l" indent="0" marL="0">
                        <a:buNone/>
                      </a:pPr>
                      <a:r>
                        <a:rPr lang="en-US" sz="1000" b="1" dirty="0">
                          <a:solidFill>
                            <a:srgbClr val="C62828"/>
                          </a:solidFill>
                        </a:rPr>
                        <a:t>Aug</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220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201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-19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246888">
                <a:tc>
                  <a:txBody>
                    <a:bodyPr/>
                    <a:lstStyle/>
                    <a:p>
                      <a:pPr algn="l" indent="0" marL="0">
                        <a:buNone/>
                      </a:pPr>
                      <a:r>
                        <a:rPr lang="en-US" sz="1000" dirty="0">
                          <a:solidFill>
                            <a:srgbClr val="222222"/>
                          </a:solidFill>
                        </a:rPr>
                        <a:t>Sep</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151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146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C62828"/>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246888">
                <a:tc>
                  <a:txBody>
                    <a:bodyPr/>
                    <a:lstStyle/>
                    <a:p>
                      <a:pPr algn="l" indent="0" marL="0">
                        <a:buNone/>
                      </a:pPr>
                      <a:r>
                        <a:rPr lang="en-US" sz="1000" b="1" dirty="0">
                          <a:solidFill>
                            <a:srgbClr val="1E7D34"/>
                          </a:solidFill>
                        </a:rPr>
                        <a:t>Oct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60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71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b="1" dirty="0">
                          <a:solidFill>
                            <a:srgbClr val="1E7D34"/>
                          </a:solidFill>
                        </a:rPr>
                        <a:t>+11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222222"/>
                          </a:solidFill>
                        </a:rPr>
                        <a:t>Nov</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22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rPr>
                        <a:t>-9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246888">
                <a:tc>
                  <a:txBody>
                    <a:bodyPr/>
                    <a:lstStyle/>
                    <a:p>
                      <a:pPr algn="l" indent="0" marL="0">
                        <a:buNone/>
                      </a:pPr>
                      <a:r>
                        <a:rPr lang="en-US" sz="1000" dirty="0">
                          <a:solidFill>
                            <a:srgbClr val="222222"/>
                          </a:solidFill>
                        </a:rPr>
                        <a:t>Dec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246888">
                <a:tc>
                  <a:txBody>
                    <a:bodyPr/>
                    <a:lstStyle/>
                    <a:p>
                      <a:pPr algn="ctr" indent="0" marL="0">
                        <a:buNone/>
                      </a:pPr>
                      <a:r>
                        <a:rPr lang="en-US" sz="1000" b="1" dirty="0">
                          <a:solidFill>
                            <a:srgbClr val="FFFFFF"/>
                          </a:solidFill>
                        </a:rPr>
                        <a:t>Full Year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1,178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1,165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bl>
          </a:graphicData>
        </a:graphic>
      </p:graphicFrame>
      <p:sp>
        <p:nvSpPr>
          <p:cNvPr id="6" name="Text 3"/>
          <p:cNvSpPr/>
          <p:nvPr/>
        </p:nvSpPr>
        <p:spPr>
          <a:xfrm>
            <a:off x="3566160" y="694944"/>
            <a:ext cx="5394960" cy="256032"/>
          </a:xfrm>
          <a:prstGeom prst="rect">
            <a:avLst/>
          </a:prstGeom>
          <a:noFill/>
          <a:ln/>
        </p:spPr>
        <p:txBody>
          <a:bodyPr wrap="square" rtlCol="0" anchor="ctr"/>
          <a:lstStyle/>
          <a:p>
            <a:pPr indent="0" marL="0">
              <a:buNone/>
            </a:pPr>
            <a:r>
              <a:rPr lang="en-US" sz="1100" b="1" dirty="0">
                <a:solidFill>
                  <a:srgbClr val="222222"/>
                </a:solidFill>
                <a:latin typeface="Calibri" pitchFamily="34" charset="0"/>
                <a:ea typeface="Calibri" pitchFamily="34" charset="-122"/>
                <a:cs typeface="Calibri" pitchFamily="34" charset="-120"/>
              </a:rPr>
              <a:t>Type Detail -- Jul &amp; Aug</a:t>
            </a:r>
            <a:endParaRPr lang="en-US" sz="11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3566160" y="987552"/>
          <a:ext cx="5394960" cy="1261872"/>
        </p:xfrm>
        <a:graphic>
          <a:graphicData uri="http://schemas.openxmlformats.org/drawingml/2006/table">
            <a:tbl>
              <a:tblPr/>
              <a:tblGrid>
                <a:gridCol w="899160"/>
                <a:gridCol w="899160"/>
                <a:gridCol w="899160"/>
                <a:gridCol w="899160"/>
                <a:gridCol w="899160"/>
                <a:gridCol w="899160"/>
              </a:tblGrid>
              <a:tr h="292608">
                <a:tc>
                  <a:txBody>
                    <a:bodyPr/>
                    <a:lstStyle/>
                    <a:p>
                      <a:pPr algn="ctr" indent="0" marL="0">
                        <a:buNone/>
                      </a:pPr>
                      <a:r>
                        <a:rPr lang="en-US" sz="1000" b="1" dirty="0">
                          <a:solidFill>
                            <a:srgbClr val="FFFFFF"/>
                          </a:solidFill>
                        </a:rPr>
                        <a:t>Month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Adult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Youth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Adult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Youth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Total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r h="292608">
                <a:tc>
                  <a:txBody>
                    <a:bodyPr/>
                    <a:lstStyle/>
                    <a:p>
                      <a:pPr algn="l" indent="0" marL="0">
                        <a:buNone/>
                      </a:pPr>
                      <a:r>
                        <a:rPr lang="en-US" sz="1000" b="1" dirty="0">
                          <a:solidFill>
                            <a:srgbClr val="C62828"/>
                          </a:solidFill>
                        </a:rPr>
                        <a:t>August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C62828"/>
                          </a:solidFill>
                        </a:rPr>
                        <a:t>-6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C62828"/>
                          </a:solidFill>
                        </a:rPr>
                        <a:t>-9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C62828"/>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C62828"/>
                          </a:solidFill>
                        </a:rPr>
                        <a:t>-3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C62828"/>
                          </a:solidFill>
                        </a:rPr>
                        <a:t>-19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292608">
                <a:tc>
                  <a:txBody>
                    <a:bodyPr/>
                    <a:lstStyle/>
                    <a:p>
                      <a:pPr algn="l" indent="0" marL="0">
                        <a:buNone/>
                      </a:pPr>
                      <a:r>
                        <a:rPr lang="en-US" sz="1000" b="1" dirty="0">
                          <a:solidFill>
                            <a:srgbClr val="C62828"/>
                          </a:solidFill>
                        </a:rPr>
                        <a:t>July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C62828"/>
                          </a:solidFill>
                        </a:rPr>
                        <a:t>-8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-16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292608">
                <a:tc>
                  <a:txBody>
                    <a:bodyPr/>
                    <a:lstStyle/>
                    <a:p>
                      <a:pPr algn="l" indent="0" marL="0">
                        <a:buNone/>
                      </a:pPr>
                      <a:r>
                        <a:rPr lang="en-US" sz="1000" b="1" dirty="0">
                          <a:solidFill>
                            <a:srgbClr val="222222"/>
                          </a:solidFill>
                        </a:rPr>
                        <a:t>Full Year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C62828"/>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C62828"/>
                          </a:solidFill>
                        </a:rPr>
                        <a:t>-4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C62828"/>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C62828"/>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bl>
          </a:graphicData>
        </a:graphic>
      </p:graphicFrame>
      <p:sp>
        <p:nvSpPr>
          <p:cNvPr id="8" name="Shape 4"/>
          <p:cNvSpPr/>
          <p:nvPr/>
        </p:nvSpPr>
        <p:spPr>
          <a:xfrm>
            <a:off x="3566160" y="2340864"/>
            <a:ext cx="5394960" cy="658368"/>
          </a:xfrm>
          <a:prstGeom prst="rect">
            <a:avLst/>
          </a:prstGeom>
          <a:solidFill>
            <a:srgbClr val="FFCDD2"/>
          </a:solidFill>
          <a:ln w="12700">
            <a:solidFill>
              <a:srgbClr val="C62828"/>
            </a:solidFill>
            <a:prstDash val="solid"/>
          </a:ln>
        </p:spPr>
      </p:sp>
      <p:sp>
        <p:nvSpPr>
          <p:cNvPr id="9" name="Text 5"/>
          <p:cNvSpPr/>
          <p:nvPr/>
        </p:nvSpPr>
        <p:spPr>
          <a:xfrm>
            <a:off x="3630168" y="2340864"/>
            <a:ext cx="5266944" cy="658368"/>
          </a:xfrm>
          <a:prstGeom prst="rect">
            <a:avLst/>
          </a:prstGeom>
          <a:noFill/>
          <a:ln/>
        </p:spPr>
        <p:txBody>
          <a:bodyPr wrap="square" rtlCol="0" anchor="ctr"/>
          <a:lstStyle/>
          <a:p>
            <a:pPr algn="ctr" indent="0" marL="0">
              <a:buNone/>
            </a:pPr>
            <a:r>
              <a:rPr lang="en-US" sz="1000" b="1" dirty="0">
                <a:solidFill>
                  <a:srgbClr val="C62828"/>
                </a:solidFill>
                <a:latin typeface="Calibri" pitchFamily="34" charset="0"/>
                <a:ea typeface="Calibri" pitchFamily="34" charset="-122"/>
                <a:cs typeface="Calibri" pitchFamily="34" charset="-120"/>
              </a:rPr>
              <a:t>Jul and Aug are driven by Youth Race, Adult Race.</a:t>
            </a:r>
            <a:endParaRPr lang="en-US" sz="1000" dirty="0"/>
          </a:p>
        </p:txBody>
      </p:sp>
      <p:sp>
        <p:nvSpPr>
          <p:cNvPr id="10" name="Shape 6"/>
          <p:cNvSpPr/>
          <p:nvPr/>
        </p:nvSpPr>
        <p:spPr>
          <a:xfrm>
            <a:off x="3566160" y="3090672"/>
            <a:ext cx="5394960" cy="914400"/>
          </a:xfrm>
          <a:prstGeom prst="rect">
            <a:avLst/>
          </a:prstGeom>
          <a:solidFill>
            <a:srgbClr val="C8E6C9"/>
          </a:solidFill>
          <a:ln w="12700">
            <a:solidFill>
              <a:srgbClr val="1E7D34"/>
            </a:solidFill>
            <a:prstDash val="solid"/>
          </a:ln>
        </p:spPr>
      </p:sp>
      <p:sp>
        <p:nvSpPr>
          <p:cNvPr id="11" name="Text 7"/>
          <p:cNvSpPr/>
          <p:nvPr/>
        </p:nvSpPr>
        <p:spPr>
          <a:xfrm>
            <a:off x="3630168" y="3090672"/>
            <a:ext cx="5266944" cy="914400"/>
          </a:xfrm>
          <a:prstGeom prst="rect">
            <a:avLst/>
          </a:prstGeom>
          <a:noFill/>
          <a:ln/>
        </p:spPr>
        <p:txBody>
          <a:bodyPr wrap="square" rtlCol="0" anchor="ctr"/>
          <a:lstStyle/>
          <a:p>
            <a:pPr algn="ctr" indent="0" marL="0">
              <a:buNone/>
            </a:pPr>
            <a:r>
              <a:rPr lang="en-US" sz="1000" b="1" dirty="0">
                <a:solidFill>
                  <a:srgbClr val="1E7D34"/>
                </a:solidFill>
                <a:latin typeface="Calibri" pitchFamily="34" charset="0"/>
                <a:ea typeface="Calibri" pitchFamily="34" charset="-122"/>
                <a:cs typeface="Calibri" pitchFamily="34" charset="-120"/>
              </a:rPr>
              <a:t>Oct (+11) and Jun (+10) are the strongest months.</a:t>
            </a:r>
            <a:endParaRPr lang="en-US" sz="1000" dirty="0"/>
          </a:p>
        </p:txBody>
      </p:sp>
      <p:sp>
        <p:nvSpPr>
          <p:cNvPr id="12" name="Shape 8"/>
          <p:cNvSpPr/>
          <p:nvPr/>
        </p:nvSpPr>
        <p:spPr>
          <a:xfrm>
            <a:off x="274320" y="4315968"/>
            <a:ext cx="8595360" cy="457200"/>
          </a:xfrm>
          <a:prstGeom prst="rect">
            <a:avLst/>
          </a:prstGeom>
          <a:solidFill>
            <a:srgbClr val="ECEFF1"/>
          </a:solidFill>
          <a:ln w="12700">
            <a:solidFill>
              <a:srgbClr val="CCCCCC"/>
            </a:solidFill>
            <a:prstDash val="solid"/>
          </a:ln>
        </p:spPr>
      </p:sp>
      <p:sp>
        <p:nvSpPr>
          <p:cNvPr id="13" name="Text 9"/>
          <p:cNvSpPr/>
          <p:nvPr/>
        </p:nvSpPr>
        <p:spPr>
          <a:xfrm>
            <a:off x="384048" y="4343400"/>
            <a:ext cx="8321040" cy="402336"/>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August and July were the worst-performing months, with declines of -19 and -16 events respectively (both purely organic with no calendar offset). February also underperformed with -9 events. Conversely, October led gains with +11 events (including +7 from calendar advantage), while June contributed +10 events driven by strong organic growth of +33.2.</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06064"/>
          </a:solidFill>
          <a:ln w="12700">
            <a:solidFill>
              <a:srgbClr val="006064"/>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2  --  Is This a Calendar Effect?  No -- Not for Jul or Aug</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4 / 8</a:t>
            </a:r>
            <a:endParaRPr lang="en-US" sz="900" dirty="0"/>
          </a:p>
        </p:txBody>
      </p:sp>
      <p:sp>
        <p:nvSpPr>
          <p:cNvPr id="5" name="Shape 3"/>
          <p:cNvSpPr/>
          <p:nvPr/>
        </p:nvSpPr>
        <p:spPr>
          <a:xfrm>
            <a:off x="274320" y="694944"/>
            <a:ext cx="8595360" cy="566928"/>
          </a:xfrm>
          <a:prstGeom prst="rect">
            <a:avLst/>
          </a:prstGeom>
          <a:solidFill>
            <a:srgbClr val="FDECEA"/>
          </a:solidFill>
          <a:ln w="12700">
            <a:solidFill>
              <a:srgbClr val="C62828"/>
            </a:solidFill>
            <a:prstDash val="solid"/>
          </a:ln>
        </p:spPr>
      </p:sp>
      <p:sp>
        <p:nvSpPr>
          <p:cNvPr id="6" name="Text 4"/>
          <p:cNvSpPr/>
          <p:nvPr/>
        </p:nvSpPr>
        <p:spPr>
          <a:xfrm>
            <a:off x="420624" y="722376"/>
            <a:ext cx="8302752" cy="512064"/>
          </a:xfrm>
          <a:prstGeom prst="rect">
            <a:avLst/>
          </a:prstGeom>
          <a:noFill/>
          <a:ln/>
        </p:spPr>
        <p:txBody>
          <a:bodyPr wrap="square"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Jul and Aug had ZERO change in weekend days (Sat or Sun) between 2025 and 2026. There is no calendar explanation for the declines -- they are fully organic.</a:t>
            </a:r>
            <a:endParaRPr lang="en-US" sz="10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74320" y="1353312"/>
          <a:ext cx="8595360" cy="2231136"/>
        </p:xfrm>
        <a:graphic>
          <a:graphicData uri="http://schemas.openxmlformats.org/drawingml/2006/table">
            <a:tbl>
              <a:tblPr/>
              <a:tblGrid>
                <a:gridCol w="1432560"/>
                <a:gridCol w="1432560"/>
                <a:gridCol w="1432560"/>
                <a:gridCol w="1432560"/>
                <a:gridCol w="1432560"/>
                <a:gridCol w="1432560"/>
              </a:tblGrid>
              <a:tr h="338328">
                <a:tc>
                  <a:txBody>
                    <a:bodyPr/>
                    <a:lstStyle/>
                    <a:p>
                      <a:pPr algn="ctr" indent="0" marL="0">
                        <a:buNone/>
                      </a:pPr>
                      <a:r>
                        <a:rPr lang="en-US" sz="1000" b="1" dirty="0">
                          <a:solidFill>
                            <a:srgbClr val="FFFFFF"/>
                          </a:solidFill>
                        </a:rPr>
                        <a:t>Month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Delta Weekend Days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Calendar Expected</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Actual Delta</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Organic Delta</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Interpretation</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r>
              <a:tr h="338328">
                <a:tc>
                  <a:txBody>
                    <a:bodyPr/>
                    <a:lstStyle/>
                    <a:p>
                      <a:pPr algn="l" indent="0" marL="0">
                        <a:buNone/>
                      </a:pPr>
                      <a:r>
                        <a:rPr lang="en-US" sz="1000" b="1" dirty="0">
                          <a:solidFill>
                            <a:srgbClr val="1E7D34"/>
                          </a:solidFill>
                        </a:rPr>
                        <a:t>March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565C0"/>
                          </a:solidFill>
                        </a:rPr>
                        <a:t>-1 day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-5.4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E7D34"/>
                          </a:solidFill>
                        </a:rPr>
                        <a:t>+8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00" dirty="0">
                          <a:solidFill>
                            <a:srgbClr val="1E7D34"/>
                          </a:solidFill>
                        </a:rPr>
                        <a:t>Genuine organic strength</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338328">
                <a:tc>
                  <a:txBody>
                    <a:bodyPr/>
                    <a:lstStyle/>
                    <a:p>
                      <a:pPr algn="l" indent="0" marL="0">
                        <a:buNone/>
                      </a:pPr>
                      <a:r>
                        <a:rPr lang="en-US" sz="1000" b="1" dirty="0">
                          <a:solidFill>
                            <a:srgbClr val="C62828"/>
                          </a:solidFill>
                        </a:rPr>
                        <a:t>May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565C0"/>
                          </a:solidFill>
                        </a:rPr>
                        <a:t>+1 day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+15.8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1E7D34"/>
                          </a:solidFill>
                        </a:rPr>
                        <a:t>+4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C62828"/>
                          </a:solidFill>
                        </a:rPr>
                        <a:t>-11.8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l" indent="0" marL="0">
                        <a:buNone/>
                      </a:pPr>
                      <a:r>
                        <a:rPr lang="en-US" sz="900" b="1" dirty="0">
                          <a:solidFill>
                            <a:srgbClr val="C62828"/>
                          </a:solidFill>
                        </a:rPr>
                        <a:t>Looks +4 raw -- actually -11.8 organic</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338328">
                <a:tc>
                  <a:txBody>
                    <a:bodyPr/>
                    <a:lstStyle/>
                    <a:p>
                      <a:pPr algn="l" indent="0" marL="0">
                        <a:buNone/>
                      </a:pPr>
                      <a:r>
                        <a:rPr lang="en-US" sz="1000" b="1" dirty="0">
                          <a:solidFill>
                            <a:srgbClr val="1E7D34"/>
                          </a:solidFill>
                        </a:rPr>
                        <a:t>June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565C0"/>
                          </a:solidFill>
                        </a:rPr>
                        <a:t>-1 day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-23.2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E7D34"/>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+33.2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00" dirty="0">
                          <a:solidFill>
                            <a:srgbClr val="1E7D34"/>
                          </a:solidFill>
                        </a:rPr>
                        <a:t>Genuine organic strength</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338328">
                <a:tc>
                  <a:txBody>
                    <a:bodyPr/>
                    <a:lstStyle/>
                    <a:p>
                      <a:pPr algn="l" indent="0" marL="0">
                        <a:buNone/>
                      </a:pPr>
                      <a:r>
                        <a:rPr lang="en-US" sz="1000" b="1" dirty="0">
                          <a:solidFill>
                            <a:srgbClr val="C62828"/>
                          </a:solidFill>
                        </a:rPr>
                        <a:t>July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565C0"/>
                          </a:solidFill>
                        </a:rPr>
                        <a:t>None (0)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C62828"/>
                          </a:solidFill>
                        </a:rPr>
                        <a:t>-16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C62828"/>
                          </a:solidFill>
                        </a:rPr>
                        <a:t>-16.0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l" indent="0" marL="0">
                        <a:buNone/>
                      </a:pPr>
                      <a:r>
                        <a:rPr lang="en-US" sz="900" b="1" dirty="0">
                          <a:solidFill>
                            <a:srgbClr val="C62828"/>
                          </a:solidFill>
                        </a:rPr>
                        <a:t>Zero calendar cover -- full decline is organic</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338328">
                <a:tc>
                  <a:txBody>
                    <a:bodyPr/>
                    <a:lstStyle/>
                    <a:p>
                      <a:pPr algn="l" indent="0" marL="0">
                        <a:buNone/>
                      </a:pPr>
                      <a:r>
                        <a:rPr lang="en-US" sz="1000" b="1" dirty="0">
                          <a:solidFill>
                            <a:srgbClr val="C62828"/>
                          </a:solidFill>
                        </a:rPr>
                        <a:t>August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565C0"/>
                          </a:solidFill>
                        </a:rPr>
                        <a:t>None (0)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C62828"/>
                          </a:solidFill>
                        </a:rPr>
                        <a:t>-19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C62828"/>
                          </a:solidFill>
                        </a:rPr>
                        <a:t>-19.0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l" indent="0" marL="0">
                        <a:buNone/>
                      </a:pPr>
                      <a:r>
                        <a:rPr lang="en-US" sz="900" b="1" dirty="0">
                          <a:solidFill>
                            <a:srgbClr val="C62828"/>
                          </a:solidFill>
                        </a:rPr>
                        <a:t>Zero calendar cover -- full decline is organic</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bl>
          </a:graphicData>
        </a:graphic>
      </p:graphicFrame>
      <p:sp>
        <p:nvSpPr>
          <p:cNvPr id="8" name="Shape 5"/>
          <p:cNvSpPr/>
          <p:nvPr/>
        </p:nvSpPr>
        <p:spPr>
          <a:xfrm>
            <a:off x="274320" y="3675888"/>
            <a:ext cx="4160520" cy="566928"/>
          </a:xfrm>
          <a:prstGeom prst="rect">
            <a:avLst/>
          </a:prstGeom>
          <a:solidFill>
            <a:srgbClr val="E3F2FD"/>
          </a:solidFill>
          <a:ln w="12700">
            <a:solidFill>
              <a:srgbClr val="1565C0"/>
            </a:solidFill>
            <a:prstDash val="solid"/>
          </a:ln>
        </p:spPr>
      </p:sp>
      <p:sp>
        <p:nvSpPr>
          <p:cNvPr id="9" name="Text 6"/>
          <p:cNvSpPr/>
          <p:nvPr/>
        </p:nvSpPr>
        <p:spPr>
          <a:xfrm>
            <a:off x="384048" y="3694176"/>
            <a:ext cx="3931920" cy="530352"/>
          </a:xfrm>
          <a:prstGeom prst="rect">
            <a:avLst/>
          </a:prstGeom>
          <a:noFill/>
          <a:ln/>
        </p:spPr>
        <p:txBody>
          <a:bodyPr wrap="square" rtlCol="0" anchor="ctr"/>
          <a:lstStyle/>
          <a:p>
            <a:pPr indent="0" marL="0">
              <a:buNone/>
            </a:pPr>
            <a:r>
              <a:rPr lang="en-US" sz="950" dirty="0">
                <a:solidFill>
                  <a:srgbClr val="1565C0"/>
                </a:solidFill>
                <a:latin typeface="Calibri" pitchFamily="34" charset="0"/>
                <a:ea typeface="Calibri" pitchFamily="34" charset="-122"/>
                <a:cs typeface="Calibri" pitchFamily="34" charset="-120"/>
              </a:rPr>
              <a:t>Event shifting (123 events, 10%) explains a small share of monthly net changes.</a:t>
            </a:r>
            <a:endParaRPr lang="en-US" sz="950" dirty="0"/>
          </a:p>
        </p:txBody>
      </p:sp>
      <p:sp>
        <p:nvSpPr>
          <p:cNvPr id="10" name="Shape 7"/>
          <p:cNvSpPr/>
          <p:nvPr/>
        </p:nvSpPr>
        <p:spPr>
          <a:xfrm>
            <a:off x="4617720" y="3675888"/>
            <a:ext cx="4251960" cy="566928"/>
          </a:xfrm>
          <a:prstGeom prst="rect">
            <a:avLst/>
          </a:prstGeom>
          <a:solidFill>
            <a:srgbClr val="FFF8E1"/>
          </a:solidFill>
          <a:ln w="12700">
            <a:solidFill>
              <a:srgbClr val="E65100"/>
            </a:solidFill>
            <a:prstDash val="solid"/>
          </a:ln>
        </p:spPr>
      </p:sp>
      <p:sp>
        <p:nvSpPr>
          <p:cNvPr id="11" name="Text 8"/>
          <p:cNvSpPr/>
          <p:nvPr/>
        </p:nvSpPr>
        <p:spPr>
          <a:xfrm>
            <a:off x="4727448" y="3694176"/>
            <a:ext cx="4023360" cy="530352"/>
          </a:xfrm>
          <a:prstGeom prst="rect">
            <a:avLst/>
          </a:prstGeom>
          <a:noFill/>
          <a:ln/>
        </p:spPr>
        <p:txBody>
          <a:bodyPr wrap="square" rtlCol="0" anchor="ctr"/>
          <a:lstStyle/>
          <a:p>
            <a:pPr indent="0" marL="0">
              <a:buNone/>
            </a:pPr>
            <a:r>
              <a:rPr lang="en-US" sz="950" dirty="0">
                <a:solidFill>
                  <a:srgbClr val="E65100"/>
                </a:solidFill>
                <a:latin typeface="Calibri" pitchFamily="34" charset="0"/>
                <a:ea typeface="Calibri" pitchFamily="34" charset="-122"/>
                <a:cs typeface="Calibri" pitchFamily="34" charset="-120"/>
              </a:rPr>
              <a:t>May distortion: raw +4 masks -11.8 organic. Calendar effect was +15.8.</a:t>
            </a:r>
            <a:endParaRPr lang="en-US" sz="950" dirty="0"/>
          </a:p>
        </p:txBody>
      </p:sp>
      <p:sp>
        <p:nvSpPr>
          <p:cNvPr id="12" name="Shape 9"/>
          <p:cNvSpPr/>
          <p:nvPr/>
        </p:nvSpPr>
        <p:spPr>
          <a:xfrm>
            <a:off x="274320" y="4352544"/>
            <a:ext cx="8595360" cy="457200"/>
          </a:xfrm>
          <a:prstGeom prst="rect">
            <a:avLst/>
          </a:prstGeom>
          <a:solidFill>
            <a:srgbClr val="ECEFF1"/>
          </a:solidFill>
          <a:ln w="12700">
            <a:solidFill>
              <a:srgbClr val="CCCCCC"/>
            </a:solidFill>
            <a:prstDash val="solid"/>
          </a:ln>
        </p:spPr>
      </p:sp>
      <p:sp>
        <p:nvSpPr>
          <p:cNvPr id="13" name="Text 10"/>
          <p:cNvSpPr/>
          <p:nvPr/>
        </p:nvSpPr>
        <p:spPr>
          <a:xfrm>
            <a:off x="384048" y="4379976"/>
            <a:ext cx="8321040" cy="402336"/>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Calendar effects provide context for monthly volatility but explain only a portion of year-over-year changes. July 4th shifted from Friday (2025) to Saturday (2026), and Labor Day moved from September 1 to September 7, yet these calendar shifts did not prevent July's -16 decline. October's +11 gain included +7 from calendar alignment, suggesting underlying event strength independent of holiday positioning.</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4A148C"/>
          </a:solidFill>
          <a:ln w="12700">
            <a:solidFill>
              <a:srgbClr val="4A148C"/>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3  --  Organic Performance -- True Signal After Removing Calendar Noise</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5 / 8</a:t>
            </a:r>
            <a:endParaRPr lang="en-US" sz="900" dirty="0"/>
          </a:p>
        </p:txBody>
      </p:sp>
      <p:sp>
        <p:nvSpPr>
          <p:cNvPr id="5" name="Text 3"/>
          <p:cNvSpPr/>
          <p:nvPr/>
        </p:nvSpPr>
        <p:spPr>
          <a:xfrm>
            <a:off x="274320" y="694944"/>
            <a:ext cx="8595360" cy="237744"/>
          </a:xfrm>
          <a:prstGeom prst="rect">
            <a:avLst/>
          </a:prstGeom>
          <a:noFill/>
          <a:ln/>
        </p:spPr>
        <p:txBody>
          <a:bodyPr wrap="square" rtlCol="0" anchor="ctr"/>
          <a:lstStyle/>
          <a:p>
            <a:pPr indent="0" marL="0">
              <a:buNone/>
            </a:pPr>
            <a:r>
              <a:rPr lang="en-US" sz="1100" dirty="0">
                <a:solidFill>
                  <a:srgbClr val="222222"/>
                </a:solidFill>
                <a:latin typeface="Calibri" pitchFamily="34" charset="0"/>
                <a:ea typeface="Calibri" pitchFamily="34" charset="-122"/>
                <a:cs typeface="Calibri" pitchFamily="34" charset="-120"/>
              </a:rPr>
              <a:t>Once calendar effects are stripped, the real performance picture:</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74320" y="969264"/>
          <a:ext cx="8595360" cy="1828800"/>
        </p:xfrm>
        <a:graphic>
          <a:graphicData uri="http://schemas.openxmlformats.org/drawingml/2006/table">
            <a:tbl>
              <a:tblPr/>
              <a:tblGrid>
                <a:gridCol w="1719072"/>
                <a:gridCol w="1719072"/>
                <a:gridCol w="1719072"/>
                <a:gridCol w="1719072"/>
                <a:gridCol w="1719072"/>
              </a:tblGrid>
              <a:tr h="329184">
                <a:tc>
                  <a:txBody>
                    <a:bodyPr/>
                    <a:lstStyle/>
                    <a:p>
                      <a:pPr algn="ctr" indent="0" marL="0">
                        <a:buNone/>
                      </a:pPr>
                      <a:r>
                        <a:rPr lang="en-US" sz="1050" b="1" dirty="0">
                          <a:solidFill>
                            <a:srgbClr val="FFFFFF"/>
                          </a:solidFill>
                        </a:rPr>
                        <a:t>Event Type</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c>
                  <a:txBody>
                    <a:bodyPr/>
                    <a:lstStyle/>
                    <a:p>
                      <a:pPr algn="ctr" indent="0" marL="0">
                        <a:buNone/>
                      </a:pPr>
                      <a:r>
                        <a:rPr lang="en-US" sz="1050" b="1" dirty="0">
                          <a:solidFill>
                            <a:srgbClr val="FFFFFF"/>
                          </a:solidFill>
                        </a:rPr>
                        <a:t>Raw Delta</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c>
                  <a:txBody>
                    <a:bodyPr/>
                    <a:lstStyle/>
                    <a:p>
                      <a:pPr algn="ctr" indent="0" marL="0">
                        <a:buNone/>
                      </a:pPr>
                      <a:r>
                        <a:rPr lang="en-US" sz="1050" b="1" dirty="0">
                          <a:solidFill>
                            <a:srgbClr val="FFFFFF"/>
                          </a:solidFill>
                        </a:rPr>
                        <a:t>Calendar Effect</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c>
                  <a:txBody>
                    <a:bodyPr/>
                    <a:lstStyle/>
                    <a:p>
                      <a:pPr algn="ctr" indent="0" marL="0">
                        <a:buNone/>
                      </a:pPr>
                      <a:r>
                        <a:rPr lang="en-US" sz="1050" b="1" dirty="0">
                          <a:solidFill>
                            <a:srgbClr val="FFFFFF"/>
                          </a:solidFill>
                        </a:rPr>
                        <a:t>Organic Delta</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c>
                  <a:txBody>
                    <a:bodyPr/>
                    <a:lstStyle/>
                    <a:p>
                      <a:pPr algn="ctr" indent="0" marL="0">
                        <a:buNone/>
                      </a:pPr>
                      <a:r>
                        <a:rPr lang="en-US" sz="1050" b="1" dirty="0">
                          <a:solidFill>
                            <a:srgbClr val="FFFFFF"/>
                          </a:solidFill>
                        </a:rPr>
                        <a:t>Organic %</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r>
              <a:tr h="329184">
                <a:tc>
                  <a:txBody>
                    <a:bodyPr/>
                    <a:lstStyle/>
                    <a:p>
                      <a:pPr algn="l" indent="0" marL="0">
                        <a:buNone/>
                      </a:pPr>
                      <a:r>
                        <a:rPr lang="en-US" sz="1050" dirty="0">
                          <a:solidFill>
                            <a:srgbClr val="222222"/>
                          </a:solidFill>
                        </a:rPr>
                        <a:t>Adult Race</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50" dirty="0">
                          <a:solidFill>
                            <a:srgbClr val="C62828"/>
                          </a:solidFill>
                        </a:rPr>
                        <a:t>-1</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50" dirty="0">
                          <a:solidFill>
                            <a:srgbClr val="E65100"/>
                          </a:solidFill>
                        </a:rPr>
                        <a:t>-2.4</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50" dirty="0">
                          <a:solidFill>
                            <a:srgbClr val="1E7D34"/>
                          </a:solidFill>
                        </a:rPr>
                        <a:t>+1.4</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1E7D34"/>
                          </a:solidFill>
                        </a:rPr>
                        <a:t>+0.2%</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329184">
                <a:tc>
                  <a:txBody>
                    <a:bodyPr/>
                    <a:lstStyle/>
                    <a:p>
                      <a:pPr algn="l" indent="0" marL="0">
                        <a:buNone/>
                      </a:pPr>
                      <a:r>
                        <a:rPr lang="en-US" sz="1050" dirty="0">
                          <a:solidFill>
                            <a:srgbClr val="222222"/>
                          </a:solidFill>
                        </a:rPr>
                        <a:t>Youth Race</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C62828"/>
                          </a:solidFill>
                        </a:rPr>
                        <a:t>-4</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50" dirty="0">
                          <a:solidFill>
                            <a:srgbClr val="E65100"/>
                          </a:solidFill>
                        </a:rPr>
                        <a:t>-1.2</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50" dirty="0">
                          <a:solidFill>
                            <a:srgbClr val="C62828"/>
                          </a:solidFill>
                        </a:rPr>
                        <a:t>-2.8</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50" dirty="0">
                          <a:solidFill>
                            <a:srgbClr val="C62828"/>
                          </a:solidFill>
                        </a:rPr>
                        <a:t>-1.2%</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329184">
                <a:tc>
                  <a:txBody>
                    <a:bodyPr/>
                    <a:lstStyle/>
                    <a:p>
                      <a:pPr algn="l" indent="0" marL="0">
                        <a:buNone/>
                      </a:pPr>
                      <a:r>
                        <a:rPr lang="en-US" sz="1050" b="1" dirty="0">
                          <a:solidFill>
                            <a:srgbClr val="C62828"/>
                          </a:solidFill>
                        </a:rPr>
                        <a:t>Adult Clinic</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50" b="1" dirty="0">
                          <a:solidFill>
                            <a:srgbClr val="C62828"/>
                          </a:solidFill>
                        </a:rPr>
                        <a:t>-13</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50" dirty="0">
                          <a:solidFill>
                            <a:srgbClr val="E65100"/>
                          </a:solidFill>
                        </a:rPr>
                        <a:t>-2.0</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50" b="1" dirty="0">
                          <a:solidFill>
                            <a:srgbClr val="C62828"/>
                          </a:solidFill>
                        </a:rPr>
                        <a:t>-11.0</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50" b="1" dirty="0">
                          <a:solidFill>
                            <a:srgbClr val="C62828"/>
                          </a:solidFill>
                        </a:rPr>
                        <a:t>-11.3%</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329184">
                <a:tc>
                  <a:txBody>
                    <a:bodyPr/>
                    <a:lstStyle/>
                    <a:p>
                      <a:pPr algn="l" indent="0" marL="0">
                        <a:buNone/>
                      </a:pPr>
                      <a:r>
                        <a:rPr lang="en-US" sz="1050" b="1" dirty="0">
                          <a:solidFill>
                            <a:srgbClr val="1E7D34"/>
                          </a:solidFill>
                        </a:rPr>
                        <a:t>Youth Clinic</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1E7D34"/>
                          </a:solidFill>
                        </a:rPr>
                        <a:t>+5</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E65100"/>
                          </a:solidFill>
                        </a:rPr>
                        <a:t>-0.6</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50" dirty="0">
                          <a:solidFill>
                            <a:srgbClr val="1E7D34"/>
                          </a:solidFill>
                        </a:rPr>
                        <a:t>+5.6</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b="1" dirty="0">
                          <a:solidFill>
                            <a:srgbClr val="1E7D34"/>
                          </a:solidFill>
                        </a:rPr>
                        <a:t>+19.4%</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7" name="Shape 4"/>
          <p:cNvSpPr/>
          <p:nvPr/>
        </p:nvSpPr>
        <p:spPr>
          <a:xfrm>
            <a:off x="274320" y="2889504"/>
            <a:ext cx="8595360" cy="402336"/>
          </a:xfrm>
          <a:prstGeom prst="rect">
            <a:avLst/>
          </a:prstGeom>
          <a:solidFill>
            <a:srgbClr val="E3F2FD"/>
          </a:solidFill>
          <a:ln w="12700">
            <a:solidFill>
              <a:srgbClr val="1565C0"/>
            </a:solidFill>
            <a:prstDash val="solid"/>
          </a:ln>
        </p:spPr>
      </p:sp>
      <p:sp>
        <p:nvSpPr>
          <p:cNvPr id="8" name="Text 5"/>
          <p:cNvSpPr/>
          <p:nvPr/>
        </p:nvSpPr>
        <p:spPr>
          <a:xfrm>
            <a:off x="384048" y="2907792"/>
            <a:ext cx="8321040" cy="365760"/>
          </a:xfrm>
          <a:prstGeom prst="rect">
            <a:avLst/>
          </a:prstGeom>
          <a:noFill/>
          <a:ln/>
        </p:spPr>
        <p:txBody>
          <a:bodyPr wrap="square" rtlCol="0" anchor="ctr"/>
          <a:lstStyle/>
          <a:p>
            <a:pPr indent="0" marL="0">
              <a:buNone/>
            </a:pPr>
            <a:r>
              <a:rPr lang="en-US" sz="950" i="1" dirty="0">
                <a:solidFill>
                  <a:srgbClr val="1565C0"/>
                </a:solidFill>
                <a:latin typeface="Calibri" pitchFamily="34" charset="0"/>
                <a:ea typeface="Calibri" pitchFamily="34" charset="-122"/>
                <a:cs typeface="Calibri" pitchFamily="34" charset="-120"/>
              </a:rPr>
              <a:t>Organic Delta = Actual Delta - Calendar Expected Delta.   Calendar effect = Delta weekend days x 2025 events-per-weekend-day for that month &amp; type.</a:t>
            </a:r>
            <a:endParaRPr lang="en-US" sz="950" dirty="0"/>
          </a:p>
        </p:txBody>
      </p:sp>
      <p:sp>
        <p:nvSpPr>
          <p:cNvPr id="9" name="Shape 6"/>
          <p:cNvSpPr/>
          <p:nvPr/>
        </p:nvSpPr>
        <p:spPr>
          <a:xfrm>
            <a:off x="274320" y="3218688"/>
            <a:ext cx="4160520" cy="713232"/>
          </a:xfrm>
          <a:prstGeom prst="rect">
            <a:avLst/>
          </a:prstGeom>
          <a:solidFill>
            <a:srgbClr val="FDECEA"/>
          </a:solidFill>
          <a:ln w="12700">
            <a:solidFill>
              <a:srgbClr val="C62828"/>
            </a:solidFill>
            <a:prstDash val="solid"/>
          </a:ln>
        </p:spPr>
      </p:sp>
      <p:sp>
        <p:nvSpPr>
          <p:cNvPr id="10" name="Text 7"/>
          <p:cNvSpPr/>
          <p:nvPr/>
        </p:nvSpPr>
        <p:spPr>
          <a:xfrm>
            <a:off x="384048" y="3246120"/>
            <a:ext cx="3931920" cy="676656"/>
          </a:xfrm>
          <a:prstGeom prst="rect">
            <a:avLst/>
          </a:prstGeom>
          <a:noFill/>
          <a:ln/>
        </p:spPr>
        <p:txBody>
          <a:bodyPr wrap="square"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Adult Clinic: -11.3% organic
</a:t>
            </a:r>
            <a:pPr indent="0" marL="0">
              <a:buNone/>
            </a:pPr>
            <a:r>
              <a:rPr lang="en-US" sz="950" dirty="0">
                <a:solidFill>
                  <a:srgbClr val="C62828"/>
                </a:solidFill>
                <a:latin typeface="Calibri" pitchFamily="34" charset="0"/>
                <a:ea typeface="Calibri" pitchFamily="34" charset="-122"/>
                <a:cs typeface="Calibri" pitchFamily="34" charset="-120"/>
              </a:rPr>
              <a:t>Organic delta -11.0 (-11.3%). Calendar noise cannot explain it.</a:t>
            </a:r>
            <a:endParaRPr lang="en-US" sz="950" dirty="0"/>
          </a:p>
        </p:txBody>
      </p:sp>
      <p:sp>
        <p:nvSpPr>
          <p:cNvPr id="11" name="Shape 8"/>
          <p:cNvSpPr/>
          <p:nvPr/>
        </p:nvSpPr>
        <p:spPr>
          <a:xfrm>
            <a:off x="4617720" y="3218688"/>
            <a:ext cx="4251960" cy="713232"/>
          </a:xfrm>
          <a:prstGeom prst="rect">
            <a:avLst/>
          </a:prstGeom>
          <a:solidFill>
            <a:srgbClr val="E8F5E9"/>
          </a:solidFill>
          <a:ln w="12700">
            <a:solidFill>
              <a:srgbClr val="1E7D34"/>
            </a:solidFill>
            <a:prstDash val="solid"/>
          </a:ln>
        </p:spPr>
      </p:sp>
      <p:sp>
        <p:nvSpPr>
          <p:cNvPr id="12" name="Text 9"/>
          <p:cNvSpPr/>
          <p:nvPr/>
        </p:nvSpPr>
        <p:spPr>
          <a:xfrm>
            <a:off x="4727448" y="3246120"/>
            <a:ext cx="4023360" cy="676656"/>
          </a:xfrm>
          <a:prstGeom prst="rect">
            <a:avLst/>
          </a:prstGeom>
          <a:noFill/>
          <a:ln/>
        </p:spPr>
        <p:txBody>
          <a:bodyPr wrap="square" rtlCol="0" anchor="ctr"/>
          <a:lstStyle/>
          <a:p>
            <a:pPr indent="0" marL="0">
              <a:buNone/>
            </a:pPr>
            <a:r>
              <a:rPr lang="en-US" sz="1050" b="1" dirty="0">
                <a:solidFill>
                  <a:srgbClr val="1E7D34"/>
                </a:solidFill>
                <a:latin typeface="Calibri" pitchFamily="34" charset="0"/>
                <a:ea typeface="Calibri" pitchFamily="34" charset="-122"/>
                <a:cs typeface="Calibri" pitchFamily="34" charset="-120"/>
              </a:rPr>
              <a:t>Youth Clinic: +19.4% organic
</a:t>
            </a:r>
            <a:pPr indent="0" marL="0">
              <a:buNone/>
            </a:pPr>
            <a:r>
              <a:rPr lang="en-US" sz="950" dirty="0">
                <a:solidFill>
                  <a:srgbClr val="1E7D34"/>
                </a:solidFill>
                <a:latin typeface="Calibri" pitchFamily="34" charset="0"/>
                <a:ea typeface="Calibri" pitchFamily="34" charset="-122"/>
                <a:cs typeface="Calibri" pitchFamily="34" charset="-120"/>
              </a:rPr>
              <a:t>Organic delta +5.6 (+19.4%) -- no calendar help required.</a:t>
            </a:r>
            <a:endParaRPr lang="en-US" sz="950" dirty="0"/>
          </a:p>
        </p:txBody>
      </p:sp>
      <p:sp>
        <p:nvSpPr>
          <p:cNvPr id="13" name="Text 10"/>
          <p:cNvSpPr/>
          <p:nvPr/>
        </p:nvSpPr>
        <p:spPr>
          <a:xfrm>
            <a:off x="274320" y="4041648"/>
            <a:ext cx="8595360" cy="237744"/>
          </a:xfrm>
          <a:prstGeom prst="rect">
            <a:avLst/>
          </a:prstGeom>
          <a:noFill/>
          <a:ln/>
        </p:spPr>
        <p:txBody>
          <a:bodyPr wrap="square" rtlCol="0" anchor="ctr"/>
          <a:lstStyle/>
          <a:p>
            <a:pPr indent="0" marL="0">
              <a:buNone/>
            </a:pPr>
            <a:r>
              <a:rPr lang="en-US" sz="1050" b="1" dirty="0">
                <a:solidFill>
                  <a:srgbClr val="222222"/>
                </a:solidFill>
                <a:latin typeface="Calibri" pitchFamily="34" charset="0"/>
                <a:ea typeface="Calibri" pitchFamily="34" charset="-122"/>
                <a:cs typeface="Calibri" pitchFamily="34" charset="-120"/>
              </a:rPr>
              <a:t>Best &amp; worst organic months (calendar-adjusted):</a:t>
            </a:r>
            <a:endParaRPr lang="en-US" sz="105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274320" y="4315968"/>
          <a:ext cx="8595360" cy="603504"/>
        </p:xfrm>
        <a:graphic>
          <a:graphicData uri="http://schemas.openxmlformats.org/drawingml/2006/table">
            <a:tbl>
              <a:tblPr/>
              <a:tblGrid>
                <a:gridCol w="1719072"/>
                <a:gridCol w="1719072"/>
                <a:gridCol w="1719072"/>
                <a:gridCol w="1719072"/>
                <a:gridCol w="1719072"/>
              </a:tblGrid>
              <a:tr h="283464">
                <a:tc>
                  <a:txBody>
                    <a:bodyPr/>
                    <a:lstStyle/>
                    <a:p>
                      <a:pPr algn="ctr" indent="0" marL="0">
                        <a:buNone/>
                      </a:pPr>
                      <a:r>
                        <a:rPr lang="en-US" sz="1000" b="1" dirty="0">
                          <a:solidFill>
                            <a:srgbClr val="FFFFFF"/>
                          </a:solidFill>
                        </a:rPr>
                        <a:t>Strongest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Jun +33.2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Mar +13.4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Jan +5.8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Apr +5.0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r>
              <a:tr h="283464">
                <a:tc>
                  <a:txBody>
                    <a:bodyPr/>
                    <a:lstStyle/>
                    <a:p>
                      <a:pPr algn="ctr" indent="0" marL="0">
                        <a:buNone/>
                      </a:pPr>
                      <a:r>
                        <a:rPr lang="en-US" sz="1000" b="1" dirty="0">
                          <a:solidFill>
                            <a:srgbClr val="FFFFFF"/>
                          </a:solidFill>
                        </a:rPr>
                        <a:t>Weakest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Aug -19.0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Jul -16.0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May -11.8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Feb -9.0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r>
            </a:tbl>
          </a:graphicData>
        </a:graphic>
      </p:graphicFrame>
      <p:sp>
        <p:nvSpPr>
          <p:cNvPr id="15" name="Shape 11"/>
          <p:cNvSpPr/>
          <p:nvPr/>
        </p:nvSpPr>
        <p:spPr>
          <a:xfrm>
            <a:off x="274320" y="4974336"/>
            <a:ext cx="8595360" cy="128016"/>
          </a:xfrm>
          <a:prstGeom prst="rect">
            <a:avLst/>
          </a:prstGeom>
          <a:solidFill>
            <a:srgbClr val="ECEFF1"/>
          </a:solidFill>
          <a:ln w="12700">
            <a:solidFill>
              <a:srgbClr val="CCCCCC"/>
            </a:solidFill>
            <a:prstDash val="solid"/>
          </a:ln>
        </p:spPr>
      </p:sp>
      <p:sp>
        <p:nvSpPr>
          <p:cNvPr id="16" name="Text 12"/>
          <p:cNvSpPr/>
          <p:nvPr/>
        </p:nvSpPr>
        <p:spPr>
          <a:xfrm>
            <a:off x="384048" y="4983480"/>
            <a:ext cx="8321040" cy="109728"/>
          </a:xfrm>
          <a:prstGeom prst="rect">
            <a:avLst/>
          </a:prstGeom>
          <a:noFill/>
          <a:ln/>
        </p:spPr>
        <p:txBody>
          <a:bodyPr wrap="square" rtlCol="0" anchor="ctr"/>
          <a:lstStyle/>
          <a:p>
            <a:pPr indent="0" marL="0">
              <a:buNone/>
            </a:pPr>
            <a:r>
              <a:rPr lang="en-US" sz="850" dirty="0">
                <a:solidFill>
                  <a:srgbClr val="222222"/>
                </a:solidFill>
                <a:latin typeface="Calibri" pitchFamily="34" charset="0"/>
                <a:ea typeface="Calibri" pitchFamily="34" charset="-122"/>
                <a:cs typeface="Calibri" pitchFamily="34" charset="-120"/>
              </a:rPr>
              <a:t>Organic performance (stripped of calendar noise) reveals Adult Clinic's true weakness: -10.96 events organically (-11.3%), indicating structural challenges beyond scheduling. Youth Clinic shows strongest organic health at +5.62 events (+19.4%), signaling genuine programming expansion. Adult Race organic lift of +1.42 events (+0.17%) and Youth Race organic decline of -2.78 events (-1.2%) suggest Adult Race attracting replacement volume while Youth Race loses organic traction.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7474F"/>
          </a:solidFill>
          <a:ln w="12700">
            <a:solidFill>
              <a:srgbClr val="37474F"/>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4  --  Did We Really Lose Events?  Event-Level Disposition</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6 / 8</a:t>
            </a:r>
            <a:endParaRPr lang="en-US" sz="900" dirty="0"/>
          </a:p>
        </p:txBody>
      </p:sp>
      <p:sp>
        <p:nvSpPr>
          <p:cNvPr id="5" name="Shape 3"/>
          <p:cNvSpPr/>
          <p:nvPr/>
        </p:nvSpPr>
        <p:spPr>
          <a:xfrm>
            <a:off x="274320" y="694944"/>
            <a:ext cx="2029968" cy="1152144"/>
          </a:xfrm>
          <a:prstGeom prst="rect">
            <a:avLst/>
          </a:prstGeom>
          <a:solidFill>
            <a:srgbClr val="E8F5E9"/>
          </a:solidFill>
          <a:ln w="12700">
            <a:solidFill>
              <a:srgbClr val="1E7D34"/>
            </a:solidFill>
            <a:prstDash val="solid"/>
          </a:ln>
        </p:spPr>
      </p:sp>
      <p:sp>
        <p:nvSpPr>
          <p:cNvPr id="6" name="Text 4"/>
          <p:cNvSpPr/>
          <p:nvPr/>
        </p:nvSpPr>
        <p:spPr>
          <a:xfrm>
            <a:off x="274320" y="722376"/>
            <a:ext cx="2029968" cy="475488"/>
          </a:xfrm>
          <a:prstGeom prst="rect">
            <a:avLst/>
          </a:prstGeom>
          <a:noFill/>
          <a:ln/>
        </p:spPr>
        <p:txBody>
          <a:bodyPr wrap="square" rtlCol="0" anchor="ctr"/>
          <a:lstStyle/>
          <a:p>
            <a:pPr algn="ctr" indent="0" marL="0">
              <a:buNone/>
            </a:pPr>
            <a:r>
              <a:rPr lang="en-US" sz="2700" b="1" dirty="0">
                <a:solidFill>
                  <a:srgbClr val="1E7D34"/>
                </a:solidFill>
                <a:latin typeface="Calibri" pitchFamily="34" charset="0"/>
                <a:ea typeface="Calibri" pitchFamily="34" charset="-122"/>
                <a:cs typeface="Calibri" pitchFamily="34" charset="-120"/>
              </a:rPr>
              <a:t>746</a:t>
            </a:r>
            <a:endParaRPr lang="en-US" sz="2700" dirty="0"/>
          </a:p>
        </p:txBody>
      </p:sp>
      <p:sp>
        <p:nvSpPr>
          <p:cNvPr id="7" name="Text 5"/>
          <p:cNvSpPr/>
          <p:nvPr/>
        </p:nvSpPr>
        <p:spPr>
          <a:xfrm>
            <a:off x="274320" y="1161288"/>
            <a:ext cx="2029968" cy="201168"/>
          </a:xfrm>
          <a:prstGeom prst="rect">
            <a:avLst/>
          </a:prstGeom>
          <a:noFill/>
          <a:ln/>
        </p:spPr>
        <p:txBody>
          <a:bodyPr wrap="square" rtlCol="0" anchor="ctr"/>
          <a:lstStyle/>
          <a:p>
            <a:pPr algn="ctr" indent="0" marL="0">
              <a:buNone/>
            </a:pPr>
            <a:r>
              <a:rPr lang="en-US" sz="900" i="1" dirty="0">
                <a:solidFill>
                  <a:srgbClr val="1E7D34"/>
                </a:solidFill>
                <a:latin typeface="Calibri" pitchFamily="34" charset="0"/>
                <a:ea typeface="Calibri" pitchFamily="34" charset="-122"/>
                <a:cs typeface="Calibri" pitchFamily="34" charset="-120"/>
              </a:rPr>
              <a:t>63% of 2025</a:t>
            </a:r>
            <a:endParaRPr lang="en-US" sz="900" dirty="0"/>
          </a:p>
        </p:txBody>
      </p:sp>
      <p:sp>
        <p:nvSpPr>
          <p:cNvPr id="8" name="Text 6"/>
          <p:cNvSpPr/>
          <p:nvPr/>
        </p:nvSpPr>
        <p:spPr>
          <a:xfrm>
            <a:off x="274320" y="1344168"/>
            <a:ext cx="2029968" cy="201168"/>
          </a:xfrm>
          <a:prstGeom prst="rect">
            <a:avLst/>
          </a:prstGeom>
          <a:noFill/>
          <a:ln/>
        </p:spPr>
        <p:txBody>
          <a:bodyPr wrap="square" rtlCol="0" anchor="ctr"/>
          <a:lstStyle/>
          <a:p>
            <a:pPr algn="ctr" indent="0" marL="0">
              <a:buNone/>
            </a:pPr>
            <a:r>
              <a:rPr lang="en-US" sz="1000" b="1" dirty="0">
                <a:solidFill>
                  <a:srgbClr val="1E7D34"/>
                </a:solidFill>
                <a:latin typeface="Calibri" pitchFamily="34" charset="0"/>
                <a:ea typeface="Calibri" pitchFamily="34" charset="-122"/>
                <a:cs typeface="Calibri" pitchFamily="34" charset="-120"/>
              </a:rPr>
              <a:t>Retained</a:t>
            </a:r>
            <a:endParaRPr lang="en-US" sz="1000" dirty="0"/>
          </a:p>
        </p:txBody>
      </p:sp>
      <p:sp>
        <p:nvSpPr>
          <p:cNvPr id="9" name="Text 7"/>
          <p:cNvSpPr/>
          <p:nvPr/>
        </p:nvSpPr>
        <p:spPr>
          <a:xfrm>
            <a:off x="274320" y="1527048"/>
            <a:ext cx="2029968" cy="256032"/>
          </a:xfrm>
          <a:prstGeom prst="rect">
            <a:avLst/>
          </a:prstGeom>
          <a:noFill/>
          <a:ln/>
        </p:spPr>
        <p:txBody>
          <a:bodyPr wrap="square" rtlCol="0" anchor="ctr"/>
          <a:lstStyle/>
          <a:p>
            <a:pPr algn="ctr" indent="0" marL="0">
              <a:buNone/>
            </a:pPr>
            <a:r>
              <a:rPr lang="en-US" sz="850" dirty="0">
                <a:solidFill>
                  <a:srgbClr val="555555"/>
                </a:solidFill>
                <a:latin typeface="Calibri" pitchFamily="34" charset="0"/>
                <a:ea typeface="Calibri" pitchFamily="34" charset="-122"/>
                <a:cs typeface="Calibri" pitchFamily="34" charset="-120"/>
              </a:rPr>
              <a:t>Same event, same month</a:t>
            </a:r>
            <a:endParaRPr lang="en-US" sz="850" dirty="0"/>
          </a:p>
        </p:txBody>
      </p:sp>
      <p:sp>
        <p:nvSpPr>
          <p:cNvPr id="10" name="Shape 8"/>
          <p:cNvSpPr/>
          <p:nvPr/>
        </p:nvSpPr>
        <p:spPr>
          <a:xfrm>
            <a:off x="2450592" y="694944"/>
            <a:ext cx="2029968" cy="1152144"/>
          </a:xfrm>
          <a:prstGeom prst="rect">
            <a:avLst/>
          </a:prstGeom>
          <a:solidFill>
            <a:srgbClr val="FFF8E1"/>
          </a:solidFill>
          <a:ln w="12700">
            <a:solidFill>
              <a:srgbClr val="E65100"/>
            </a:solidFill>
            <a:prstDash val="solid"/>
          </a:ln>
        </p:spPr>
      </p:sp>
      <p:sp>
        <p:nvSpPr>
          <p:cNvPr id="11" name="Text 9"/>
          <p:cNvSpPr/>
          <p:nvPr/>
        </p:nvSpPr>
        <p:spPr>
          <a:xfrm>
            <a:off x="2450592" y="722376"/>
            <a:ext cx="2029968" cy="475488"/>
          </a:xfrm>
          <a:prstGeom prst="rect">
            <a:avLst/>
          </a:prstGeom>
          <a:noFill/>
          <a:ln/>
        </p:spPr>
        <p:txBody>
          <a:bodyPr wrap="square" rtlCol="0" anchor="ctr"/>
          <a:lstStyle/>
          <a:p>
            <a:pPr algn="ctr" indent="0" marL="0">
              <a:buNone/>
            </a:pPr>
            <a:r>
              <a:rPr lang="en-US" sz="2700" b="1" dirty="0">
                <a:solidFill>
                  <a:srgbClr val="E65100"/>
                </a:solidFill>
                <a:latin typeface="Calibri" pitchFamily="34" charset="0"/>
                <a:ea typeface="Calibri" pitchFamily="34" charset="-122"/>
                <a:cs typeface="Calibri" pitchFamily="34" charset="-120"/>
              </a:rPr>
              <a:t>123</a:t>
            </a:r>
            <a:endParaRPr lang="en-US" sz="2700" dirty="0"/>
          </a:p>
        </p:txBody>
      </p:sp>
      <p:sp>
        <p:nvSpPr>
          <p:cNvPr id="12" name="Text 10"/>
          <p:cNvSpPr/>
          <p:nvPr/>
        </p:nvSpPr>
        <p:spPr>
          <a:xfrm>
            <a:off x="2450592" y="1161288"/>
            <a:ext cx="2029968" cy="201168"/>
          </a:xfrm>
          <a:prstGeom prst="rect">
            <a:avLst/>
          </a:prstGeom>
          <a:noFill/>
          <a:ln/>
        </p:spPr>
        <p:txBody>
          <a:bodyPr wrap="square" rtlCol="0" anchor="ctr"/>
          <a:lstStyle/>
          <a:p>
            <a:pPr algn="ctr" indent="0" marL="0">
              <a:buNone/>
            </a:pPr>
            <a:r>
              <a:rPr lang="en-US" sz="900" i="1" dirty="0">
                <a:solidFill>
                  <a:srgbClr val="E65100"/>
                </a:solidFill>
                <a:latin typeface="Calibri" pitchFamily="34" charset="0"/>
                <a:ea typeface="Calibri" pitchFamily="34" charset="-122"/>
                <a:cs typeface="Calibri" pitchFamily="34" charset="-120"/>
              </a:rPr>
              <a:t>10% of 2025</a:t>
            </a:r>
            <a:endParaRPr lang="en-US" sz="900" dirty="0"/>
          </a:p>
        </p:txBody>
      </p:sp>
      <p:sp>
        <p:nvSpPr>
          <p:cNvPr id="13" name="Text 11"/>
          <p:cNvSpPr/>
          <p:nvPr/>
        </p:nvSpPr>
        <p:spPr>
          <a:xfrm>
            <a:off x="2450592" y="1344168"/>
            <a:ext cx="2029968" cy="201168"/>
          </a:xfrm>
          <a:prstGeom prst="rect">
            <a:avLst/>
          </a:prstGeom>
          <a:noFill/>
          <a:ln/>
        </p:spPr>
        <p:txBody>
          <a:bodyPr wrap="square" rtlCol="0" anchor="ctr"/>
          <a:lstStyle/>
          <a:p>
            <a:pPr algn="ctr" indent="0" marL="0">
              <a:buNone/>
            </a:pPr>
            <a:r>
              <a:rPr lang="en-US" sz="1000" b="1" dirty="0">
                <a:solidFill>
                  <a:srgbClr val="E65100"/>
                </a:solidFill>
                <a:latin typeface="Calibri" pitchFamily="34" charset="0"/>
                <a:ea typeface="Calibri" pitchFamily="34" charset="-122"/>
                <a:cs typeface="Calibri" pitchFamily="34" charset="-120"/>
              </a:rPr>
              <a:t>Shifted</a:t>
            </a:r>
            <a:endParaRPr lang="en-US" sz="1000" dirty="0"/>
          </a:p>
        </p:txBody>
      </p:sp>
      <p:sp>
        <p:nvSpPr>
          <p:cNvPr id="14" name="Text 12"/>
          <p:cNvSpPr/>
          <p:nvPr/>
        </p:nvSpPr>
        <p:spPr>
          <a:xfrm>
            <a:off x="2450592" y="1527048"/>
            <a:ext cx="2029968" cy="256032"/>
          </a:xfrm>
          <a:prstGeom prst="rect">
            <a:avLst/>
          </a:prstGeom>
          <a:noFill/>
          <a:ln/>
        </p:spPr>
        <p:txBody>
          <a:bodyPr wrap="square" rtlCol="0" anchor="ctr"/>
          <a:lstStyle/>
          <a:p>
            <a:pPr algn="ctr" indent="0" marL="0">
              <a:buNone/>
            </a:pPr>
            <a:r>
              <a:rPr lang="en-US" sz="850" dirty="0">
                <a:solidFill>
                  <a:srgbClr val="555555"/>
                </a:solidFill>
                <a:latin typeface="Calibri" pitchFamily="34" charset="0"/>
                <a:ea typeface="Calibri" pitchFamily="34" charset="-122"/>
                <a:cs typeface="Calibri" pitchFamily="34" charset="-120"/>
              </a:rPr>
              <a:t>Same event, diff month</a:t>
            </a:r>
            <a:endParaRPr lang="en-US" sz="850" dirty="0"/>
          </a:p>
        </p:txBody>
      </p:sp>
      <p:sp>
        <p:nvSpPr>
          <p:cNvPr id="15" name="Shape 13"/>
          <p:cNvSpPr/>
          <p:nvPr/>
        </p:nvSpPr>
        <p:spPr>
          <a:xfrm>
            <a:off x="4626864" y="694944"/>
            <a:ext cx="2029968" cy="1152144"/>
          </a:xfrm>
          <a:prstGeom prst="rect">
            <a:avLst/>
          </a:prstGeom>
          <a:solidFill>
            <a:srgbClr val="FFCDD2"/>
          </a:solidFill>
          <a:ln w="12700">
            <a:solidFill>
              <a:srgbClr val="C62828"/>
            </a:solidFill>
            <a:prstDash val="solid"/>
          </a:ln>
        </p:spPr>
      </p:sp>
      <p:sp>
        <p:nvSpPr>
          <p:cNvPr id="16" name="Text 14"/>
          <p:cNvSpPr/>
          <p:nvPr/>
        </p:nvSpPr>
        <p:spPr>
          <a:xfrm>
            <a:off x="4626864" y="722376"/>
            <a:ext cx="2029968" cy="475488"/>
          </a:xfrm>
          <a:prstGeom prst="rect">
            <a:avLst/>
          </a:prstGeom>
          <a:noFill/>
          <a:ln/>
        </p:spPr>
        <p:txBody>
          <a:bodyPr wrap="square" rtlCol="0" anchor="ctr"/>
          <a:lstStyle/>
          <a:p>
            <a:pPr algn="ctr" indent="0" marL="0">
              <a:buNone/>
            </a:pPr>
            <a:r>
              <a:rPr lang="en-US" sz="2700" b="1" dirty="0">
                <a:solidFill>
                  <a:srgbClr val="C62828"/>
                </a:solidFill>
                <a:latin typeface="Calibri" pitchFamily="34" charset="0"/>
                <a:ea typeface="Calibri" pitchFamily="34" charset="-122"/>
                <a:cs typeface="Calibri" pitchFamily="34" charset="-120"/>
              </a:rPr>
              <a:t>296</a:t>
            </a:r>
            <a:endParaRPr lang="en-US" sz="2700" dirty="0"/>
          </a:p>
        </p:txBody>
      </p:sp>
      <p:sp>
        <p:nvSpPr>
          <p:cNvPr id="17" name="Text 15"/>
          <p:cNvSpPr/>
          <p:nvPr/>
        </p:nvSpPr>
        <p:spPr>
          <a:xfrm>
            <a:off x="4626864" y="1161288"/>
            <a:ext cx="2029968" cy="201168"/>
          </a:xfrm>
          <a:prstGeom prst="rect">
            <a:avLst/>
          </a:prstGeom>
          <a:noFill/>
          <a:ln/>
        </p:spPr>
        <p:txBody>
          <a:bodyPr wrap="square" rtlCol="0" anchor="ctr"/>
          <a:lstStyle/>
          <a:p>
            <a:pPr algn="ctr" indent="0" marL="0">
              <a:buNone/>
            </a:pPr>
            <a:r>
              <a:rPr lang="en-US" sz="900" i="1" dirty="0">
                <a:solidFill>
                  <a:srgbClr val="C62828"/>
                </a:solidFill>
                <a:latin typeface="Calibri" pitchFamily="34" charset="0"/>
                <a:ea typeface="Calibri" pitchFamily="34" charset="-122"/>
                <a:cs typeface="Calibri" pitchFamily="34" charset="-120"/>
              </a:rPr>
              <a:t>25% of 2025</a:t>
            </a:r>
            <a:endParaRPr lang="en-US" sz="900" dirty="0"/>
          </a:p>
        </p:txBody>
      </p:sp>
      <p:sp>
        <p:nvSpPr>
          <p:cNvPr id="18" name="Text 16"/>
          <p:cNvSpPr/>
          <p:nvPr/>
        </p:nvSpPr>
        <p:spPr>
          <a:xfrm>
            <a:off x="4626864" y="1344168"/>
            <a:ext cx="2029968" cy="201168"/>
          </a:xfrm>
          <a:prstGeom prst="rect">
            <a:avLst/>
          </a:prstGeom>
          <a:noFill/>
          <a:ln/>
        </p:spPr>
        <p:txBody>
          <a:bodyPr wrap="square" rtlCol="0" anchor="ctr"/>
          <a:lstStyle/>
          <a:p>
            <a:pPr algn="ctr" indent="0" marL="0">
              <a:buNone/>
            </a:pPr>
            <a:r>
              <a:rPr lang="en-US" sz="1000" b="1" dirty="0">
                <a:solidFill>
                  <a:srgbClr val="C62828"/>
                </a:solidFill>
                <a:latin typeface="Calibri" pitchFamily="34" charset="0"/>
                <a:ea typeface="Calibri" pitchFamily="34" charset="-122"/>
                <a:cs typeface="Calibri" pitchFamily="34" charset="-120"/>
              </a:rPr>
              <a:t>Lost</a:t>
            </a:r>
            <a:endParaRPr lang="en-US" sz="1000" dirty="0"/>
          </a:p>
        </p:txBody>
      </p:sp>
      <p:sp>
        <p:nvSpPr>
          <p:cNvPr id="19" name="Text 17"/>
          <p:cNvSpPr/>
          <p:nvPr/>
        </p:nvSpPr>
        <p:spPr>
          <a:xfrm>
            <a:off x="4626864" y="1527048"/>
            <a:ext cx="2029968" cy="256032"/>
          </a:xfrm>
          <a:prstGeom prst="rect">
            <a:avLst/>
          </a:prstGeom>
          <a:noFill/>
          <a:ln/>
        </p:spPr>
        <p:txBody>
          <a:bodyPr wrap="square" rtlCol="0" anchor="ctr"/>
          <a:lstStyle/>
          <a:p>
            <a:pPr algn="ctr" indent="0" marL="0">
              <a:buNone/>
            </a:pPr>
            <a:r>
              <a:rPr lang="en-US" sz="850" dirty="0">
                <a:solidFill>
                  <a:srgbClr val="555555"/>
                </a:solidFill>
                <a:latin typeface="Calibri" pitchFamily="34" charset="0"/>
                <a:ea typeface="Calibri" pitchFamily="34" charset="-122"/>
                <a:cs typeface="Calibri" pitchFamily="34" charset="-120"/>
              </a:rPr>
              <a:t>Did not return to 2026</a:t>
            </a:r>
            <a:endParaRPr lang="en-US" sz="850" dirty="0"/>
          </a:p>
        </p:txBody>
      </p:sp>
      <p:sp>
        <p:nvSpPr>
          <p:cNvPr id="20" name="Shape 18"/>
          <p:cNvSpPr/>
          <p:nvPr/>
        </p:nvSpPr>
        <p:spPr>
          <a:xfrm>
            <a:off x="6803136" y="694944"/>
            <a:ext cx="2029968" cy="1152144"/>
          </a:xfrm>
          <a:prstGeom prst="rect">
            <a:avLst/>
          </a:prstGeom>
          <a:solidFill>
            <a:srgbClr val="E3F2FD"/>
          </a:solidFill>
          <a:ln w="12700">
            <a:solidFill>
              <a:srgbClr val="1565C0"/>
            </a:solidFill>
            <a:prstDash val="solid"/>
          </a:ln>
        </p:spPr>
      </p:sp>
      <p:sp>
        <p:nvSpPr>
          <p:cNvPr id="21" name="Text 19"/>
          <p:cNvSpPr/>
          <p:nvPr/>
        </p:nvSpPr>
        <p:spPr>
          <a:xfrm>
            <a:off x="6803136" y="722376"/>
            <a:ext cx="2029968" cy="475488"/>
          </a:xfrm>
          <a:prstGeom prst="rect">
            <a:avLst/>
          </a:prstGeom>
          <a:noFill/>
          <a:ln/>
        </p:spPr>
        <p:txBody>
          <a:bodyPr wrap="square" rtlCol="0" anchor="ctr"/>
          <a:lstStyle/>
          <a:p>
            <a:pPr algn="ctr" indent="0" marL="0">
              <a:buNone/>
            </a:pPr>
            <a:r>
              <a:rPr lang="en-US" sz="2700" b="1" dirty="0">
                <a:solidFill>
                  <a:srgbClr val="1565C0"/>
                </a:solidFill>
                <a:latin typeface="Calibri" pitchFamily="34" charset="0"/>
                <a:ea typeface="Calibri" pitchFamily="34" charset="-122"/>
                <a:cs typeface="Calibri" pitchFamily="34" charset="-120"/>
              </a:rPr>
              <a:t>265</a:t>
            </a:r>
            <a:endParaRPr lang="en-US" sz="2700" dirty="0"/>
          </a:p>
        </p:txBody>
      </p:sp>
      <p:sp>
        <p:nvSpPr>
          <p:cNvPr id="22" name="Text 20"/>
          <p:cNvSpPr/>
          <p:nvPr/>
        </p:nvSpPr>
        <p:spPr>
          <a:xfrm>
            <a:off x="6803136" y="1161288"/>
            <a:ext cx="2029968" cy="201168"/>
          </a:xfrm>
          <a:prstGeom prst="rect">
            <a:avLst/>
          </a:prstGeom>
          <a:noFill/>
          <a:ln/>
        </p:spPr>
        <p:txBody>
          <a:bodyPr wrap="square" rtlCol="0" anchor="ctr"/>
          <a:lstStyle/>
          <a:p>
            <a:pPr algn="ctr" indent="0" marL="0">
              <a:buNone/>
            </a:pPr>
            <a:r>
              <a:rPr lang="en-US" sz="900" i="1" dirty="0">
                <a:solidFill>
                  <a:srgbClr val="1565C0"/>
                </a:solidFill>
                <a:latin typeface="Calibri" pitchFamily="34" charset="0"/>
                <a:ea typeface="Calibri" pitchFamily="34" charset="-122"/>
                <a:cs typeface="Calibri" pitchFamily="34" charset="-120"/>
              </a:rPr>
              <a:t>22% of 2025</a:t>
            </a:r>
            <a:endParaRPr lang="en-US" sz="900" dirty="0"/>
          </a:p>
        </p:txBody>
      </p:sp>
      <p:sp>
        <p:nvSpPr>
          <p:cNvPr id="23" name="Text 21"/>
          <p:cNvSpPr/>
          <p:nvPr/>
        </p:nvSpPr>
        <p:spPr>
          <a:xfrm>
            <a:off x="6803136" y="1344168"/>
            <a:ext cx="2029968" cy="201168"/>
          </a:xfrm>
          <a:prstGeom prst="rect">
            <a:avLst/>
          </a:prstGeom>
          <a:noFill/>
          <a:ln/>
        </p:spPr>
        <p:txBody>
          <a:bodyPr wrap="square" rtlCol="0" anchor="ctr"/>
          <a:lstStyle/>
          <a:p>
            <a:pPr algn="ctr" indent="0" marL="0">
              <a:buNone/>
            </a:pPr>
            <a:r>
              <a:rPr lang="en-US" sz="1000" b="1" dirty="0">
                <a:solidFill>
                  <a:srgbClr val="1565C0"/>
                </a:solidFill>
                <a:latin typeface="Calibri" pitchFamily="34" charset="0"/>
                <a:ea typeface="Calibri" pitchFamily="34" charset="-122"/>
                <a:cs typeface="Calibri" pitchFamily="34" charset="-120"/>
              </a:rPr>
              <a:t>New</a:t>
            </a:r>
            <a:endParaRPr lang="en-US" sz="1000" dirty="0"/>
          </a:p>
        </p:txBody>
      </p:sp>
      <p:sp>
        <p:nvSpPr>
          <p:cNvPr id="24" name="Text 22"/>
          <p:cNvSpPr/>
          <p:nvPr/>
        </p:nvSpPr>
        <p:spPr>
          <a:xfrm>
            <a:off x="6803136" y="1527048"/>
            <a:ext cx="2029968" cy="256032"/>
          </a:xfrm>
          <a:prstGeom prst="rect">
            <a:avLst/>
          </a:prstGeom>
          <a:noFill/>
          <a:ln/>
        </p:spPr>
        <p:txBody>
          <a:bodyPr wrap="square" rtlCol="0" anchor="ctr"/>
          <a:lstStyle/>
          <a:p>
            <a:pPr algn="ctr" indent="0" marL="0">
              <a:buNone/>
            </a:pPr>
            <a:r>
              <a:rPr lang="en-US" sz="850" dirty="0">
                <a:solidFill>
                  <a:srgbClr val="555555"/>
                </a:solidFill>
                <a:latin typeface="Calibri" pitchFamily="34" charset="0"/>
                <a:ea typeface="Calibri" pitchFamily="34" charset="-122"/>
                <a:cs typeface="Calibri" pitchFamily="34" charset="-120"/>
              </a:rPr>
              <a:t>Brand new to 2026</a:t>
            </a:r>
            <a:endParaRPr lang="en-US" sz="850" dirty="0"/>
          </a:p>
        </p:txBody>
      </p:sp>
      <p:sp>
        <p:nvSpPr>
          <p:cNvPr id="25" name="Text 23"/>
          <p:cNvSpPr/>
          <p:nvPr/>
        </p:nvSpPr>
        <p:spPr>
          <a:xfrm>
            <a:off x="274320" y="1920240"/>
            <a:ext cx="8595360" cy="237744"/>
          </a:xfrm>
          <a:prstGeom prst="rect">
            <a:avLst/>
          </a:prstGeom>
          <a:noFill/>
          <a:ln/>
        </p:spPr>
        <p:txBody>
          <a:bodyPr wrap="square" rtlCol="0" anchor="ctr"/>
          <a:lstStyle/>
          <a:p>
            <a:pPr indent="0" marL="0">
              <a:buNone/>
            </a:pPr>
            <a:r>
              <a:rPr lang="en-US" sz="1050" b="1" dirty="0">
                <a:solidFill>
                  <a:srgbClr val="222222"/>
                </a:solidFill>
                <a:latin typeface="Calibri" pitchFamily="34" charset="0"/>
                <a:ea typeface="Calibri" pitchFamily="34" charset="-122"/>
                <a:cs typeface="Calibri" pitchFamily="34" charset="-120"/>
              </a:rPr>
              <a:t>Replacement Rates -- selected months:</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74320" y="2194560"/>
          <a:ext cx="8595360" cy="1261872"/>
        </p:xfrm>
        <a:graphic>
          <a:graphicData uri="http://schemas.openxmlformats.org/drawingml/2006/table">
            <a:tbl>
              <a:tblPr/>
              <a:tblGrid>
                <a:gridCol w="955040"/>
                <a:gridCol w="955040"/>
                <a:gridCol w="955040"/>
                <a:gridCol w="955040"/>
                <a:gridCol w="955040"/>
                <a:gridCol w="955040"/>
                <a:gridCol w="955040"/>
                <a:gridCol w="955040"/>
                <a:gridCol w="955040"/>
              </a:tblGrid>
              <a:tr h="347472">
                <a:tc>
                  <a:txBody>
                    <a:bodyPr/>
                    <a:lstStyle/>
                    <a:p>
                      <a:pPr algn="ctr" indent="0" marL="0">
                        <a:buNone/>
                      </a:pPr>
                      <a:r>
                        <a:rPr lang="en-US" sz="1000" b="1" dirty="0">
                          <a:solidFill>
                            <a:srgbClr val="FFFFFF"/>
                          </a:solidFill>
                        </a:rPr>
                        <a:t>Month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2025</a:t>
                      </a:r>
                      <a:endParaRPr lang="en-US" sz="1000" dirty="0"/>
                    </a:p>
                    <a:p>
                      <a:pPr algn="ctr" indent="0" marL="0">
                        <a:buNone/>
                      </a:pPr>
                      <a:r>
                        <a:rPr lang="en-US" sz="1000" b="1" dirty="0">
                          <a:solidFill>
                            <a:srgbClr val="FFFFFF"/>
                          </a:solidFill>
                        </a:rPr>
                        <a:t>Events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Retained</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Shifted</a:t>
                      </a:r>
                      <a:endParaRPr lang="en-US" sz="1000" dirty="0"/>
                    </a:p>
                    <a:p>
                      <a:pPr algn="ctr" indent="0" marL="0">
                        <a:buNone/>
                      </a:pPr>
                      <a:r>
                        <a:rPr lang="en-US" sz="1000" b="1" dirty="0">
                          <a:solidFill>
                            <a:srgbClr val="FFFFFF"/>
                          </a:solidFill>
                        </a:rPr>
                        <a:t>Out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65100"/>
                    </a:solidFill>
                  </a:tcPr>
                </a:tc>
                <a:tc>
                  <a:txBody>
                    <a:bodyPr/>
                    <a:lstStyle/>
                    <a:p>
                      <a:pPr algn="ctr" indent="0" marL="0">
                        <a:buNone/>
                      </a:pPr>
                      <a:r>
                        <a:rPr lang="en-US" sz="1000" b="1" dirty="0">
                          <a:solidFill>
                            <a:srgbClr val="FFFFFF"/>
                          </a:solidFill>
                        </a:rPr>
                        <a:t>Lost</a:t>
                      </a:r>
                      <a:endParaRPr lang="en-US" sz="1000" dirty="0"/>
                    </a:p>
                    <a:p>
                      <a:pPr algn="ctr" indent="0" marL="0">
                        <a:buNone/>
                      </a:pPr>
                      <a:r>
                        <a:rPr lang="en-US" sz="1000" b="1" dirty="0">
                          <a:solidFill>
                            <a:srgbClr val="FFFFFF"/>
                          </a:solidFill>
                        </a:rPr>
                        <a:t>(truly lost)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Shifted</a:t>
                      </a:r>
                      <a:endParaRPr lang="en-US" sz="1000" dirty="0"/>
                    </a:p>
                    <a:p>
                      <a:pPr algn="ctr" indent="0" marL="0">
                        <a:buNone/>
                      </a:pPr>
                      <a:r>
                        <a:rPr lang="en-US" sz="1000" b="1" dirty="0">
                          <a:solidFill>
                            <a:srgbClr val="FFFFFF"/>
                          </a:solidFill>
                        </a:rPr>
                        <a:t>In</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5C0"/>
                    </a:solidFill>
                  </a:tcPr>
                </a:tc>
                <a:tc>
                  <a:txBody>
                    <a:bodyPr/>
                    <a:lstStyle/>
                    <a:p>
                      <a:pPr algn="ctr" indent="0" marL="0">
                        <a:buNone/>
                      </a:pPr>
                      <a:r>
                        <a:rPr lang="en-US" sz="1000" b="1" dirty="0">
                          <a:solidFill>
                            <a:srgbClr val="FFFFFF"/>
                          </a:solidFill>
                        </a:rPr>
                        <a:t>New</a:t>
                      </a:r>
                      <a:endParaRPr lang="en-US" sz="1000" dirty="0"/>
                    </a:p>
                    <a:p>
                      <a:pPr algn="ctr" indent="0" marL="0">
                        <a:buNone/>
                      </a:pPr>
                      <a:r>
                        <a:rPr lang="en-US" sz="1000" b="1" dirty="0">
                          <a:solidFill>
                            <a:srgbClr val="FFFFFF"/>
                          </a:solidFill>
                        </a:rPr>
                        <a:t>Added</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5C0"/>
                    </a:solidFill>
                  </a:tcPr>
                </a:tc>
                <a:tc>
                  <a:txBody>
                    <a:bodyPr/>
                    <a:lstStyle/>
                    <a:p>
                      <a:pPr algn="ctr" indent="0" marL="0">
                        <a:buNone/>
                      </a:pPr>
                      <a:r>
                        <a:rPr lang="en-US" sz="1000" b="1" dirty="0">
                          <a:solidFill>
                            <a:srgbClr val="FFFFFF"/>
                          </a:solidFill>
                        </a:rPr>
                        <a:t>2026</a:t>
                      </a:r>
                      <a:endParaRPr lang="en-US" sz="1000" dirty="0"/>
                    </a:p>
                    <a:p>
                      <a:pPr algn="ctr" indent="0" marL="0">
                        <a:buNone/>
                      </a:pPr>
                      <a:r>
                        <a:rPr lang="en-US" sz="1000" b="1" dirty="0">
                          <a:solidFill>
                            <a:srgbClr val="FFFFFF"/>
                          </a:solidFill>
                        </a:rPr>
                        <a:t>Total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Repl.</a:t>
                      </a:r>
                      <a:endParaRPr lang="en-US" sz="1000" dirty="0"/>
                    </a:p>
                    <a:p>
                      <a:pPr algn="ctr" indent="0" marL="0">
                        <a:buNone/>
                      </a:pPr>
                      <a:r>
                        <a:rPr lang="en-US" sz="1000" b="1" dirty="0">
                          <a:solidFill>
                            <a:srgbClr val="FFFFFF"/>
                          </a:solidFill>
                        </a:rPr>
                        <a:t>Rate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r h="347472">
                <a:tc>
                  <a:txBody>
                    <a:bodyPr/>
                    <a:lstStyle/>
                    <a:p>
                      <a:pPr algn="l" indent="0" marL="0">
                        <a:buNone/>
                      </a:pPr>
                      <a:r>
                        <a:rPr lang="en-US" sz="1000" b="1" dirty="0">
                          <a:solidFill>
                            <a:srgbClr val="C62828"/>
                          </a:solidFill>
                        </a:rPr>
                        <a:t>August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220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E7D34"/>
                          </a:solidFill>
                        </a:rPr>
                        <a:t>147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E65100"/>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00" b="1" dirty="0">
                          <a:solidFill>
                            <a:srgbClr val="C62828"/>
                          </a:solidFill>
                        </a:rPr>
                        <a:t>56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565C0"/>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1565C0"/>
                          </a:solidFill>
                        </a:rPr>
                        <a:t>37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222222"/>
                          </a:solidFill>
                        </a:rPr>
                        <a:t>201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70%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347472">
                <a:tc>
                  <a:txBody>
                    <a:bodyPr/>
                    <a:lstStyle/>
                    <a:p>
                      <a:pPr algn="l" indent="0" marL="0">
                        <a:buNone/>
                      </a:pPr>
                      <a:r>
                        <a:rPr lang="en-US" sz="1000" b="1" dirty="0">
                          <a:solidFill>
                            <a:srgbClr val="C62828"/>
                          </a:solidFill>
                        </a:rPr>
                        <a:t>July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181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E7D34"/>
                          </a:solidFill>
                        </a:rPr>
                        <a:t>115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E65100"/>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00" b="1" dirty="0">
                          <a:solidFill>
                            <a:srgbClr val="C62828"/>
                          </a:solidFill>
                        </a:rPr>
                        <a:t>49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565C0"/>
                          </a:solidFill>
                        </a:rPr>
                        <a:t>12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1565C0"/>
                          </a:solidFill>
                        </a:rPr>
                        <a:t>35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222222"/>
                          </a:solidFill>
                        </a:rPr>
                        <a:t>165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78%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347472">
                <a:tc>
                  <a:txBody>
                    <a:bodyPr/>
                    <a:lstStyle/>
                    <a:p>
                      <a:pPr algn="l" indent="0" marL="0">
                        <a:buNone/>
                      </a:pPr>
                      <a:r>
                        <a:rPr lang="en-US" sz="1000" b="1" dirty="0">
                          <a:solidFill>
                            <a:srgbClr val="1E7D34"/>
                          </a:solidFill>
                        </a:rPr>
                        <a:t>October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222222"/>
                          </a:solidFill>
                        </a:rPr>
                        <a:t>60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42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E65100"/>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00" b="1" dirty="0">
                          <a:solidFill>
                            <a:srgbClr val="C62828"/>
                          </a:solidFill>
                        </a:rPr>
                        <a:t>17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565C0"/>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1565C0"/>
                          </a:solidFill>
                        </a:rPr>
                        <a:t>14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222222"/>
                          </a:solidFill>
                        </a:rPr>
                        <a:t>71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&gt;100%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27" name="Shape 24"/>
          <p:cNvSpPr/>
          <p:nvPr/>
        </p:nvSpPr>
        <p:spPr>
          <a:xfrm>
            <a:off x="274320" y="3547872"/>
            <a:ext cx="4160520" cy="548640"/>
          </a:xfrm>
          <a:prstGeom prst="rect">
            <a:avLst/>
          </a:prstGeom>
          <a:solidFill>
            <a:srgbClr val="F3E5F5"/>
          </a:solidFill>
          <a:ln w="12700">
            <a:solidFill>
              <a:srgbClr val="6A1B9A"/>
            </a:solidFill>
            <a:prstDash val="solid"/>
          </a:ln>
        </p:spPr>
      </p:sp>
      <p:sp>
        <p:nvSpPr>
          <p:cNvPr id="28" name="Text 25"/>
          <p:cNvSpPr/>
          <p:nvPr/>
        </p:nvSpPr>
        <p:spPr>
          <a:xfrm>
            <a:off x="384048" y="3566160"/>
            <a:ext cx="3931920" cy="512064"/>
          </a:xfrm>
          <a:prstGeom prst="rect">
            <a:avLst/>
          </a:prstGeom>
          <a:noFill/>
          <a:ln/>
        </p:spPr>
        <p:txBody>
          <a:bodyPr wrap="square" rtlCol="0" anchor="ctr"/>
          <a:lstStyle/>
          <a:p>
            <a:pPr indent="0" marL="0">
              <a:buNone/>
            </a:pPr>
            <a:r>
              <a:rPr lang="en-US" sz="950" dirty="0">
                <a:solidFill>
                  <a:srgbClr val="6A1B9A"/>
                </a:solidFill>
                <a:latin typeface="Calibri" pitchFamily="34" charset="0"/>
                <a:ea typeface="Calibri" pitchFamily="34" charset="-122"/>
                <a:cs typeface="Calibri" pitchFamily="34" charset="-120"/>
              </a:rPr>
              <a:t>13 events Tried to Return -- filed a 2026 application but were cancelled/declined. 31 events Recovered -- cancelled in 2025 but came back in 2026.</a:t>
            </a:r>
            <a:endParaRPr lang="en-US" sz="950" dirty="0"/>
          </a:p>
        </p:txBody>
      </p:sp>
      <p:sp>
        <p:nvSpPr>
          <p:cNvPr id="29" name="Shape 26"/>
          <p:cNvSpPr/>
          <p:nvPr/>
        </p:nvSpPr>
        <p:spPr>
          <a:xfrm>
            <a:off x="4617720" y="3547872"/>
            <a:ext cx="4251960" cy="548640"/>
          </a:xfrm>
          <a:prstGeom prst="rect">
            <a:avLst/>
          </a:prstGeom>
          <a:solidFill>
            <a:srgbClr val="ECEFF1"/>
          </a:solidFill>
          <a:ln w="12700">
            <a:solidFill>
              <a:srgbClr val="555555"/>
            </a:solidFill>
            <a:prstDash val="solid"/>
          </a:ln>
        </p:spPr>
      </p:sp>
      <p:sp>
        <p:nvSpPr>
          <p:cNvPr id="30" name="Text 27"/>
          <p:cNvSpPr/>
          <p:nvPr/>
        </p:nvSpPr>
        <p:spPr>
          <a:xfrm>
            <a:off x="4727448" y="3566160"/>
            <a:ext cx="4023360" cy="512064"/>
          </a:xfrm>
          <a:prstGeom prst="rect">
            <a:avLst/>
          </a:prstGeom>
          <a:noFill/>
          <a:ln/>
        </p:spPr>
        <p:txBody>
          <a:bodyPr wrap="square" rtlCol="0" anchor="ctr"/>
          <a:lstStyle/>
          <a:p>
            <a:pPr indent="0" marL="0">
              <a:buNone/>
            </a:pPr>
            <a:r>
              <a:rPr lang="en-US" sz="950" dirty="0">
                <a:solidFill>
                  <a:srgbClr val="222222"/>
                </a:solidFill>
                <a:latin typeface="Calibri" pitchFamily="34" charset="0"/>
                <a:ea typeface="Calibri" pitchFamily="34" charset="-122"/>
                <a:cs typeface="Calibri" pitchFamily="34" charset="-120"/>
              </a:rPr>
              <a:t>Overall replacement: 296 new/recovered vs 296 truly lost -- 100% gross replacement.</a:t>
            </a:r>
            <a:endParaRPr lang="en-US" sz="950" dirty="0"/>
          </a:p>
        </p:txBody>
      </p:sp>
      <p:sp>
        <p:nvSpPr>
          <p:cNvPr id="31" name="Shape 28"/>
          <p:cNvSpPr/>
          <p:nvPr/>
        </p:nvSpPr>
        <p:spPr>
          <a:xfrm>
            <a:off x="274320" y="4206240"/>
            <a:ext cx="8595360" cy="594360"/>
          </a:xfrm>
          <a:prstGeom prst="rect">
            <a:avLst/>
          </a:prstGeom>
          <a:solidFill>
            <a:srgbClr val="ECEFF1"/>
          </a:solidFill>
          <a:ln w="12700">
            <a:solidFill>
              <a:srgbClr val="CCCCCC"/>
            </a:solidFill>
            <a:prstDash val="solid"/>
          </a:ln>
        </p:spPr>
      </p:sp>
      <p:sp>
        <p:nvSpPr>
          <p:cNvPr id="32" name="Text 29"/>
          <p:cNvSpPr/>
          <p:nvPr/>
        </p:nvSpPr>
        <p:spPr>
          <a:xfrm>
            <a:off x="384048" y="4233672"/>
            <a:ext cx="8321040" cy="539496"/>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Of 1178 events from 2025, 746 retained into 2026 (63.3%), while 296 attrited (25.1%), and 123 shifted categories (10.4%). The pipeline delivered 265 new events and recovered 31 previously lost, achieving a 100% replacement rate on net attrition. However, 13 events attempted to return but failed, suggesting friction in win-back processes.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B5E20"/>
          </a:solidFill>
          <a:ln w="12700">
            <a:solidFill>
              <a:srgbClr val="1B5E20"/>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5  --  Application Pipeline -- Who Is Filing and When</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7 / 8</a:t>
            </a:r>
            <a:endParaRPr lang="en-US" sz="900" dirty="0"/>
          </a:p>
        </p:txBody>
      </p:sp>
      <p:sp>
        <p:nvSpPr>
          <p:cNvPr id="5" name="Text 3"/>
          <p:cNvSpPr/>
          <p:nvPr/>
        </p:nvSpPr>
        <p:spPr>
          <a:xfrm>
            <a:off x="274320" y="694944"/>
            <a:ext cx="8595360" cy="219456"/>
          </a:xfrm>
          <a:prstGeom prst="rect">
            <a:avLst/>
          </a:prstGeom>
          <a:noFill/>
          <a:ln/>
        </p:spPr>
        <p:txBody>
          <a:bodyPr wrap="square" rtlCol="0" anchor="ctr"/>
          <a:lstStyle/>
          <a:p>
            <a:pPr indent="0" marL="0">
              <a:buNone/>
            </a:pPr>
            <a:r>
              <a:rPr lang="en-US" sz="1050" dirty="0">
                <a:solidFill>
                  <a:srgbClr val="222222"/>
                </a:solidFill>
                <a:latin typeface="Calibri" pitchFamily="34" charset="0"/>
                <a:ea typeface="Calibri" pitchFamily="34" charset="-122"/>
                <a:cs typeface="Calibri" pitchFamily="34" charset="-120"/>
              </a:rPr>
              <a:t>Total applications: 1,271 for 2025 vs 1,188 for 2026. The story is in WHEN and WHICH type is filing:</a:t>
            </a:r>
            <a:endParaRPr lang="en-US" sz="10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74320" y="950976"/>
          <a:ext cx="8595360" cy="1591056"/>
        </p:xfrm>
        <a:graphic>
          <a:graphicData uri="http://schemas.openxmlformats.org/drawingml/2006/table">
            <a:tbl>
              <a:tblPr/>
              <a:tblGrid>
                <a:gridCol w="955040"/>
                <a:gridCol w="955040"/>
                <a:gridCol w="955040"/>
                <a:gridCol w="955040"/>
                <a:gridCol w="955040"/>
                <a:gridCol w="955040"/>
                <a:gridCol w="955040"/>
                <a:gridCol w="955040"/>
                <a:gridCol w="955040"/>
              </a:tblGrid>
              <a:tr h="256032">
                <a:tc>
                  <a:txBody>
                    <a:bodyPr/>
                    <a:lstStyle/>
                    <a:p>
                      <a:pPr algn="ctr" indent="0" marL="0">
                        <a:buNone/>
                      </a:pPr>
                      <a:r>
                        <a:rPr lang="en-US" sz="1000" b="1" dirty="0">
                          <a:solidFill>
                            <a:srgbClr val="FFFFFF"/>
                          </a:solidFill>
                        </a:rPr>
                        <a:t>Event Type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5E20"/>
                    </a:solidFill>
                  </a:tcPr>
                </a:tc>
                <a:tc>
                  <a:txBody>
                    <a:bodyPr/>
                    <a:lstStyle/>
                    <a:p>
                      <a:pPr algn="ctr" indent="0" marL="0">
                        <a:buNone/>
                      </a:pPr>
                      <a:r>
                        <a:rPr lang="en-US" sz="1000" b="1" dirty="0">
                          <a:solidFill>
                            <a:srgbClr val="FFFFFF"/>
                          </a:solidFill>
                        </a:rPr>
                        <a:t>Q4 2024</a:t>
                      </a:r>
                      <a:endParaRPr lang="en-US" sz="1000" dirty="0"/>
                    </a:p>
                    <a:p>
                      <a:pPr algn="ctr" indent="0" marL="0">
                        <a:buNone/>
                      </a:pPr>
                      <a:r>
                        <a:rPr lang="en-US" sz="1000" b="1" dirty="0">
                          <a:solidFill>
                            <a:srgbClr val="FFFFFF"/>
                          </a:solidFill>
                        </a:rPr>
                        <a:t>Pre-Filing</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5E20"/>
                    </a:solidFill>
                  </a:tcPr>
                </a:tc>
                <a:tc>
                  <a:txBody>
                    <a:bodyPr/>
                    <a:lstStyle/>
                    <a:p>
                      <a:pPr algn="ctr" indent="0" marL="0">
                        <a:buNone/>
                      </a:pPr>
                      <a:r>
                        <a:rPr lang="en-US" sz="1000" b="1" dirty="0">
                          <a:solidFill>
                            <a:srgbClr val="FFFFFF"/>
                          </a:solidFill>
                        </a:rPr>
                        <a:t>Jan-May</a:t>
                      </a:r>
                      <a:endParaRPr lang="en-US" sz="1000" dirty="0"/>
                    </a:p>
                    <a:p>
                      <a:pPr algn="ctr" indent="0" marL="0">
                        <a:buNone/>
                      </a:pPr>
                      <a:r>
                        <a:rPr lang="en-US" sz="1000" b="1" dirty="0">
                          <a:solidFill>
                            <a:srgbClr val="FFFFFF"/>
                          </a:solidFill>
                        </a:rPr>
                        <a:t>2025 In-Yr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5E20"/>
                    </a:solidFill>
                  </a:tcPr>
                </a:tc>
                <a:tc>
                  <a:txBody>
                    <a:bodyPr/>
                    <a:lstStyle/>
                    <a:p>
                      <a:pPr algn="ctr" indent="0" marL="0">
                        <a:buNone/>
                      </a:pPr>
                      <a:r>
                        <a:rPr lang="en-US" sz="1000" b="1" dirty="0">
                          <a:solidFill>
                            <a:srgbClr val="FFFFFF"/>
                          </a:solidFill>
                        </a:rPr>
                        <a:t>2025</a:t>
                      </a:r>
                      <a:endParaRPr lang="en-US" sz="1000" dirty="0"/>
                    </a:p>
                    <a:p>
                      <a:pPr algn="ctr" indent="0" marL="0">
                        <a:buNone/>
                      </a:pPr>
                      <a:r>
                        <a:rPr lang="en-US" sz="1000" b="1" dirty="0">
                          <a:solidFill>
                            <a:srgbClr val="FFFFFF"/>
                          </a:solidFill>
                        </a:rPr>
                        <a:t>Total Apps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5E20"/>
                    </a:solidFill>
                  </a:tcPr>
                </a:tc>
                <a:tc>
                  <a:txBody>
                    <a:bodyPr/>
                    <a:lstStyle/>
                    <a:p>
                      <a:pPr algn="ctr" indent="0" marL="0">
                        <a:buNone/>
                      </a:pPr>
                      <a:r>
                        <a:rPr lang="en-US" sz="1000" b="1" dirty="0">
                          <a:solidFill>
                            <a:srgbClr val="FFFFFF"/>
                          </a:solidFill>
                        </a:rPr>
                        <a:t>Q4 2025</a:t>
                      </a:r>
                      <a:endParaRPr lang="en-US" sz="1000" dirty="0"/>
                    </a:p>
                    <a:p>
                      <a:pPr algn="ctr" indent="0" marL="0">
                        <a:buNone/>
                      </a:pPr>
                      <a:r>
                        <a:rPr lang="en-US" sz="1000" b="1" dirty="0">
                          <a:solidFill>
                            <a:srgbClr val="FFFFFF"/>
                          </a:solidFill>
                        </a:rPr>
                        <a:t>Pre-Filing</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Jan-May</a:t>
                      </a:r>
                      <a:endParaRPr lang="en-US" sz="1000" dirty="0"/>
                    </a:p>
                    <a:p>
                      <a:pPr algn="ctr" indent="0" marL="0">
                        <a:buNone/>
                      </a:pPr>
                      <a:r>
                        <a:rPr lang="en-US" sz="1000" b="1" dirty="0">
                          <a:solidFill>
                            <a:srgbClr val="FFFFFF"/>
                          </a:solidFill>
                        </a:rPr>
                        <a:t>2026 In-Yr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2026</a:t>
                      </a:r>
                      <a:endParaRPr lang="en-US" sz="1000" dirty="0"/>
                    </a:p>
                    <a:p>
                      <a:pPr algn="ctr" indent="0" marL="0">
                        <a:buNone/>
                      </a:pPr>
                      <a:r>
                        <a:rPr lang="en-US" sz="1000" b="1" dirty="0">
                          <a:solidFill>
                            <a:srgbClr val="FFFFFF"/>
                          </a:solidFill>
                        </a:rPr>
                        <a:t>Total Apps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Delta Q4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Delta</a:t>
                      </a:r>
                      <a:endParaRPr lang="en-US" sz="1000" dirty="0"/>
                    </a:p>
                    <a:p>
                      <a:pPr algn="ctr" indent="0" marL="0">
                        <a:buNone/>
                      </a:pPr>
                      <a:r>
                        <a:rPr lang="en-US" sz="1000" b="1" dirty="0">
                          <a:solidFill>
                            <a:srgbClr val="FFFFFF"/>
                          </a:solidFill>
                        </a:rPr>
                        <a:t>Jan-May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r h="256032">
                <a:tc>
                  <a:txBody>
                    <a:bodyPr/>
                    <a:lstStyle/>
                    <a:p>
                      <a:pPr algn="l" indent="0" marL="0">
                        <a:buNone/>
                      </a:pPr>
                      <a:r>
                        <a:rPr lang="en-US" sz="1000" dirty="0">
                          <a:solidFill>
                            <a:srgbClr val="222222"/>
                          </a:solidFill>
                        </a:rPr>
                        <a:t>Adult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453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155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222222"/>
                          </a:solidFill>
                        </a:rPr>
                        <a:t>876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415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186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222222"/>
                          </a:solidFill>
                        </a:rPr>
                        <a:t>837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C62828"/>
                          </a:solidFill>
                        </a:rPr>
                        <a:t>-38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1E7D34"/>
                          </a:solidFill>
                        </a:rPr>
                        <a:t>+31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56032">
                <a:tc>
                  <a:txBody>
                    <a:bodyPr/>
                    <a:lstStyle/>
                    <a:p>
                      <a:pPr algn="l" indent="0" marL="0">
                        <a:buNone/>
                      </a:pPr>
                      <a:r>
                        <a:rPr lang="en-US" sz="1000" dirty="0">
                          <a:solidFill>
                            <a:srgbClr val="222222"/>
                          </a:solidFill>
                        </a:rPr>
                        <a:t>Youth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107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88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22222"/>
                          </a:solidFill>
                        </a:rPr>
                        <a:t>246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102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94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22222"/>
                          </a:solidFill>
                        </a:rPr>
                        <a:t>229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C62828"/>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1E7D34"/>
                          </a:solidFill>
                        </a:rPr>
                        <a:t>+6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56032">
                <a:tc>
                  <a:txBody>
                    <a:bodyPr/>
                    <a:lstStyle/>
                    <a:p>
                      <a:pPr algn="l" indent="0" marL="0">
                        <a:buNone/>
                      </a:pPr>
                      <a:r>
                        <a:rPr lang="en-US" sz="1000" b="1" dirty="0">
                          <a:solidFill>
                            <a:srgbClr val="C62828"/>
                          </a:solidFill>
                        </a:rPr>
                        <a:t>Adult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25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73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222222"/>
                          </a:solidFill>
                        </a:rPr>
                        <a:t>112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24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55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222222"/>
                          </a:solidFill>
                        </a:rPr>
                        <a:t>87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C62828"/>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C62828"/>
                          </a:solidFill>
                        </a:rPr>
                        <a:t>-18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256032">
                <a:tc>
                  <a:txBody>
                    <a:bodyPr/>
                    <a:lstStyle/>
                    <a:p>
                      <a:pPr algn="l" indent="0" marL="0">
                        <a:buNone/>
                      </a:pPr>
                      <a:r>
                        <a:rPr lang="en-US" sz="1000" dirty="0">
                          <a:solidFill>
                            <a:srgbClr val="222222"/>
                          </a:solidFill>
                        </a:rPr>
                        <a:t>Youth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22222"/>
                          </a:solidFill>
                        </a:rPr>
                        <a:t>37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20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22222"/>
                          </a:solidFill>
                        </a:rPr>
                        <a:t>35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56032">
                <a:tc>
                  <a:txBody>
                    <a:bodyPr/>
                    <a:lstStyle/>
                    <a:p>
                      <a:pPr algn="ctr" indent="0" marL="0">
                        <a:buNone/>
                      </a:pPr>
                      <a:r>
                        <a:rPr lang="en-US" sz="1000" b="1" dirty="0">
                          <a:solidFill>
                            <a:srgbClr val="FFFFFF"/>
                          </a:solidFill>
                        </a:rPr>
                        <a:t>TOTAL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596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331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1,271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553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355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1,188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-43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+24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bl>
          </a:graphicData>
        </a:graphic>
      </p:graphicFrame>
      <p:sp>
        <p:nvSpPr>
          <p:cNvPr id="7" name="Text 4"/>
          <p:cNvSpPr/>
          <p:nvPr/>
        </p:nvSpPr>
        <p:spPr>
          <a:xfrm>
            <a:off x="274320" y="2633472"/>
            <a:ext cx="8595360" cy="237744"/>
          </a:xfrm>
          <a:prstGeom prst="rect">
            <a:avLst/>
          </a:prstGeom>
          <a:noFill/>
          <a:ln/>
        </p:spPr>
        <p:txBody>
          <a:bodyPr wrap="square" rtlCol="0" anchor="ctr"/>
          <a:lstStyle/>
          <a:p>
            <a:pPr indent="0" marL="0">
              <a:buNone/>
            </a:pPr>
            <a:r>
              <a:rPr lang="en-US" sz="1050" b="1" dirty="0">
                <a:solidFill>
                  <a:srgbClr val="222222"/>
                </a:solidFill>
                <a:latin typeface="Calibri" pitchFamily="34" charset="0"/>
                <a:ea typeface="Calibri" pitchFamily="34" charset="-122"/>
                <a:cs typeface="Calibri" pitchFamily="34" charset="-120"/>
              </a:rPr>
              <a:t>Highest-Probability Opportunities -- May through December 2026:</a:t>
            </a:r>
            <a:endParaRPr lang="en-US" sz="1050" dirty="0"/>
          </a:p>
        </p:txBody>
      </p:sp>
      <p:sp>
        <p:nvSpPr>
          <p:cNvPr id="8" name="Shape 5"/>
          <p:cNvSpPr/>
          <p:nvPr/>
        </p:nvSpPr>
        <p:spPr>
          <a:xfrm>
            <a:off x="274320" y="2907792"/>
            <a:ext cx="4160520" cy="914400"/>
          </a:xfrm>
          <a:prstGeom prst="rect">
            <a:avLst/>
          </a:prstGeom>
          <a:solidFill>
            <a:srgbClr val="FDECEA"/>
          </a:solidFill>
          <a:ln w="12700">
            <a:solidFill>
              <a:srgbClr val="C62828"/>
            </a:solidFill>
            <a:prstDash val="solid"/>
          </a:ln>
        </p:spPr>
      </p:sp>
      <p:sp>
        <p:nvSpPr>
          <p:cNvPr id="9" name="Text 6"/>
          <p:cNvSpPr/>
          <p:nvPr/>
        </p:nvSpPr>
        <p:spPr>
          <a:xfrm>
            <a:off x="384048" y="2944368"/>
            <a:ext cx="3931920" cy="841248"/>
          </a:xfrm>
          <a:prstGeom prst="rect">
            <a:avLst/>
          </a:prstGeom>
          <a:noFill/>
          <a:ln/>
        </p:spPr>
        <p:txBody>
          <a:bodyPr wrap="square"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Adult Clinic -- Highest ROI Opportunity
</a:t>
            </a:r>
            <a:pPr indent="0" marL="0">
              <a:buNone/>
            </a:pPr>
            <a:r>
              <a:rPr lang="en-US" sz="950" dirty="0">
                <a:solidFill>
                  <a:srgbClr val="C62828"/>
                </a:solidFill>
                <a:latin typeface="Calibri" pitchFamily="34" charset="0"/>
                <a:ea typeface="Calibri" pitchFamily="34" charset="-122"/>
                <a:cs typeface="Calibri" pitchFamily="34" charset="-120"/>
              </a:rPr>
              <a:t>Adult Clinic is the structural decliner (-11.0 organic). Proactive outreach in the spontaneous-filing window can close part of the gap.</a:t>
            </a:r>
            <a:endParaRPr lang="en-US" sz="950" dirty="0"/>
          </a:p>
        </p:txBody>
      </p:sp>
      <p:sp>
        <p:nvSpPr>
          <p:cNvPr id="10" name="Shape 7"/>
          <p:cNvSpPr/>
          <p:nvPr/>
        </p:nvSpPr>
        <p:spPr>
          <a:xfrm>
            <a:off x="4617720" y="2907792"/>
            <a:ext cx="4251960" cy="914400"/>
          </a:xfrm>
          <a:prstGeom prst="rect">
            <a:avLst/>
          </a:prstGeom>
          <a:solidFill>
            <a:srgbClr val="E8F5E9"/>
          </a:solidFill>
          <a:ln w="12700">
            <a:solidFill>
              <a:srgbClr val="1E7D34"/>
            </a:solidFill>
            <a:prstDash val="solid"/>
          </a:ln>
        </p:spPr>
      </p:sp>
      <p:sp>
        <p:nvSpPr>
          <p:cNvPr id="11" name="Text 8"/>
          <p:cNvSpPr/>
          <p:nvPr/>
        </p:nvSpPr>
        <p:spPr>
          <a:xfrm>
            <a:off x="4727448" y="2944368"/>
            <a:ext cx="4023360" cy="841248"/>
          </a:xfrm>
          <a:prstGeom prst="rect">
            <a:avLst/>
          </a:prstGeom>
          <a:noFill/>
          <a:ln/>
        </p:spPr>
        <p:txBody>
          <a:bodyPr wrap="square" rtlCol="0" anchor="ctr"/>
          <a:lstStyle/>
          <a:p>
            <a:pPr indent="0" marL="0">
              <a:buNone/>
            </a:pPr>
            <a:r>
              <a:rPr lang="en-US" sz="1050" b="1" dirty="0">
                <a:solidFill>
                  <a:srgbClr val="1E7D34"/>
                </a:solidFill>
                <a:latin typeface="Calibri" pitchFamily="34" charset="0"/>
                <a:ea typeface="Calibri" pitchFamily="34" charset="-122"/>
                <a:cs typeface="Calibri" pitchFamily="34" charset="-120"/>
              </a:rPr>
              <a:t>Youth Clinic -- Reinforce
</a:t>
            </a:r>
            <a:pPr indent="0" marL="0">
              <a:buNone/>
            </a:pPr>
            <a:r>
              <a:rPr lang="en-US" sz="950" dirty="0">
                <a:solidFill>
                  <a:srgbClr val="1E7D34"/>
                </a:solidFill>
                <a:latin typeface="Calibri" pitchFamily="34" charset="0"/>
                <a:ea typeface="Calibri" pitchFamily="34" charset="-122"/>
                <a:cs typeface="Calibri" pitchFamily="34" charset="-120"/>
              </a:rPr>
              <a:t>Youth Clinic is the organic leader (+5.6 organic, +19.4%). Fast-track approvals so momentum is not lost.</a:t>
            </a:r>
            <a:endParaRPr lang="en-US" sz="950" dirty="0"/>
          </a:p>
        </p:txBody>
      </p:sp>
      <p:sp>
        <p:nvSpPr>
          <p:cNvPr id="12" name="Shape 9"/>
          <p:cNvSpPr/>
          <p:nvPr/>
        </p:nvSpPr>
        <p:spPr>
          <a:xfrm>
            <a:off x="274320" y="3913632"/>
            <a:ext cx="4160520" cy="457200"/>
          </a:xfrm>
          <a:prstGeom prst="rect">
            <a:avLst/>
          </a:prstGeom>
          <a:solidFill>
            <a:srgbClr val="FFCDD2"/>
          </a:solidFill>
          <a:ln w="12700">
            <a:solidFill>
              <a:srgbClr val="C62828"/>
            </a:solidFill>
            <a:prstDash val="solid"/>
          </a:ln>
        </p:spPr>
      </p:sp>
      <p:sp>
        <p:nvSpPr>
          <p:cNvPr id="13" name="Text 10"/>
          <p:cNvSpPr/>
          <p:nvPr/>
        </p:nvSpPr>
        <p:spPr>
          <a:xfrm>
            <a:off x="384048" y="3931920"/>
            <a:ext cx="3931920" cy="420624"/>
          </a:xfrm>
          <a:prstGeom prst="rect">
            <a:avLst/>
          </a:prstGeom>
          <a:noFill/>
          <a:ln/>
        </p:spPr>
        <p:txBody>
          <a:bodyPr wrap="square" rtlCol="0" anchor="ctr"/>
          <a:lstStyle/>
          <a:p>
            <a:pPr indent="0" marL="0">
              <a:buNone/>
            </a:pPr>
            <a:r>
              <a:rPr lang="en-US" sz="900" dirty="0">
                <a:solidFill>
                  <a:srgbClr val="C62828"/>
                </a:solidFill>
                <a:latin typeface="Calibri" pitchFamily="34" charset="0"/>
                <a:ea typeface="Calibri" pitchFamily="34" charset="-122"/>
                <a:cs typeface="Calibri" pitchFamily="34" charset="-120"/>
              </a:rPr>
              <a:t>Adult Clinic action: target organizers in the spontaneous-filing window. Low effort, high impact.</a:t>
            </a:r>
            <a:endParaRPr lang="en-US" sz="900" dirty="0"/>
          </a:p>
        </p:txBody>
      </p:sp>
      <p:sp>
        <p:nvSpPr>
          <p:cNvPr id="14" name="Shape 11"/>
          <p:cNvSpPr/>
          <p:nvPr/>
        </p:nvSpPr>
        <p:spPr>
          <a:xfrm>
            <a:off x="4617720" y="3913632"/>
            <a:ext cx="4251960" cy="457200"/>
          </a:xfrm>
          <a:prstGeom prst="rect">
            <a:avLst/>
          </a:prstGeom>
          <a:solidFill>
            <a:srgbClr val="E3F2FD"/>
          </a:solidFill>
          <a:ln w="12700">
            <a:solidFill>
              <a:srgbClr val="1565C0"/>
            </a:solidFill>
            <a:prstDash val="solid"/>
          </a:ln>
        </p:spPr>
      </p:sp>
      <p:sp>
        <p:nvSpPr>
          <p:cNvPr id="15" name="Text 12"/>
          <p:cNvSpPr/>
          <p:nvPr/>
        </p:nvSpPr>
        <p:spPr>
          <a:xfrm>
            <a:off x="4727448" y="3931920"/>
            <a:ext cx="4023360" cy="420624"/>
          </a:xfrm>
          <a:prstGeom prst="rect">
            <a:avLst/>
          </a:prstGeom>
          <a:noFill/>
          <a:ln/>
        </p:spPr>
        <p:txBody>
          <a:bodyPr wrap="square" rtlCol="0" anchor="ctr"/>
          <a:lstStyle/>
          <a:p>
            <a:pPr indent="0" marL="0">
              <a:buNone/>
            </a:pPr>
            <a:r>
              <a:rPr lang="en-US" sz="900" dirty="0">
                <a:solidFill>
                  <a:srgbClr val="1565C0"/>
                </a:solidFill>
                <a:latin typeface="Calibri" pitchFamily="34" charset="0"/>
                <a:ea typeface="Calibri" pitchFamily="34" charset="-122"/>
                <a:cs typeface="Calibri" pitchFamily="34" charset="-120"/>
              </a:rPr>
              <a:t>Overall pipeline is +7% (+24 in-yr apps) vs 2025 pace through May.</a:t>
            </a:r>
            <a:endParaRPr lang="en-US" sz="900" dirty="0"/>
          </a:p>
        </p:txBody>
      </p:sp>
      <p:sp>
        <p:nvSpPr>
          <p:cNvPr id="16" name="Shape 13"/>
          <p:cNvSpPr/>
          <p:nvPr/>
        </p:nvSpPr>
        <p:spPr>
          <a:xfrm>
            <a:off x="274320" y="4480560"/>
            <a:ext cx="8595360" cy="420624"/>
          </a:xfrm>
          <a:prstGeom prst="rect">
            <a:avLst/>
          </a:prstGeom>
          <a:solidFill>
            <a:srgbClr val="ECEFF1"/>
          </a:solidFill>
          <a:ln w="12700">
            <a:solidFill>
              <a:srgbClr val="CCCCCC"/>
            </a:solidFill>
            <a:prstDash val="solid"/>
          </a:ln>
        </p:spPr>
      </p:sp>
      <p:sp>
        <p:nvSpPr>
          <p:cNvPr id="17" name="Text 14"/>
          <p:cNvSpPr/>
          <p:nvPr/>
        </p:nvSpPr>
        <p:spPr>
          <a:xfrm>
            <a:off x="384048" y="4507992"/>
            <a:ext cx="8321040" cy="384048"/>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New event onboarding of 265 in 2026 demonstrates pipeline strength and adequate replacement capacity, yet organic growth remains muted across most segments. Youth Clinic's +19.4% organic growth presents the highest-leverage expansion opportunity, while Adult Race should focus on sustaining 0.17% organic stability through quality retention. The 13 failed recovery attempts warrant investigation into barriers preventing lapsed-event reactivation.</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62828"/>
          </a:solidFill>
          <a:ln w="12700">
            <a:solidFill>
              <a:srgbClr val="C62828"/>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6  --  Jul &amp; Aug: Organic Churn and the Win-Back Opportunity</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8 / 8</a:t>
            </a:r>
            <a:endParaRPr lang="en-US" sz="900" dirty="0"/>
          </a:p>
        </p:txBody>
      </p:sp>
      <p:sp>
        <p:nvSpPr>
          <p:cNvPr id="5" name="Text 3"/>
          <p:cNvSpPr/>
          <p:nvPr/>
        </p:nvSpPr>
        <p:spPr>
          <a:xfrm>
            <a:off x="274320" y="694944"/>
            <a:ext cx="8595360" cy="182880"/>
          </a:xfrm>
          <a:prstGeom prst="rect">
            <a:avLst/>
          </a:prstGeom>
          <a:noFill/>
          <a:ln/>
        </p:spPr>
        <p:txBody>
          <a:bodyPr wrap="square" rtlCol="0" anchor="ctr"/>
          <a:lstStyle/>
          <a:p>
            <a:pPr indent="0" marL="0">
              <a:buNone/>
            </a:pPr>
            <a:r>
              <a:rPr lang="en-US" sz="1000" dirty="0">
                <a:solidFill>
                  <a:srgbClr val="222222"/>
                </a:solidFill>
                <a:latin typeface="Calibri" pitchFamily="34" charset="0"/>
                <a:ea typeface="Calibri" pitchFamily="34" charset="-122"/>
                <a:cs typeface="Calibri" pitchFamily="34" charset="-120"/>
              </a:rPr>
              <a:t>Replacement is partial -- the volume of churn is the problem more than the rate. The actionable target is August.</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4160520" cy="1335024"/>
        </p:xfrm>
        <a:graphic>
          <a:graphicData uri="http://schemas.openxmlformats.org/drawingml/2006/table">
            <a:tbl>
              <a:tblPr/>
              <a:tblGrid>
                <a:gridCol w="1386840"/>
                <a:gridCol w="1386840"/>
                <a:gridCol w="1386840"/>
              </a:tblGrid>
              <a:tr h="210312">
                <a:tc>
                  <a:txBody>
                    <a:bodyPr/>
                    <a:lstStyle/>
                    <a:p>
                      <a:pPr algn="ctr" indent="0" marL="0">
                        <a:buNone/>
                      </a:pPr>
                      <a:r>
                        <a:rPr lang="en-US" sz="950" b="1" dirty="0">
                          <a:solidFill>
                            <a:srgbClr val="FFFFFF"/>
                          </a:solidFill>
                        </a:rPr>
                        <a:t>July</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950" b="1" dirty="0">
                          <a:solidFill>
                            <a:srgbClr val="FFFFFF"/>
                          </a:solidFill>
                        </a:rPr>
                        <a:t>2025</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950" b="1" dirty="0">
                          <a:solidFill>
                            <a:srgbClr val="FFFFFF"/>
                          </a:solidFill>
                        </a:rPr>
                        <a:t>2026</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r>
              <a:tr h="210312">
                <a:tc>
                  <a:txBody>
                    <a:bodyPr/>
                    <a:lstStyle/>
                    <a:p>
                      <a:pPr algn="l" indent="0" marL="0">
                        <a:buNone/>
                      </a:pPr>
                      <a:r>
                        <a:rPr lang="en-US" sz="950" dirty="0">
                          <a:solidFill>
                            <a:srgbClr val="222222"/>
                          </a:solidFill>
                        </a:rPr>
                        <a:t>Retained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115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1E7D34"/>
                          </a:solidFill>
                        </a:rPr>
                        <a:t>115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10312">
                <a:tc>
                  <a:txBody>
                    <a:bodyPr/>
                    <a:lstStyle/>
                    <a:p>
                      <a:pPr algn="l" indent="0" marL="0">
                        <a:buNone/>
                      </a:pPr>
                      <a:r>
                        <a:rPr lang="en-US" sz="950" dirty="0">
                          <a:solidFill>
                            <a:srgbClr val="222222"/>
                          </a:solidFill>
                        </a:rPr>
                        <a:t>Shifted Out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C62828"/>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210312">
                <a:tc>
                  <a:txBody>
                    <a:bodyPr/>
                    <a:lstStyle/>
                    <a:p>
                      <a:pPr algn="l" indent="0" marL="0">
                        <a:buNone/>
                      </a:pPr>
                      <a:r>
                        <a:rPr lang="en-US" sz="950" b="1" dirty="0">
                          <a:solidFill>
                            <a:srgbClr val="C62828"/>
                          </a:solidFill>
                        </a:rPr>
                        <a:t>Lost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-49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210312">
                <a:tc>
                  <a:txBody>
                    <a:bodyPr/>
                    <a:lstStyle/>
                    <a:p>
                      <a:pPr algn="l" indent="0" marL="0">
                        <a:buNone/>
                      </a:pPr>
                      <a:r>
                        <a:rPr lang="en-US" sz="950" dirty="0">
                          <a:solidFill>
                            <a:srgbClr val="1E7D34"/>
                          </a:solidFill>
                        </a:rPr>
                        <a:t>Shift In</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+12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10312">
                <a:tc>
                  <a:txBody>
                    <a:bodyPr/>
                    <a:lstStyle/>
                    <a:p>
                      <a:pPr algn="l" indent="0" marL="0">
                        <a:buNone/>
                      </a:pPr>
                      <a:r>
                        <a:rPr lang="en-US" sz="950" dirty="0">
                          <a:solidFill>
                            <a:srgbClr val="1E7D34"/>
                          </a:solidFill>
                        </a:rPr>
                        <a:t>New / Rec'd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+38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7" name="Shape 4"/>
          <p:cNvSpPr/>
          <p:nvPr/>
        </p:nvSpPr>
        <p:spPr>
          <a:xfrm>
            <a:off x="274320" y="2322576"/>
            <a:ext cx="4160520" cy="329184"/>
          </a:xfrm>
          <a:prstGeom prst="rect">
            <a:avLst/>
          </a:prstGeom>
          <a:solidFill>
            <a:srgbClr val="37474F"/>
          </a:solidFill>
          <a:ln w="12700">
            <a:solidFill>
              <a:srgbClr val="37474F"/>
            </a:solidFill>
            <a:prstDash val="solid"/>
          </a:ln>
        </p:spPr>
      </p:sp>
      <p:sp>
        <p:nvSpPr>
          <p:cNvPr id="8" name="Text 5"/>
          <p:cNvSpPr/>
          <p:nvPr/>
        </p:nvSpPr>
        <p:spPr>
          <a:xfrm>
            <a:off x="292608" y="2331720"/>
            <a:ext cx="4114800" cy="310896"/>
          </a:xfrm>
          <a:prstGeom prst="rect">
            <a:avLst/>
          </a:prstGeom>
          <a:noFill/>
          <a:ln/>
        </p:spPr>
        <p:txBody>
          <a:bodyPr wrap="square" rtlCol="0" anchor="ctr"/>
          <a:lstStyle/>
          <a:p>
            <a:pPr algn="ctr" indent="0" marL="0">
              <a:buNone/>
            </a:pPr>
            <a:r>
              <a:rPr lang="en-US" sz="900" b="1" dirty="0">
                <a:solidFill>
                  <a:srgbClr val="E8F5E9"/>
                </a:solidFill>
                <a:latin typeface="Calibri" pitchFamily="34" charset="0"/>
                <a:ea typeface="Calibri" pitchFamily="34" charset="-122"/>
                <a:cs typeface="Calibri" pitchFamily="34" charset="-120"/>
              </a:rPr>
              <a:t>2025: 181 events  -&gt;  2026: 165       Replacement: 38/49 = 78%</a:t>
            </a:r>
            <a:endParaRPr lang="en-US" sz="9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4617720" y="914400"/>
          <a:ext cx="4251960" cy="1335024"/>
        </p:xfrm>
        <a:graphic>
          <a:graphicData uri="http://schemas.openxmlformats.org/drawingml/2006/table">
            <a:tbl>
              <a:tblPr/>
              <a:tblGrid>
                <a:gridCol w="1417320"/>
                <a:gridCol w="1417320"/>
                <a:gridCol w="1417320"/>
              </a:tblGrid>
              <a:tr h="210312">
                <a:tc>
                  <a:txBody>
                    <a:bodyPr/>
                    <a:lstStyle/>
                    <a:p>
                      <a:pPr algn="ctr" indent="0" marL="0">
                        <a:buNone/>
                      </a:pPr>
                      <a:r>
                        <a:rPr lang="en-US" sz="950" b="1" dirty="0">
                          <a:solidFill>
                            <a:srgbClr val="FFFFFF"/>
                          </a:solidFill>
                        </a:rPr>
                        <a:t>August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950" b="1" dirty="0">
                          <a:solidFill>
                            <a:srgbClr val="FFFFFF"/>
                          </a:solidFill>
                        </a:rPr>
                        <a:t>2025</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950" b="1" dirty="0">
                          <a:solidFill>
                            <a:srgbClr val="FFFFFF"/>
                          </a:solidFill>
                        </a:rPr>
                        <a:t>2026</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r>
              <a:tr h="210312">
                <a:tc>
                  <a:txBody>
                    <a:bodyPr/>
                    <a:lstStyle/>
                    <a:p>
                      <a:pPr algn="l" indent="0" marL="0">
                        <a:buNone/>
                      </a:pPr>
                      <a:r>
                        <a:rPr lang="en-US" sz="950" dirty="0">
                          <a:solidFill>
                            <a:srgbClr val="222222"/>
                          </a:solidFill>
                        </a:rPr>
                        <a:t>Retained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147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1E7D34"/>
                          </a:solidFill>
                        </a:rPr>
                        <a:t>147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10312">
                <a:tc>
                  <a:txBody>
                    <a:bodyPr/>
                    <a:lstStyle/>
                    <a:p>
                      <a:pPr algn="l" indent="0" marL="0">
                        <a:buNone/>
                      </a:pPr>
                      <a:r>
                        <a:rPr lang="en-US" sz="950" dirty="0">
                          <a:solidFill>
                            <a:srgbClr val="222222"/>
                          </a:solidFill>
                        </a:rPr>
                        <a:t>Shifted Out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C62828"/>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210312">
                <a:tc>
                  <a:txBody>
                    <a:bodyPr/>
                    <a:lstStyle/>
                    <a:p>
                      <a:pPr algn="l" indent="0" marL="0">
                        <a:buNone/>
                      </a:pPr>
                      <a:r>
                        <a:rPr lang="en-US" sz="950" b="1" dirty="0">
                          <a:solidFill>
                            <a:srgbClr val="C62828"/>
                          </a:solidFill>
                        </a:rPr>
                        <a:t>Lost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-56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210312">
                <a:tc>
                  <a:txBody>
                    <a:bodyPr/>
                    <a:lstStyle/>
                    <a:p>
                      <a:pPr algn="l" indent="0" marL="0">
                        <a:buNone/>
                      </a:pPr>
                      <a:r>
                        <a:rPr lang="en-US" sz="950" dirty="0">
                          <a:solidFill>
                            <a:srgbClr val="1E7D34"/>
                          </a:solidFill>
                        </a:rPr>
                        <a:t>Shift In</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10312">
                <a:tc>
                  <a:txBody>
                    <a:bodyPr/>
                    <a:lstStyle/>
                    <a:p>
                      <a:pPr algn="l" indent="0" marL="0">
                        <a:buNone/>
                      </a:pPr>
                      <a:r>
                        <a:rPr lang="en-US" sz="950" dirty="0">
                          <a:solidFill>
                            <a:srgbClr val="1E7D34"/>
                          </a:solidFill>
                        </a:rPr>
                        <a:t>New / Rec'd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+39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10" name="Shape 6"/>
          <p:cNvSpPr/>
          <p:nvPr/>
        </p:nvSpPr>
        <p:spPr>
          <a:xfrm>
            <a:off x="4617720" y="2322576"/>
            <a:ext cx="4251960" cy="329184"/>
          </a:xfrm>
          <a:prstGeom prst="rect">
            <a:avLst/>
          </a:prstGeom>
          <a:solidFill>
            <a:srgbClr val="37474F"/>
          </a:solidFill>
          <a:ln w="12700">
            <a:solidFill>
              <a:srgbClr val="37474F"/>
            </a:solidFill>
            <a:prstDash val="solid"/>
          </a:ln>
        </p:spPr>
      </p:sp>
      <p:sp>
        <p:nvSpPr>
          <p:cNvPr id="11" name="Text 7"/>
          <p:cNvSpPr/>
          <p:nvPr/>
        </p:nvSpPr>
        <p:spPr>
          <a:xfrm>
            <a:off x="4636008" y="2331720"/>
            <a:ext cx="4206240" cy="310896"/>
          </a:xfrm>
          <a:prstGeom prst="rect">
            <a:avLst/>
          </a:prstGeom>
          <a:noFill/>
          <a:ln/>
        </p:spPr>
        <p:txBody>
          <a:bodyPr wrap="square" rtlCol="0" anchor="ctr"/>
          <a:lstStyle/>
          <a:p>
            <a:pPr algn="ctr" indent="0" marL="0">
              <a:buNone/>
            </a:pPr>
            <a:r>
              <a:rPr lang="en-US" sz="900" b="1" dirty="0">
                <a:solidFill>
                  <a:srgbClr val="E8F5E9"/>
                </a:solidFill>
                <a:latin typeface="Calibri" pitchFamily="34" charset="0"/>
                <a:ea typeface="Calibri" pitchFamily="34" charset="-122"/>
                <a:cs typeface="Calibri" pitchFamily="34" charset="-120"/>
              </a:rPr>
              <a:t>2025: 220 events  -&gt;  2026: 201       Replacement: 39/56 = 70%</a:t>
            </a:r>
            <a:endParaRPr lang="en-US" sz="900" dirty="0"/>
          </a:p>
        </p:txBody>
      </p:sp>
      <p:sp>
        <p:nvSpPr>
          <p:cNvPr id="12" name="Text 8"/>
          <p:cNvSpPr/>
          <p:nvPr/>
        </p:nvSpPr>
        <p:spPr>
          <a:xfrm>
            <a:off x="274320" y="2724912"/>
            <a:ext cx="8595360" cy="164592"/>
          </a:xfrm>
          <a:prstGeom prst="rect">
            <a:avLst/>
          </a:prstGeom>
          <a:noFill/>
          <a:ln/>
        </p:spPr>
        <p:txBody>
          <a:bodyPr wrap="square" rtlCol="0" anchor="ctr"/>
          <a:lstStyle/>
          <a:p>
            <a:pPr indent="0" marL="0">
              <a:buNone/>
            </a:pPr>
            <a:r>
              <a:rPr lang="en-US" sz="1000" b="1" dirty="0">
                <a:solidFill>
                  <a:srgbClr val="222222"/>
                </a:solidFill>
                <a:latin typeface="Calibri" pitchFamily="34" charset="0"/>
                <a:ea typeface="Calibri" pitchFamily="34" charset="-122"/>
                <a:cs typeface="Calibri" pitchFamily="34" charset="-120"/>
              </a:rPr>
              <a:t>Lost events by type (combined Jul + Aug):</a:t>
            </a:r>
            <a:endParaRPr lang="en-US" sz="1000" dirty="0"/>
          </a:p>
        </p:txBody>
      </p:sp>
      <p:graphicFrame>
        <p:nvGraphicFramePr>
          <p:cNvPr id="25" name="Table 2"/>
          <p:cNvGraphicFramePr>
            <a:graphicFrameLocks noGrp="1"/>
          </p:cNvGraphicFramePr>
          <p:nvPr>
            <p:extLst>
              <p:ext uri="{D42A27DB-BD31-4B8C-83A1-F6EECF244321}">
                <p14:modId xmlns:p14="http://schemas.microsoft.com/office/powerpoint/2010/main" val="1579011935"/>
              </p:ext>
            </p:extLst>
          </p:nvPr>
        </p:nvGraphicFramePr>
        <p:xfrm>
          <a:off x="274320" y="2916936"/>
          <a:ext cx="8595360" cy="621792"/>
        </p:xfrm>
        <a:graphic>
          <a:graphicData uri="http://schemas.openxmlformats.org/drawingml/2006/table">
            <a:tbl>
              <a:tblPr/>
              <a:tblGrid>
                <a:gridCol w="1719072"/>
                <a:gridCol w="1719072"/>
                <a:gridCol w="1719072"/>
                <a:gridCol w="1719072"/>
                <a:gridCol w="1719072"/>
              </a:tblGrid>
              <a:tr h="201168">
                <a:tc>
                  <a:txBody>
                    <a:bodyPr/>
                    <a:lstStyle/>
                    <a:p>
                      <a:pPr algn="ctr" indent="0" marL="0">
                        <a:buNone/>
                      </a:pPr>
                      <a:r>
                        <a:rPr lang="en-US" sz="950" b="1" dirty="0">
                          <a:solidFill>
                            <a:srgbClr val="FFFFFF"/>
                          </a:solidFill>
                        </a:rPr>
                        <a:t>Type</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950" b="1" dirty="0">
                          <a:solidFill>
                            <a:srgbClr val="FFFFFF"/>
                          </a:solidFill>
                        </a:rPr>
                        <a:t>Jul Lost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950" b="1" dirty="0">
                          <a:solidFill>
                            <a:srgbClr val="FFFFFF"/>
                          </a:solidFill>
                        </a:rPr>
                        <a:t>Aug Lost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950" b="1" dirty="0">
                          <a:solidFill>
                            <a:srgbClr val="FFFFFF"/>
                          </a:solidFill>
                        </a:rPr>
                        <a:t>Combined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950" b="1" dirty="0">
                          <a:solidFill>
                            <a:srgbClr val="FFFFFF"/>
                          </a:solidFill>
                        </a:rPr>
                        <a:t>Share</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r h="201168">
                <a:tc>
                  <a:txBody>
                    <a:bodyPr/>
                    <a:lstStyle/>
                    <a:p>
                      <a:pPr algn="l" indent="0" marL="0">
                        <a:buNone/>
                      </a:pPr>
                      <a:r>
                        <a:rPr lang="en-US" sz="1000" b="1" dirty="0">
                          <a:solidFill>
                            <a:srgbClr val="222222"/>
                          </a:solidFill>
                        </a:rPr>
                        <a:t>Adult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C62828"/>
                          </a:solidFill>
                        </a:rPr>
                        <a:t>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58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55%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201168">
                <a:tc>
                  <a:txBody>
                    <a:bodyPr/>
                    <a:lstStyle/>
                    <a:p>
                      <a:pPr algn="l" indent="0" marL="0">
                        <a:buNone/>
                      </a:pPr>
                      <a:r>
                        <a:rPr lang="en-US" sz="1000" b="1" dirty="0">
                          <a:solidFill>
                            <a:srgbClr val="222222"/>
                          </a:solidFill>
                        </a:rPr>
                        <a:t>Youth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C62828"/>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22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35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33%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bl>
          </a:graphicData>
        </a:graphic>
      </p:graphicFrame>
      <p:sp>
        <p:nvSpPr>
          <p:cNvPr id="14" name="Text 9"/>
          <p:cNvSpPr/>
          <p:nvPr/>
        </p:nvSpPr>
        <p:spPr>
          <a:xfrm>
            <a:off x="274320" y="3575304"/>
            <a:ext cx="8595360" cy="137160"/>
          </a:xfrm>
          <a:prstGeom prst="rect">
            <a:avLst/>
          </a:prstGeom>
          <a:noFill/>
          <a:ln/>
        </p:spPr>
        <p:txBody>
          <a:bodyPr wrap="square" rtlCol="0" anchor="ctr"/>
          <a:lstStyle/>
          <a:p>
            <a:pPr indent="0" marL="0">
              <a:buNone/>
            </a:pPr>
            <a:r>
              <a:rPr lang="en-US" sz="850" i="1" dirty="0">
                <a:solidFill>
                  <a:srgbClr val="777777"/>
                </a:solidFill>
                <a:latin typeface="Calibri" pitchFamily="34" charset="0"/>
                <a:ea typeface="Calibri" pitchFamily="34" charset="-122"/>
                <a:cs typeface="Calibri" pitchFamily="34" charset="-120"/>
              </a:rPr>
              <a:t>Adult Clinic: 8 lost (8%)  |  Youth Clinic: 4 lost (4%)  --  minor; not material to win-back prioritisation</a:t>
            </a:r>
            <a:endParaRPr lang="en-US" sz="850" dirty="0"/>
          </a:p>
        </p:txBody>
      </p:sp>
      <p:sp>
        <p:nvSpPr>
          <p:cNvPr id="15" name="Shape 10"/>
          <p:cNvSpPr/>
          <p:nvPr/>
        </p:nvSpPr>
        <p:spPr>
          <a:xfrm>
            <a:off x="274320" y="3785616"/>
            <a:ext cx="4160520" cy="713232"/>
          </a:xfrm>
          <a:prstGeom prst="rect">
            <a:avLst/>
          </a:prstGeom>
          <a:solidFill>
            <a:srgbClr val="FFCDD2"/>
          </a:solidFill>
          <a:ln w="12700">
            <a:solidFill>
              <a:srgbClr val="C62828"/>
            </a:solidFill>
            <a:prstDash val="solid"/>
          </a:ln>
        </p:spPr>
      </p:sp>
      <p:sp>
        <p:nvSpPr>
          <p:cNvPr id="16" name="Text 11"/>
          <p:cNvSpPr/>
          <p:nvPr/>
        </p:nvSpPr>
        <p:spPr>
          <a:xfrm>
            <a:off x="384048" y="3813048"/>
            <a:ext cx="3931920" cy="658368"/>
          </a:xfrm>
          <a:prstGeom prst="rect">
            <a:avLst/>
          </a:prstGeom>
          <a:noFill/>
          <a:ln/>
        </p:spPr>
        <p:txBody>
          <a:bodyPr wrap="square"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August -- Act Now (2026 Window)
</a:t>
            </a:r>
            <a:pPr indent="0" marL="0">
              <a:buNone/>
            </a:pPr>
            <a:r>
              <a:rPr lang="en-US" sz="950" dirty="0">
                <a:solidFill>
                  <a:srgbClr val="C62828"/>
                </a:solidFill>
                <a:latin typeface="Calibri" pitchFamily="34" charset="0"/>
                <a:ea typeface="Calibri" pitchFamily="34" charset="-122"/>
                <a:cs typeface="Calibri" pitchFamily="34" charset="-120"/>
              </a:rPr>
              <a:t>56 lost in 2025. Reach all known organizers; a 20% win-back recovers ~11 events.</a:t>
            </a:r>
            <a:endParaRPr lang="en-US" sz="1050" dirty="0"/>
          </a:p>
        </p:txBody>
      </p:sp>
      <p:sp>
        <p:nvSpPr>
          <p:cNvPr id="17" name="Shape 12"/>
          <p:cNvSpPr/>
          <p:nvPr/>
        </p:nvSpPr>
        <p:spPr>
          <a:xfrm>
            <a:off x="4617720" y="3785616"/>
            <a:ext cx="4251960" cy="713232"/>
          </a:xfrm>
          <a:prstGeom prst="rect">
            <a:avLst/>
          </a:prstGeom>
          <a:solidFill>
            <a:srgbClr val="E3F2FD"/>
          </a:solidFill>
          <a:ln w="12700">
            <a:solidFill>
              <a:srgbClr val="1565C0"/>
            </a:solidFill>
            <a:prstDash val="solid"/>
          </a:ln>
        </p:spPr>
      </p:sp>
      <p:sp>
        <p:nvSpPr>
          <p:cNvPr id="18" name="Text 13"/>
          <p:cNvSpPr/>
          <p:nvPr/>
        </p:nvSpPr>
        <p:spPr>
          <a:xfrm>
            <a:off x="4727448" y="3813048"/>
            <a:ext cx="4023360" cy="658368"/>
          </a:xfrm>
          <a:prstGeom prst="rect">
            <a:avLst/>
          </a:prstGeom>
          <a:noFill/>
          <a:ln/>
        </p:spPr>
        <p:txBody>
          <a:bodyPr wrap="square" rtlCol="0" anchor="ctr"/>
          <a:lstStyle/>
          <a:p>
            <a:pPr indent="0" marL="0">
              <a:buNone/>
            </a:pPr>
            <a:r>
              <a:rPr lang="en-US" sz="1050" b="1" dirty="0">
                <a:solidFill>
                  <a:srgbClr val="1565C0"/>
                </a:solidFill>
                <a:latin typeface="Calibri" pitchFamily="34" charset="0"/>
                <a:ea typeface="Calibri" pitchFamily="34" charset="-122"/>
                <a:cs typeface="Calibri" pitchFamily="34" charset="-120"/>
              </a:rPr>
              <a:t>July -- Diagnose for 2027
</a:t>
            </a:r>
            <a:pPr indent="0" marL="0">
              <a:buNone/>
            </a:pPr>
            <a:r>
              <a:rPr lang="en-US" sz="950" dirty="0">
                <a:solidFill>
                  <a:srgbClr val="1565C0"/>
                </a:solidFill>
                <a:latin typeface="Calibri" pitchFamily="34" charset="0"/>
                <a:ea typeface="Calibri" pitchFamily="34" charset="-122"/>
                <a:cs typeface="Calibri" pitchFamily="34" charset="-120"/>
              </a:rPr>
              <a:t>49 lost in 2025. Too late for 2026; outreach to understand WHY is the highest-ROI 2027 planning action.</a:t>
            </a:r>
            <a:endParaRPr lang="en-US" sz="1050" dirty="0"/>
          </a:p>
        </p:txBody>
      </p:sp>
      <p:sp>
        <p:nvSpPr>
          <p:cNvPr id="19" name="Shape 14"/>
          <p:cNvSpPr/>
          <p:nvPr/>
        </p:nvSpPr>
        <p:spPr>
          <a:xfrm>
            <a:off x="274320" y="4590288"/>
            <a:ext cx="8595360" cy="329184"/>
          </a:xfrm>
          <a:prstGeom prst="rect">
            <a:avLst/>
          </a:prstGeom>
          <a:solidFill>
            <a:srgbClr val="ECEFF1"/>
          </a:solidFill>
          <a:ln w="12700">
            <a:solidFill>
              <a:srgbClr val="CCCCCC"/>
            </a:solidFill>
            <a:prstDash val="solid"/>
          </a:ln>
        </p:spPr>
      </p:sp>
      <p:sp>
        <p:nvSpPr>
          <p:cNvPr id="20" name="Text 15"/>
          <p:cNvSpPr/>
          <p:nvPr/>
        </p:nvSpPr>
        <p:spPr>
          <a:xfrm>
            <a:off x="384048" y="4617720"/>
            <a:ext cx="8321040" cy="292608"/>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August and July losses totaling -35 events (both organic, zero calendar benefit) suggest seasonal or operational challenges rather than scheduling conflicts. Win-back targeting should prioritize events lost in these months to understand root causes: coaching availability, participant demand shifts, or competing offerings. Paired with the 13 failed returns, a diagnostic review of August/July churn and recovery blockers is essential.</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Sanctioned Events 2025 vs 2026</dc:title>
  <dc:subject>PptxGenJS Presentation</dc:subject>
  <dc:creator>PptxGenJS</dc:creator>
  <cp:lastModifiedBy>PptxGenJS</cp:lastModifiedBy>
  <cp:revision>1</cp:revision>
  <dcterms:created xsi:type="dcterms:W3CDTF">2026-05-17T14:03:28Z</dcterms:created>
  <dcterms:modified xsi:type="dcterms:W3CDTF">2026-05-17T14:03:28Z</dcterms:modified>
</cp:coreProperties>
</file>