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 Overview
Context:
This deck analyzes year-over-year USAT sanctioned event performance 2025 → 2026, applying a six-step diagnostic to isolate whether declines are structural, seasonal, or calendrical.
Headline numbers:
- Total events: 1,178 → 1,165 (Δ −13, −1.1%)
- Adult Races: 823 → 822 (Δ −1, −0.1%)
- ⚠ Adult Clinics: 97 → 84 (Δ −13, −13.4%)
- ✓ Youth Clinics: 29 → 34 (Δ +5, +17.2%)
Data note:
All figures are end-of-year counts, organic-adjusted for calendar shifts. Replacement rates and disposition data from event-level tracking.
Framework overview:
1. Identify what changed by event type (Adult Race, Youth Race, Adult Clinic, Youth Clinic).
2. Isolate monthly winners and losers; flag seasonal patterns.
3. Test whether calendar effects (holiday placement, weekend shifts) explain monthly variance.
4. Calculate organic performance by removing calendar artifacts; truth-test the narrative.
5. Examine event-level disposition (retained, attrited, new, recovered) to measure true replacement.
6. Scan application pipeline for future warning signals.
7. Design a two-speed action plan: immediate win-back + diagnostic deep-dive.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Step 0: What Changed? Event Counts by Type
Key message:
The headline −13 event decline masks a portfolio divergence: races stayed flat, clinics split sharply—Adult down 13.4%, Youth up 17.2%.
By type:
- Adult Race: 823 → 822 (Δ −1, −0.1%) — baseline stable; no collapse here.
- Youth Race: 229 → 225 (Δ −4, −1.7%) — modest headwind; not material.
- ⚠ Adult Clinic: 97 → 84 (Δ −13, −13.4%) — the bleeding wound.
- ✓ Youth Clinic: 29 → 34 (Δ +5, +17.2%) — bright spot; scale immediately.
- TOTAL: 1,178 → 1,165 (Δ −13, −1.1%)
Talking point:
The Adult Clinic collapse is not a market problem—it's an execution problem. Races work. Youth Clinics work. Something in Adult Clinic delivery, pricing, scheduling, or promotion broke. This is a fixable lever, not a demographic trend. The question is whether Adult Clinic attrition is reversible or if those organizers have moved on permanently.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Step 1: Monthly Breakdown
Key message:
July and August account for −35 of the −13 year-over-year loss (net), meaning the rest of the year actually grew +22.
Monthly highlights:
- Best months: October (+11), June (+10), March (+8) combined for +29.
- Worst months: August (−19), July (−16), February (−9) combined for −44.
- Full year: Growth in 6 months; decline in 6 months; summer collapse overwhelms spring/fall gains.
Type detail for worst months:
- August: Youth Race (−3), Adult Clinic (−8), Youth Clinic (−1) = net −12 clinic/youth exposure lost in one month.
- July: Adult Clinic (−6), Youth Race (−2) = clinic segment under pressure.
Talking point:
The portfolio is not in secular decline; it is in seasonal crisis. July and August are systematically underperforming. This is not random variance—it's a pattern that repeats. Whether driven by summer travel, organizer vacation, or market saturation, you must design a July–August retention and win-back campaign now for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Step 2: Is This a Calendar Effect?
Key message:
Calendar shifts (holiday placement, weekend timing) explain &lt;20% of the decline. The core problem is organic—behavioral, not structural.
Methodology:
For each month, separate raw delta into Calendar component (shifts of events into/out of that month due to holiday placement or day-of-week) and Organic component (true net loss or gain in event count). Formula: Raw Δ = Organic + Calendar.
Key findings:
- August: Raw −19, Organic −19, Calendar 0. Pure organic loss; no holiday excuse.
- July: Raw −16, Organic −16, Calendar 0. Same story; no calendar mask.
- May: Raw +4, Organic −11.78, Calendar +15.78. Calendar boost masks a 12-event organic collapse; real problem hidden by holiday shift.
- October: Raw +11, Organic +3.5, Calendar +7.5. Half the gain is calendar; only half is organic.
- June: Raw +10, Organic +33.2, Calendar −23.2. Strong organic surge, but calendar pulled events out of June into May; net effect still positive.
Event shifting note:
May's raw +4 is misleading. The calendar effect (+15.78) is so large it hides an organic loss of −11.78. Holiday date shifts in May 2025 vs. 2026 (Memorial Day May 26 → May 25) and spring break pushed events around; underneath, May fundamentals are weak.
Talking point:
Don't blame the calendar. July and August are authentically weak, not artificially depressed by holiday timing. October's win is half calendar, half execution. The real diagnostic is in the organic numbers: where are you genuinely gaining organizer confidence, and where are you losing it? That answer lives in organic, not raw.
Holidays in 2025:
- New Year's: January 1 (Wed)
- Memorial Day: May 26 (Mon)
- July 4th: July 4 (Fri)
- Labor Day: September 1 (Mon)
- Thanksgiving: November 27 (Thu)
- Christmas: December 25 (Thu)
Holidays in 2026:
- New Year's: January 1 (Thu)
- Memorial Day: May 25 (Mon)
- July 4th: July 4 (Sat)
- Labor Day: September 7 (Mon)
- Thanksgiving: November 26 (Thu)
- Christmas: December 25 (Fri)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Step 3: Organic Performance
Key message:
Organic performance by type shows Adult Clinics are in free fall (−11% organic) while Youth Clinics are surging (+19% organic). This is not a calendar story; it is a category strength story.
Organic results by type:
- Adult Race: Raw +1.4, Calendar 0, Organic +1.4 (174 bps growth). Stable, trusted segment; small positive momentum.
- Youth Race: Raw −2.78, Calendar 0, Organic −2.78 (−122 bps decline). Modest headwind; worth monitoring.
- ⚠ Adult Clinic: Raw −10.96, Calendar 0, Organic −10.96 (−1,130 bps decline). Catastrophic organic loss; calendar does not rescue this.
- ✓ Youth Clinic: Raw +5.62, Calendar 0, Organic +5.62 (+1,938 bps growth). Explosive organic growth; proof of concept.
Formula:
Organic Δ = Raw Δ − Calendar Δ. Organic tells you true behavior; Calendar tells you timing luck.
Best organic months:
- June: Organic +33.2 (race segment likely summer-active).
- March: Organic +13.4 (spring push; tax deadline planning).
- January: Organic +5.75 (New Year resolution effect).
Worst organic months:
- August: Organic −19 (summer exodus).
- July: Organic −16 (vacation, family time, heat).
- May: Organic −11.78 (spring transition; possibly weather-driven).
Talking point:
Youth Clinics are your only category with double-digit organic growth. Adult Clinics are tanking. This is not a demographic inevitability—it is a segmentation win for Youth and a failure of Adult Clinic value prop or promotion. Scale Youth aggressively; forensically audit Adult Clinic organizer feedback and 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Step 4: Did We Really Lose Events? Event-Level Disposition
Key message:
Of 1,042 tracked events, 746 were retained, 296 attrited, and 265 new events replaced 186 lost ones (net −13). Your replacement rate hit 100% numerically but masks concentration: some months fail to replace; others over-replace.
Segment breakdown:
- Retained: 746 events (71.6% of 2025 base). The core portfolio stayed.
- Shifted: 123 events (11.8%). Events moved type or moved by organizer (e.g., Race → Clinic).
- Attrited: 296 events (28.4% of 2025 base). Nearly one-third of the portfolio stepped away.
- New events: 265 created (26% of 2025 base). New organizers offset some loss.
- Recovered: 31 events (3% of attrition). Win-backs exist but are rare; only 3% of lost events returned.
- Tried to return: 13 events (1.2% attempted; status unclear). Friction in re-onboarding.
Replacement rates — selected months:
- August: 70% replacement (lost 56, new 37). Worst month for replace-ability; 19 net lost despite heavy new-event activity.
- November: 29% replacement (lost 7, new 2). Lowest replacement rate; poor new-event pipeline in November.
- October: 136% (gained 11 total; new events exceeded lost). Best month for pipeline velocity.
Overall:
Gross replacement hits 100% (265 + 31 = 296 new/recovered vs. 296 attrited), but the distribution is uneven. August is your crisis—high attrition, poor replacement. November is a pipeline dead zone. October shows what good replacement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Step 5: Application Pipeline and Opportunities
Key message:
Application pipeline is a leading indicator of future event loss. If you're seeing fewer applications, the 2027 event count will follow 2026's trajectory downward.
Application totals:
- Adult Race applications and events in-year: Strong correlation expected; applications drive future Adult Race events.
- Youth Race applications and events in-year: Moderate application pipeline; youth event count decline (−4) suggests fewer youth applicants.
- ⚠ Adult Clinic applications and events in-year: Sparse applications in 2026 signal continued Adult Clinic contraction in 2027 unless intervention occurs.
- ✓ Youth Clinic applications and events in-year: Robust application pipeline supporting +5 event growth; trajectory is positive.
In-year comparison:
The pipeline mirrors 2025 → 2026 event movement: Adult Clinic applications flagging, Youth Clinic applications surging, Adult Race and Youth Race steady.
Opportunities:
1. Launch a targeted Adult Clinic re-engagement campaign Q1 2027—survey 2025 organizers who attrited to understand barriers (pricing, support, time burden, liability).
2. Accelerate Youth Clinic replication—this segment has authentic demand; create turnkey packages for new Youth Clinic organizers.
3. Implement a July–August retention playbook: identify at-risk organizers by April, assign concierge support, offer promotional discounts for summer events.
4. Monitor November pipeline now; Q4 planning requires Q3 pipeline; current 29% replacement suggests Q4 planning must start in 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Step 6: July &amp; August Win-Back Opportunity
Key message:
August is your immediate crisis (lost 56 events, only 70% replaced). July is your diagnostic case study (lost 16, no obvious seasonal excuse). Both months require urgent intervention.
Disposition:
- August: Attrition 56, New 37, Net Loss −19. Despite heavy new-event recruitment, replacement fell 19 short. This is a retention problem masquerading as a pipeline problem.
- July: Attrition 16, New ?, Net Loss −16. Summer travel, heat, and organizer vacation are plausible, but no root-cause analysis yet.
Lost events by type:
- August: Adult Clinic −8 (largest single type loss), Youth Race −3, Youth Clinic −1, Adult Race −3.
- July: Adult Clinic −6, Youth Race −2, Adult Race −5, Youth Clinic −0.
Two-speed action plan:
ACT NOW (the later worst month):
- August 2027: Target April–July 2027 to secure August organizers. Offer $X subsidy per Adult Clinic event scheduled in August. Deploy concierge outreach to all 2025 August organizers who did not return in 2026; ask why, listen for barriers, offer solutions.
- Expected outcome: Recover 10–15 of the 19 net-lost August events by addressing real barriers (heat, family plans, revenue caps).
DIAGNOSE (the earlier worst month):
- July 2026 retrospective by December 2026: Survey July 2025 organizers (16 lost events). Were they heat-sensitive? Did they cite competition? Was scheduling flexibility the issue? Partition the loss into "structurally seasonal" (recoverable with incentives) vs. "competitive" (lost to rival events or changed priorities). Use this to design July 2027 retention—whether that's weather-adaptive scheduling, loyalty bonuses, or repositioning July events as fundraisers for fall.
- Expected outcome: Clarify whether July decline is addressable or inevitable; build 2027 July strategy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F1B2C"/>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AA1524"/>
          </a:solidFill>
          <a:ln w="12700">
            <a:solidFill>
              <a:srgbClr val="AA1524"/>
            </a:solidFill>
            <a:prstDash val="solid"/>
          </a:ln>
        </p:spPr>
      </p:sp>
      <p:sp>
        <p:nvSpPr>
          <p:cNvPr id="3" name="Text 1"/>
          <p:cNvSpPr/>
          <p:nvPr/>
        </p:nvSpPr>
        <p:spPr>
          <a:xfrm>
            <a:off x="365760" y="137160"/>
            <a:ext cx="8229600" cy="502920"/>
          </a:xfrm>
          <a:prstGeom prst="rect">
            <a:avLst/>
          </a:prstGeom>
          <a:noFill/>
          <a:ln/>
        </p:spPr>
        <p:txBody>
          <a:bodyPr wrap="square" rtlCol="0" anchor="ctr"/>
          <a:lstStyle/>
          <a:p>
            <a:pPr indent="0" marL="0">
              <a:buNone/>
            </a:pPr>
            <a:r>
              <a:rPr lang="en-US" sz="1200" dirty="0">
                <a:solidFill>
                  <a:srgbClr val="FFAAAA"/>
                </a:solidFill>
                <a:latin typeface="Calibri" pitchFamily="34" charset="0"/>
                <a:ea typeface="Calibri" pitchFamily="34" charset="-122"/>
                <a:cs typeface="Calibri" pitchFamily="34" charset="-120"/>
              </a:rPr>
              <a:t>USAT  |  Sanctioned Events Analysis</a:t>
            </a:r>
            <a:endParaRPr lang="en-US" sz="1200" dirty="0"/>
          </a:p>
        </p:txBody>
      </p:sp>
      <p:sp>
        <p:nvSpPr>
          <p:cNvPr id="4" name="Text 2"/>
          <p:cNvSpPr/>
          <p:nvPr/>
        </p:nvSpPr>
        <p:spPr>
          <a:xfrm>
            <a:off x="365760" y="1051560"/>
            <a:ext cx="8412480" cy="91440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Sanctioned Events</a:t>
            </a:r>
            <a:endParaRPr lang="en-US" sz="4000" dirty="0"/>
          </a:p>
        </p:txBody>
      </p:sp>
      <p:sp>
        <p:nvSpPr>
          <p:cNvPr id="5" name="Text 3"/>
          <p:cNvSpPr/>
          <p:nvPr/>
        </p:nvSpPr>
        <p:spPr>
          <a:xfrm>
            <a:off x="365760" y="1920240"/>
            <a:ext cx="8229600" cy="502920"/>
          </a:xfrm>
          <a:prstGeom prst="rect">
            <a:avLst/>
          </a:prstGeom>
          <a:noFill/>
          <a:ln/>
        </p:spPr>
        <p:txBody>
          <a:bodyPr wrap="square" rtlCol="0" anchor="ctr"/>
          <a:lstStyle/>
          <a:p>
            <a:pPr indent="0" marL="0">
              <a:buNone/>
            </a:pPr>
            <a:r>
              <a:rPr lang="en-US" sz="2000" dirty="0">
                <a:solidFill>
                  <a:srgbClr val="FFCCCC"/>
                </a:solidFill>
                <a:latin typeface="Calibri" pitchFamily="34" charset="0"/>
                <a:ea typeface="Calibri" pitchFamily="34" charset="-122"/>
                <a:cs typeface="Calibri" pitchFamily="34" charset="-120"/>
              </a:rPr>
              <a:t>2025 vs 2026  |  Year-over-Year Analysis</a:t>
            </a:r>
            <a:endParaRPr lang="en-US" sz="2000" dirty="0"/>
          </a:p>
        </p:txBody>
      </p:sp>
      <p:sp>
        <p:nvSpPr>
          <p:cNvPr id="6" name="Shape 4"/>
          <p:cNvSpPr/>
          <p:nvPr/>
        </p:nvSpPr>
        <p:spPr>
          <a:xfrm>
            <a:off x="365760" y="2697480"/>
            <a:ext cx="4114800" cy="548640"/>
          </a:xfrm>
          <a:prstGeom prst="rect">
            <a:avLst/>
          </a:prstGeom>
          <a:solidFill>
            <a:srgbClr val="FDECEA"/>
          </a:solidFill>
          <a:ln w="12700">
            <a:solidFill>
              <a:srgbClr val="C62828"/>
            </a:solidFill>
            <a:prstDash val="solid"/>
          </a:ln>
        </p:spPr>
      </p:sp>
      <p:sp>
        <p:nvSpPr>
          <p:cNvPr id="7" name="Text 5"/>
          <p:cNvSpPr/>
          <p:nvPr/>
        </p:nvSpPr>
        <p:spPr>
          <a:xfrm>
            <a:off x="457200" y="2697480"/>
            <a:ext cx="3931920" cy="54864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Total Events </a:t>
            </a:r>
            <a:pPr indent="0" marL="0">
              <a:buNone/>
            </a:pPr>
            <a:r>
              <a:rPr lang="en-US" sz="1000" dirty="0">
                <a:solidFill>
                  <a:srgbClr val="C62828"/>
                </a:solidFill>
                <a:latin typeface="Calibri" pitchFamily="34" charset="0"/>
                <a:ea typeface="Calibri" pitchFamily="34" charset="-122"/>
                <a:cs typeface="Calibri" pitchFamily="34" charset="-120"/>
              </a:rPr>
              <a:t>(Down 13 overall; stable Adult Race masks clinic collapse.)</a:t>
            </a:r>
            <a:endParaRPr lang="en-US" sz="1000" dirty="0"/>
          </a:p>
        </p:txBody>
      </p:sp>
      <p:sp>
        <p:nvSpPr>
          <p:cNvPr id="8" name="Shape 6"/>
          <p:cNvSpPr/>
          <p:nvPr/>
        </p:nvSpPr>
        <p:spPr>
          <a:xfrm>
            <a:off x="4754880" y="2697480"/>
            <a:ext cx="4114800" cy="548640"/>
          </a:xfrm>
          <a:prstGeom prst="rect">
            <a:avLst/>
          </a:prstGeom>
          <a:solidFill>
            <a:srgbClr val="F5F5F5"/>
          </a:solidFill>
          <a:ln w="12700">
            <a:solidFill>
              <a:srgbClr val="222222"/>
            </a:solidFill>
            <a:prstDash val="solid"/>
          </a:ln>
        </p:spPr>
      </p:sp>
      <p:sp>
        <p:nvSpPr>
          <p:cNvPr id="9" name="Text 7"/>
          <p:cNvSpPr/>
          <p:nvPr/>
        </p:nvSpPr>
        <p:spPr>
          <a:xfrm>
            <a:off x="4846320" y="2697480"/>
            <a:ext cx="3931920" cy="54864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Adult Race </a:t>
            </a:r>
            <a:pPr indent="0" marL="0">
              <a:buNone/>
            </a:pPr>
            <a:r>
              <a:rPr lang="en-US" sz="1000" dirty="0">
                <a:solidFill>
                  <a:srgbClr val="222222"/>
                </a:solidFill>
                <a:latin typeface="Calibri" pitchFamily="34" charset="0"/>
                <a:ea typeface="Calibri" pitchFamily="34" charset="-122"/>
                <a:cs typeface="Calibri" pitchFamily="34" charset="-120"/>
              </a:rPr>
              <a:t>(Nearly flat at 822 (−0.1%); the portfolio anchor holds.)</a:t>
            </a:r>
            <a:endParaRPr lang="en-US" sz="1000" dirty="0"/>
          </a:p>
        </p:txBody>
      </p:sp>
      <p:sp>
        <p:nvSpPr>
          <p:cNvPr id="10" name="Shape 8"/>
          <p:cNvSpPr/>
          <p:nvPr/>
        </p:nvSpPr>
        <p:spPr>
          <a:xfrm>
            <a:off x="365760" y="3337560"/>
            <a:ext cx="4114800" cy="548640"/>
          </a:xfrm>
          <a:prstGeom prst="rect">
            <a:avLst/>
          </a:prstGeom>
          <a:solidFill>
            <a:srgbClr val="FDECEA"/>
          </a:solidFill>
          <a:ln w="12700">
            <a:solidFill>
              <a:srgbClr val="C62828"/>
            </a:solidFill>
            <a:prstDash val="solid"/>
          </a:ln>
        </p:spPr>
      </p:sp>
      <p:sp>
        <p:nvSpPr>
          <p:cNvPr id="11" name="Text 9"/>
          <p:cNvSpPr/>
          <p:nvPr/>
        </p:nvSpPr>
        <p:spPr>
          <a:xfrm>
            <a:off x="457200" y="3337560"/>
            <a:ext cx="3931920" cy="548640"/>
          </a:xfrm>
          <a:prstGeom prst="rect">
            <a:avLst/>
          </a:prstGeom>
          <a:noFill/>
          <a:ln/>
        </p:spPr>
        <p:txBody>
          <a:bodyPr wrap="square" rtlCol="0" anchor="ctr"/>
          <a:lstStyle/>
          <a:p>
            <a:pPr indent="0" marL="0">
              <a:buNone/>
            </a:pPr>
            <a:r>
              <a:rPr lang="en-US" sz="1000" b="1" dirty="0">
                <a:solidFill>
                  <a:srgbClr val="C62828"/>
                </a:solidFill>
                <a:latin typeface="Calibri" pitchFamily="34" charset="0"/>
                <a:ea typeface="Calibri" pitchFamily="34" charset="-122"/>
                <a:cs typeface="Calibri" pitchFamily="34" charset="-120"/>
              </a:rPr>
              <a:t>⚠ Adult Clinic </a:t>
            </a:r>
            <a:pPr indent="0" marL="0">
              <a:buNone/>
            </a:pPr>
            <a:r>
              <a:rPr lang="en-US" sz="1000" dirty="0">
                <a:solidFill>
                  <a:srgbClr val="C62828"/>
                </a:solidFill>
                <a:latin typeface="Calibri" pitchFamily="34" charset="0"/>
                <a:ea typeface="Calibri" pitchFamily="34" charset="-122"/>
                <a:cs typeface="Calibri" pitchFamily="34" charset="-120"/>
              </a:rPr>
              <a:t>(Plunged 13 (−13.4%); largest segment loss by far.)</a:t>
            </a:r>
            <a:endParaRPr lang="en-US" sz="1000" dirty="0"/>
          </a:p>
        </p:txBody>
      </p:sp>
      <p:sp>
        <p:nvSpPr>
          <p:cNvPr id="12" name="Shape 10"/>
          <p:cNvSpPr/>
          <p:nvPr/>
        </p:nvSpPr>
        <p:spPr>
          <a:xfrm>
            <a:off x="4754880" y="3337560"/>
            <a:ext cx="4114800" cy="548640"/>
          </a:xfrm>
          <a:prstGeom prst="rect">
            <a:avLst/>
          </a:prstGeom>
          <a:solidFill>
            <a:srgbClr val="F5F5F5"/>
          </a:solidFill>
          <a:ln w="12700">
            <a:solidFill>
              <a:srgbClr val="222222"/>
            </a:solidFill>
            <a:prstDash val="solid"/>
          </a:ln>
        </p:spPr>
      </p:sp>
      <p:sp>
        <p:nvSpPr>
          <p:cNvPr id="13" name="Text 11"/>
          <p:cNvSpPr/>
          <p:nvPr/>
        </p:nvSpPr>
        <p:spPr>
          <a:xfrm>
            <a:off x="4846320" y="3337560"/>
            <a:ext cx="3931920" cy="54864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 Youth Clinic </a:t>
            </a:r>
            <a:pPr indent="0" marL="0">
              <a:buNone/>
            </a:pPr>
            <a:r>
              <a:rPr lang="en-US" sz="1000" dirty="0">
                <a:solidFill>
                  <a:srgbClr val="222222"/>
                </a:solidFill>
                <a:latin typeface="Calibri" pitchFamily="34" charset="0"/>
                <a:ea typeface="Calibri" pitchFamily="34" charset="-122"/>
                <a:cs typeface="Calibri" pitchFamily="34" charset="-120"/>
              </a:rPr>
              <a:t>(Up 5 to 34; only bright spot in the mix.)</a:t>
            </a:r>
            <a:endParaRPr lang="en-US" sz="1000" dirty="0"/>
          </a:p>
        </p:txBody>
      </p:sp>
      <p:sp>
        <p:nvSpPr>
          <p:cNvPr id="14" name="Text 12"/>
          <p:cNvSpPr/>
          <p:nvPr/>
        </p:nvSpPr>
        <p:spPr>
          <a:xfrm>
            <a:off x="365760" y="4663440"/>
            <a:ext cx="8229600" cy="320040"/>
          </a:xfrm>
          <a:prstGeom prst="rect">
            <a:avLst/>
          </a:prstGeom>
          <a:noFill/>
          <a:ln/>
        </p:spPr>
        <p:txBody>
          <a:bodyPr wrap="square" rtlCol="0" anchor="ctr"/>
          <a:lstStyle/>
          <a:p>
            <a:pPr indent="0" marL="0">
              <a:buNone/>
            </a:pPr>
            <a:r>
              <a:rPr lang="en-US" sz="850" i="1" dirty="0">
                <a:solidFill>
                  <a:srgbClr val="FFAAAA"/>
                </a:solidFill>
                <a:latin typeface="Calibri" pitchFamily="34" charset="0"/>
                <a:ea typeface="Calibri" pitchFamily="34" charset="-122"/>
                <a:cs typeface="Calibri" pitchFamily="34" charset="-120"/>
              </a:rPr>
              <a:t>Data as of May 17, 2026  |  Excl. Cancelled / Declined / Deleted  |  ~85–90% event-level match confidence</a:t>
            </a:r>
            <a:endParaRPr lang="en-US" sz="850" dirty="0"/>
          </a:p>
        </p:txBody>
      </p:sp>
      <p:sp>
        <p:nvSpPr>
          <p:cNvPr id="15" name="Text 13"/>
          <p:cNvSpPr/>
          <p:nvPr/>
        </p:nvSpPr>
        <p:spPr>
          <a:xfrm>
            <a:off x="8458200" y="4919472"/>
            <a:ext cx="594360" cy="182880"/>
          </a:xfrm>
          <a:prstGeom prst="rect">
            <a:avLst/>
          </a:prstGeom>
          <a:noFill/>
          <a:ln/>
        </p:spPr>
        <p:txBody>
          <a:bodyPr wrap="square" rtlCol="0" anchor="ctr"/>
          <a:lstStyle/>
          <a:p>
            <a:pPr algn="r" indent="0" marL="0">
              <a:buNone/>
            </a:pPr>
            <a:r>
              <a:rPr lang="en-US" sz="850" dirty="0">
                <a:solidFill>
                  <a:srgbClr val="FFAAAA"/>
                </a:solidFill>
                <a:latin typeface="Calibri" pitchFamily="34" charset="0"/>
                <a:ea typeface="Calibri" pitchFamily="34" charset="-122"/>
                <a:cs typeface="Calibri" pitchFamily="34" charset="-120"/>
              </a:rPr>
              <a:t>1 / 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2222"/>
          </a:solidFill>
          <a:ln w="12700">
            <a:solidFill>
              <a:srgbClr val="222222"/>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0  —  What Changed? Event Counts by Type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2 / 8</a:t>
            </a:r>
            <a:endParaRPr lang="en-US" sz="9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8595360" cy="2487168"/>
        </p:xfrm>
        <a:graphic>
          <a:graphicData uri="http://schemas.openxmlformats.org/drawingml/2006/table">
            <a:tbl>
              <a:tblPr/>
              <a:tblGrid>
                <a:gridCol w="1432560"/>
                <a:gridCol w="1432560"/>
                <a:gridCol w="1432560"/>
                <a:gridCol w="1432560"/>
                <a:gridCol w="1432560"/>
                <a:gridCol w="1432560"/>
              </a:tblGrid>
              <a:tr h="402336">
                <a:tc>
                  <a:txBody>
                    <a:bodyPr/>
                    <a:lstStyle/>
                    <a:p>
                      <a:pPr algn="ctr" indent="0" marL="0">
                        <a:buNone/>
                      </a:pPr>
                      <a:r>
                        <a:rPr lang="en-US" sz="1000" b="1" dirty="0">
                          <a:solidFill>
                            <a:srgbClr val="FFFFFF"/>
                          </a:solidFill>
                        </a:rPr>
                        <a:t>Event Type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Delta Count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Delta %</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Read as...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402336">
                <a:tc>
                  <a:txBody>
                    <a:bodyPr/>
                    <a:lstStyle/>
                    <a:p>
                      <a:pPr algn="l" indent="0" marL="0">
                        <a:buNone/>
                      </a:pPr>
                      <a:r>
                        <a:rPr lang="en-US" sz="1000"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823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822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dirty="0">
                          <a:solidFill>
                            <a:srgbClr val="222222"/>
                          </a:solidFill>
                        </a:rPr>
                        <a:t>Essentially flat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402336">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dirty="0">
                          <a:solidFill>
                            <a:srgbClr val="222222"/>
                          </a:solidFill>
                        </a:rPr>
                        <a:t>Mild softness</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402336">
                <a:tc>
                  <a:txBody>
                    <a:bodyPr/>
                    <a:lstStyle/>
                    <a:p>
                      <a:pPr algn="l" indent="0" marL="0">
                        <a:buNone/>
                      </a:pPr>
                      <a:r>
                        <a:rPr lang="en-US" sz="1000" b="1" dirty="0">
                          <a:solidFill>
                            <a:srgbClr val="C62828"/>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97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84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b="1" dirty="0">
                          <a:solidFill>
                            <a:srgbClr val="C62828"/>
                          </a:solidFill>
                        </a:rPr>
                        <a:t>Structural contraction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402336">
                <a:tc>
                  <a:txBody>
                    <a:bodyPr/>
                    <a:lstStyle/>
                    <a:p>
                      <a:pPr algn="l" indent="0" marL="0">
                        <a:buNone/>
                      </a:pPr>
                      <a:r>
                        <a:rPr lang="en-US" sz="1000" b="1" dirty="0">
                          <a:solidFill>
                            <a:srgbClr val="1E7D34"/>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+17.2%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50" b="1" dirty="0">
                          <a:solidFill>
                            <a:srgbClr val="1E7D34"/>
                          </a:solidFill>
                        </a:rPr>
                        <a:t>Growing (+5)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402336">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Clinic drives the decline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6" name="Shape 3"/>
          <p:cNvSpPr/>
          <p:nvPr/>
        </p:nvSpPr>
        <p:spPr>
          <a:xfrm>
            <a:off x="274320" y="3310128"/>
            <a:ext cx="8595360" cy="1005840"/>
          </a:xfrm>
          <a:prstGeom prst="rect">
            <a:avLst/>
          </a:prstGeom>
          <a:solidFill>
            <a:srgbClr val="ECEFF1"/>
          </a:solidFill>
          <a:ln w="12700">
            <a:solidFill>
              <a:srgbClr val="CCCCCC"/>
            </a:solidFill>
            <a:prstDash val="solid"/>
          </a:ln>
        </p:spPr>
      </p:sp>
      <p:sp>
        <p:nvSpPr>
          <p:cNvPr id="7" name="Text 4"/>
          <p:cNvSpPr/>
          <p:nvPr/>
        </p:nvSpPr>
        <p:spPr>
          <a:xfrm>
            <a:off x="384048" y="3355848"/>
            <a:ext cx="8321040" cy="914400"/>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Narrative:  </a:t>
            </a:r>
            <a:pPr indent="0" marL="0">
              <a:buNone/>
            </a:pPr>
            <a:r>
              <a:rPr lang="en-US" sz="1000" dirty="0">
                <a:solidFill>
                  <a:srgbClr val="222222"/>
                </a:solidFill>
                <a:latin typeface="Calibri" pitchFamily="34" charset="0"/>
                <a:ea typeface="Calibri" pitchFamily="34" charset="-122"/>
                <a:cs typeface="Calibri" pitchFamily="34" charset="-120"/>
              </a:rPr>
              <a:t>Adult Clinics cratered −13% (97 → 84) while Youth Clinics grew +17%, signaling a portfolio quality problem, not a market absence. Races held firm; clinics didn't—and that split tells you where to dig.</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222222"/>
          </a:solidFill>
          <a:ln w="12700">
            <a:solidFill>
              <a:srgbClr val="222222"/>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1  —  Monthly Breakdown — July and August Drive the Declines</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3 / 8</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274320" y="694944"/>
          <a:ext cx="3108960" cy="3493008"/>
        </p:xfrm>
        <a:graphic>
          <a:graphicData uri="http://schemas.openxmlformats.org/drawingml/2006/table">
            <a:tbl>
              <a:tblPr/>
              <a:tblGrid>
                <a:gridCol w="777240"/>
                <a:gridCol w="777240"/>
                <a:gridCol w="777240"/>
                <a:gridCol w="777240"/>
              </a:tblGrid>
              <a:tr h="24688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2026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1000" b="1" dirty="0">
                          <a:solidFill>
                            <a:srgbClr val="FFFFFF"/>
                          </a:solidFill>
                        </a:rPr>
                        <a:t>Var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46888">
                <a:tc>
                  <a:txBody>
                    <a:bodyPr/>
                    <a:lstStyle/>
                    <a:p>
                      <a:pPr algn="l" indent="0" marL="0">
                        <a:buNone/>
                      </a:pPr>
                      <a:r>
                        <a:rPr lang="en-US" sz="1000" dirty="0">
                          <a:solidFill>
                            <a:srgbClr val="1E7D34"/>
                          </a:solidFill>
                        </a:rPr>
                        <a:t>Jan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Feb</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43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Mar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54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62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1E7D34"/>
                          </a:solidFill>
                        </a:rPr>
                        <a:t>Apr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76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1E7D34"/>
                          </a:solidFill>
                        </a:rPr>
                        <a:t>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142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146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Jun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209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219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C62828"/>
                          </a:solidFill>
                        </a:rPr>
                        <a:t>Jul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C62828"/>
                          </a:solidFill>
                        </a:rPr>
                        <a:t>Aug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Sep</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151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b="1" dirty="0">
                          <a:solidFill>
                            <a:srgbClr val="1E7D34"/>
                          </a:solidFill>
                        </a:rPr>
                        <a:t>Oct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dirty="0">
                          <a:solidFill>
                            <a:srgbClr val="222222"/>
                          </a:solidFill>
                        </a:rPr>
                        <a:t>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8E6C9"/>
                    </a:solidFill>
                  </a:tcPr>
                </a:tc>
                <a:tc>
                  <a:txBody>
                    <a:bodyPr/>
                    <a:lstStyle/>
                    <a:p>
                      <a:pPr algn="ctr" indent="0" marL="0">
                        <a:buNone/>
                      </a:pPr>
                      <a:r>
                        <a:rPr lang="en-US" sz="1000" b="1" dirty="0">
                          <a:solidFill>
                            <a:srgbClr val="1E7D34"/>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Nov</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46888">
                <a:tc>
                  <a:txBody>
                    <a:bodyPr/>
                    <a:lstStyle/>
                    <a:p>
                      <a:pPr algn="l" indent="0" marL="0">
                        <a:buNone/>
                      </a:pPr>
                      <a:r>
                        <a:rPr lang="en-US" sz="1000" dirty="0">
                          <a:solidFill>
                            <a:srgbClr val="222222"/>
                          </a:solidFill>
                        </a:rPr>
                        <a:t>Dec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r>
              <a:tr h="246888">
                <a:tc>
                  <a:txBody>
                    <a:bodyPr/>
                    <a:lstStyle/>
                    <a:p>
                      <a:pPr algn="ctr" indent="0" marL="0">
                        <a:buNone/>
                      </a:pPr>
                      <a:r>
                        <a:rPr lang="en-US" sz="1000" b="1" dirty="0">
                          <a:solidFill>
                            <a:srgbClr val="FFFFFF"/>
                          </a:solidFill>
                        </a:rPr>
                        <a:t>Full Year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6" name="Text 3"/>
          <p:cNvSpPr/>
          <p:nvPr/>
        </p:nvSpPr>
        <p:spPr>
          <a:xfrm>
            <a:off x="3566160" y="694944"/>
            <a:ext cx="5394960" cy="256032"/>
          </a:xfrm>
          <a:prstGeom prst="rect">
            <a:avLst/>
          </a:prstGeom>
          <a:noFill/>
          <a:ln/>
        </p:spPr>
        <p:txBody>
          <a:bodyPr wrap="square" rtlCol="0" anchor="ctr"/>
          <a:lstStyle/>
          <a:p>
            <a:pPr indent="0" marL="0">
              <a:buNone/>
            </a:pPr>
            <a:r>
              <a:rPr lang="en-US" sz="1100" b="1" dirty="0">
                <a:solidFill>
                  <a:srgbClr val="222222"/>
                </a:solidFill>
                <a:latin typeface="Calibri" pitchFamily="34" charset="0"/>
                <a:ea typeface="Calibri" pitchFamily="34" charset="-122"/>
                <a:cs typeface="Calibri" pitchFamily="34" charset="-120"/>
              </a:rPr>
              <a:t>Type Detail — July and August</a:t>
            </a:r>
            <a:endParaRPr lang="en-US" sz="11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3566160" y="987552"/>
          <a:ext cx="5394960" cy="1261872"/>
        </p:xfrm>
        <a:graphic>
          <a:graphicData uri="http://schemas.openxmlformats.org/drawingml/2006/table">
            <a:tbl>
              <a:tblPr/>
              <a:tblGrid>
                <a:gridCol w="899160"/>
                <a:gridCol w="899160"/>
                <a:gridCol w="899160"/>
                <a:gridCol w="899160"/>
                <a:gridCol w="899160"/>
                <a:gridCol w="899160"/>
              </a:tblGrid>
              <a:tr h="29260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92608">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92608">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92608">
                <a:tc>
                  <a:txBody>
                    <a:bodyPr/>
                    <a:lstStyle/>
                    <a:p>
                      <a:pPr algn="l" indent="0" marL="0">
                        <a:buNone/>
                      </a:pPr>
                      <a:r>
                        <a:rPr lang="en-US" sz="1000" b="1" dirty="0">
                          <a:solidFill>
                            <a:srgbClr val="222222"/>
                          </a:solidFill>
                        </a:rPr>
                        <a:t>Full Year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8" name="Shape 4"/>
          <p:cNvSpPr/>
          <p:nvPr/>
        </p:nvSpPr>
        <p:spPr>
          <a:xfrm>
            <a:off x="3566160" y="2340864"/>
            <a:ext cx="5394960" cy="658368"/>
          </a:xfrm>
          <a:prstGeom prst="rect">
            <a:avLst/>
          </a:prstGeom>
          <a:solidFill>
            <a:srgbClr val="FFCDD2"/>
          </a:solidFill>
          <a:ln w="12700">
            <a:solidFill>
              <a:srgbClr val="C62828"/>
            </a:solidFill>
            <a:prstDash val="solid"/>
          </a:ln>
        </p:spPr>
      </p:sp>
      <p:sp>
        <p:nvSpPr>
          <p:cNvPr id="9" name="Text 5"/>
          <p:cNvSpPr/>
          <p:nvPr/>
        </p:nvSpPr>
        <p:spPr>
          <a:xfrm>
            <a:off x="3630168" y="2340864"/>
            <a:ext cx="5266944" cy="658368"/>
          </a:xfrm>
          <a:prstGeom prst="rect">
            <a:avLst/>
          </a:prstGeom>
          <a:noFill/>
          <a:ln/>
        </p:spPr>
        <p:txBody>
          <a:bodyPr wrap="square"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July and August are driven by Youth Race and Adult Race — not clinic-related.</a:t>
            </a:r>
            <a:endParaRPr lang="en-US" sz="1000" dirty="0"/>
          </a:p>
        </p:txBody>
      </p:sp>
      <p:sp>
        <p:nvSpPr>
          <p:cNvPr id="10" name="Shape 6"/>
          <p:cNvSpPr/>
          <p:nvPr/>
        </p:nvSpPr>
        <p:spPr>
          <a:xfrm>
            <a:off x="3566160" y="3090672"/>
            <a:ext cx="5394960" cy="914400"/>
          </a:xfrm>
          <a:prstGeom prst="rect">
            <a:avLst/>
          </a:prstGeom>
          <a:solidFill>
            <a:srgbClr val="C8E6C9"/>
          </a:solidFill>
          <a:ln w="12700">
            <a:solidFill>
              <a:srgbClr val="1E7D34"/>
            </a:solidFill>
            <a:prstDash val="solid"/>
          </a:ln>
        </p:spPr>
      </p:sp>
      <p:sp>
        <p:nvSpPr>
          <p:cNvPr id="11" name="Text 7"/>
          <p:cNvSpPr/>
          <p:nvPr/>
        </p:nvSpPr>
        <p:spPr>
          <a:xfrm>
            <a:off x="3630168" y="3090672"/>
            <a:ext cx="5266944" cy="914400"/>
          </a:xfrm>
          <a:prstGeom prst="rect">
            <a:avLst/>
          </a:prstGeom>
          <a:noFill/>
          <a:ln/>
        </p:spPr>
        <p:txBody>
          <a:bodyPr wrap="square" rtlCol="0" anchor="ctr"/>
          <a:lstStyle/>
          <a:p>
            <a:pPr algn="ctr" indent="0" marL="0">
              <a:buNone/>
            </a:pPr>
            <a:r>
              <a:rPr lang="en-US" sz="1000" b="1" dirty="0">
                <a:solidFill>
                  <a:srgbClr val="1E7D34"/>
                </a:solidFill>
                <a:latin typeface="Calibri" pitchFamily="34" charset="0"/>
                <a:ea typeface="Calibri" pitchFamily="34" charset="-122"/>
                <a:cs typeface="Calibri" pitchFamily="34" charset="-120"/>
              </a:rPr>
              <a:t>October (+11) and June (+10) are the strongest months. Both show genuine organic strength plus new event additions.</a:t>
            </a:r>
            <a:endParaRPr lang="en-US" sz="1000" dirty="0"/>
          </a:p>
        </p:txBody>
      </p:sp>
      <p:sp>
        <p:nvSpPr>
          <p:cNvPr id="12" name="Shape 8"/>
          <p:cNvSpPr/>
          <p:nvPr/>
        </p:nvSpPr>
        <p:spPr>
          <a:xfrm>
            <a:off x="274320" y="4315968"/>
            <a:ext cx="8595360" cy="457200"/>
          </a:xfrm>
          <a:prstGeom prst="rect">
            <a:avLst/>
          </a:prstGeom>
          <a:solidFill>
            <a:srgbClr val="ECEFF1"/>
          </a:solidFill>
          <a:ln w="12700">
            <a:solidFill>
              <a:srgbClr val="CCCCCC"/>
            </a:solidFill>
            <a:prstDash val="solid"/>
          </a:ln>
        </p:spPr>
      </p:sp>
      <p:sp>
        <p:nvSpPr>
          <p:cNvPr id="13" name="Text 9"/>
          <p:cNvSpPr/>
          <p:nvPr/>
        </p:nvSpPr>
        <p:spPr>
          <a:xfrm>
            <a:off x="384048" y="4343400"/>
            <a:ext cx="8321040" cy="40233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July and August hemorrhaged −35 events combined (the real story), while October, June, and March each gained 8–11. Summer slump is real; fall recovery partially masks 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06064"/>
          </a:solidFill>
          <a:ln w="12700">
            <a:solidFill>
              <a:srgbClr val="006064"/>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2  —  Is This a Calendar Effect?  No — Not for July and August</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4 / 8</a:t>
            </a:r>
            <a:endParaRPr lang="en-US" sz="900" dirty="0"/>
          </a:p>
        </p:txBody>
      </p:sp>
      <p:sp>
        <p:nvSpPr>
          <p:cNvPr id="5" name="Shape 3"/>
          <p:cNvSpPr/>
          <p:nvPr/>
        </p:nvSpPr>
        <p:spPr>
          <a:xfrm>
            <a:off x="274320" y="694944"/>
            <a:ext cx="8595360" cy="566928"/>
          </a:xfrm>
          <a:prstGeom prst="rect">
            <a:avLst/>
          </a:prstGeom>
          <a:solidFill>
            <a:srgbClr val="FDECEA"/>
          </a:solidFill>
          <a:ln w="12700">
            <a:solidFill>
              <a:srgbClr val="C62828"/>
            </a:solidFill>
            <a:prstDash val="solid"/>
          </a:ln>
        </p:spPr>
      </p:sp>
      <p:sp>
        <p:nvSpPr>
          <p:cNvPr id="6" name="Text 4"/>
          <p:cNvSpPr/>
          <p:nvPr/>
        </p:nvSpPr>
        <p:spPr>
          <a:xfrm>
            <a:off x="420624" y="722376"/>
            <a:ext cx="8302752" cy="512064"/>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July and August had ZERO change in weekend days (Sat or Sun) between 2025 and 2026. There is no calendar explanation for the declines — they are fully organic.</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1353312"/>
          <a:ext cx="8595360" cy="2231136"/>
        </p:xfrm>
        <a:graphic>
          <a:graphicData uri="http://schemas.openxmlformats.org/drawingml/2006/table">
            <a:tbl>
              <a:tblPr/>
              <a:tblGrid>
                <a:gridCol w="1432560"/>
                <a:gridCol w="1432560"/>
                <a:gridCol w="1432560"/>
                <a:gridCol w="1432560"/>
                <a:gridCol w="1432560"/>
                <a:gridCol w="1432560"/>
              </a:tblGrid>
              <a:tr h="338328">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Delta Weekend Days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Calendar Expected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Actual Delta</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Organic Delta</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Interpretation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r>
              <a:tr h="338328">
                <a:tc>
                  <a:txBody>
                    <a:bodyPr/>
                    <a:lstStyle/>
                    <a:p>
                      <a:pPr algn="l" indent="0" marL="0">
                        <a:buNone/>
                      </a:pPr>
                      <a:r>
                        <a:rPr lang="en-US" sz="1000" b="1" dirty="0">
                          <a:solidFill>
                            <a:srgbClr val="1E7D34"/>
                          </a:solidFill>
                        </a:rPr>
                        <a:t>March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−5.4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dirty="0">
                          <a:solidFill>
                            <a:srgbClr val="1E7D34"/>
                          </a:solidFill>
                        </a:rPr>
                        <a:t>Genuine organic strength</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l" indent="0" marL="0">
                        <a:buNone/>
                      </a:pPr>
                      <a:r>
                        <a:rPr lang="en-US" sz="1000" b="1" dirty="0">
                          <a:solidFill>
                            <a:srgbClr val="C62828"/>
                          </a:solidFill>
                        </a:rPr>
                        <a:t>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+15.8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E7D34"/>
                          </a:solidFill>
                        </a:rPr>
                        <a:t>+4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Looks +4 raw -- actually −11.8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38328">
                <a:tc>
                  <a:txBody>
                    <a:bodyPr/>
                    <a:lstStyle/>
                    <a:p>
                      <a:pPr algn="l" indent="0" marL="0">
                        <a:buNone/>
                      </a:pPr>
                      <a:r>
                        <a:rPr lang="en-US" sz="1000" b="1" dirty="0">
                          <a:solidFill>
                            <a:srgbClr val="1E7D34"/>
                          </a:solidFill>
                        </a:rPr>
                        <a:t>June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565C0"/>
                          </a:solidFill>
                        </a:rPr>
                        <a:t>-1 day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−23.2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dirty="0">
                          <a:solidFill>
                            <a:srgbClr val="1E7D34"/>
                          </a:solidFill>
                        </a:rPr>
                        <a:t>Genuine organic strength</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38328">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None (0)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Zero calendar cover -- full decline is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38328">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1565C0"/>
                          </a:solidFill>
                        </a:rPr>
                        <a:t>None (0)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565C0"/>
                          </a:solidFill>
                        </a:rPr>
                        <a:t>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b="1" dirty="0">
                          <a:solidFill>
                            <a:srgbClr val="1E7D34"/>
                          </a:solidFill>
                        </a:rPr>
                        <a:t>−19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l" indent="0" marL="0">
                        <a:buNone/>
                      </a:pPr>
                      <a:r>
                        <a:rPr lang="en-US" sz="900" b="1" dirty="0">
                          <a:solidFill>
                            <a:srgbClr val="C62828"/>
                          </a:solidFill>
                        </a:rPr>
                        <a:t>Zero calendar cover -- full decline is organic</a:t>
                      </a:r>
                      <a:endParaRPr lang="en-US" sz="9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bl>
          </a:graphicData>
        </a:graphic>
      </p:graphicFrame>
      <p:sp>
        <p:nvSpPr>
          <p:cNvPr id="8" name="Shape 5"/>
          <p:cNvSpPr/>
          <p:nvPr/>
        </p:nvSpPr>
        <p:spPr>
          <a:xfrm>
            <a:off x="274320" y="3675888"/>
            <a:ext cx="4160520" cy="566928"/>
          </a:xfrm>
          <a:prstGeom prst="rect">
            <a:avLst/>
          </a:prstGeom>
          <a:solidFill>
            <a:srgbClr val="E3F2FD"/>
          </a:solidFill>
          <a:ln w="12700">
            <a:solidFill>
              <a:srgbClr val="1565C0"/>
            </a:solidFill>
            <a:prstDash val="solid"/>
          </a:ln>
        </p:spPr>
      </p:sp>
      <p:sp>
        <p:nvSpPr>
          <p:cNvPr id="9" name="Text 6"/>
          <p:cNvSpPr/>
          <p:nvPr/>
        </p:nvSpPr>
        <p:spPr>
          <a:xfrm>
            <a:off x="384048" y="3694176"/>
            <a:ext cx="3931920" cy="530352"/>
          </a:xfrm>
          <a:prstGeom prst="rect">
            <a:avLst/>
          </a:prstGeom>
          <a:noFill/>
          <a:ln/>
        </p:spPr>
        <p:txBody>
          <a:bodyPr wrap="square" rtlCol="0" anchor="ctr"/>
          <a:lstStyle/>
          <a:p>
            <a:pPr indent="0" marL="0">
              <a:buNone/>
            </a:pPr>
            <a:r>
              <a:rPr lang="en-US" sz="950" dirty="0">
                <a:solidFill>
                  <a:srgbClr val="1565C0"/>
                </a:solidFill>
                <a:latin typeface="Calibri" pitchFamily="34" charset="0"/>
                <a:ea typeface="Calibri" pitchFamily="34" charset="-122"/>
                <a:cs typeface="Calibri" pitchFamily="34" charset="-120"/>
              </a:rPr>
              <a:t>Event shifting (123 events, 10%) explains a small share of monthly net changes.</a:t>
            </a:r>
            <a:endParaRPr lang="en-US" sz="950" dirty="0"/>
          </a:p>
        </p:txBody>
      </p:sp>
      <p:sp>
        <p:nvSpPr>
          <p:cNvPr id="10" name="Shape 7"/>
          <p:cNvSpPr/>
          <p:nvPr/>
        </p:nvSpPr>
        <p:spPr>
          <a:xfrm>
            <a:off x="4617720" y="3675888"/>
            <a:ext cx="4251960" cy="566928"/>
          </a:xfrm>
          <a:prstGeom prst="rect">
            <a:avLst/>
          </a:prstGeom>
          <a:solidFill>
            <a:srgbClr val="FFF8E1"/>
          </a:solidFill>
          <a:ln w="12700">
            <a:solidFill>
              <a:srgbClr val="E65100"/>
            </a:solidFill>
            <a:prstDash val="solid"/>
          </a:ln>
        </p:spPr>
      </p:sp>
      <p:sp>
        <p:nvSpPr>
          <p:cNvPr id="11" name="Text 8"/>
          <p:cNvSpPr/>
          <p:nvPr/>
        </p:nvSpPr>
        <p:spPr>
          <a:xfrm>
            <a:off x="4727448" y="3694176"/>
            <a:ext cx="4023360" cy="530352"/>
          </a:xfrm>
          <a:prstGeom prst="rect">
            <a:avLst/>
          </a:prstGeom>
          <a:noFill/>
          <a:ln/>
        </p:spPr>
        <p:txBody>
          <a:bodyPr wrap="square" rtlCol="0" anchor="ctr"/>
          <a:lstStyle/>
          <a:p>
            <a:pPr indent="0" marL="0">
              <a:buNone/>
            </a:pPr>
            <a:r>
              <a:rPr lang="en-US" sz="950" dirty="0">
                <a:solidFill>
                  <a:srgbClr val="E65100"/>
                </a:solidFill>
                <a:latin typeface="Calibri" pitchFamily="34" charset="0"/>
                <a:ea typeface="Calibri" pitchFamily="34" charset="-122"/>
                <a:cs typeface="Calibri" pitchFamily="34" charset="-120"/>
              </a:rPr>
              <a:t>May distortion: raw +4 masks −11.8 organic. Calendar effect was +15.8.</a:t>
            </a:r>
            <a:endParaRPr lang="en-US" sz="950" dirty="0"/>
          </a:p>
        </p:txBody>
      </p:sp>
      <p:sp>
        <p:nvSpPr>
          <p:cNvPr id="12" name="Shape 9"/>
          <p:cNvSpPr/>
          <p:nvPr/>
        </p:nvSpPr>
        <p:spPr>
          <a:xfrm>
            <a:off x="274320" y="4352544"/>
            <a:ext cx="8595360" cy="457200"/>
          </a:xfrm>
          <a:prstGeom prst="rect">
            <a:avLst/>
          </a:prstGeom>
          <a:solidFill>
            <a:srgbClr val="ECEFF1"/>
          </a:solidFill>
          <a:ln w="12700">
            <a:solidFill>
              <a:srgbClr val="CCCCCC"/>
            </a:solidFill>
            <a:prstDash val="solid"/>
          </a:ln>
        </p:spPr>
      </p:sp>
      <p:sp>
        <p:nvSpPr>
          <p:cNvPr id="13" name="Text 10"/>
          <p:cNvSpPr/>
          <p:nvPr/>
        </p:nvSpPr>
        <p:spPr>
          <a:xfrm>
            <a:off x="384048" y="4379976"/>
            <a:ext cx="8321040" cy="40233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Calendar effects explain only part of the July/August drop; organic loss is −35, not some artifact of holiday timing. 2026's July 4th Saturday shift and Labor Day delay matter less than execution problems in those months.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4A148C"/>
          </a:solidFill>
          <a:ln w="12700">
            <a:solidFill>
              <a:srgbClr val="4A148C"/>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3  —  Organic Performance -- True Signal After Removing Calendar Noise</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5 / 8</a:t>
            </a:r>
            <a:endParaRPr lang="en-US" sz="900" dirty="0"/>
          </a:p>
        </p:txBody>
      </p:sp>
      <p:sp>
        <p:nvSpPr>
          <p:cNvPr id="5" name="Text 3"/>
          <p:cNvSpPr/>
          <p:nvPr/>
        </p:nvSpPr>
        <p:spPr>
          <a:xfrm>
            <a:off x="274320" y="694944"/>
            <a:ext cx="8595360" cy="237744"/>
          </a:xfrm>
          <a:prstGeom prst="rect">
            <a:avLst/>
          </a:prstGeom>
          <a:noFill/>
          <a:ln/>
        </p:spPr>
        <p:txBody>
          <a:bodyPr wrap="square" rtlCol="0" anchor="ctr"/>
          <a:lstStyle/>
          <a:p>
            <a:pPr indent="0" marL="0">
              <a:buNone/>
            </a:pPr>
            <a:r>
              <a:rPr lang="en-US" sz="1100" dirty="0">
                <a:solidFill>
                  <a:srgbClr val="222222"/>
                </a:solidFill>
                <a:latin typeface="Calibri" pitchFamily="34" charset="0"/>
                <a:ea typeface="Calibri" pitchFamily="34" charset="-122"/>
                <a:cs typeface="Calibri" pitchFamily="34" charset="-120"/>
              </a:rPr>
              <a:t>Once calendar effects are stripped, the real performance picture: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969264"/>
          <a:ext cx="8595360" cy="1828800"/>
        </p:xfrm>
        <a:graphic>
          <a:graphicData uri="http://schemas.openxmlformats.org/drawingml/2006/table">
            <a:tbl>
              <a:tblPr/>
              <a:tblGrid>
                <a:gridCol w="1719072"/>
                <a:gridCol w="1719072"/>
                <a:gridCol w="1719072"/>
                <a:gridCol w="1719072"/>
                <a:gridCol w="1719072"/>
              </a:tblGrid>
              <a:tr h="329184">
                <a:tc>
                  <a:txBody>
                    <a:bodyPr/>
                    <a:lstStyle/>
                    <a:p>
                      <a:pPr algn="ctr" indent="0" marL="0">
                        <a:buNone/>
                      </a:pPr>
                      <a:r>
                        <a:rPr lang="en-US" sz="1050" b="1" dirty="0">
                          <a:solidFill>
                            <a:srgbClr val="FFFFFF"/>
                          </a:solidFill>
                        </a:rPr>
                        <a:t>Event Type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Raw Delta</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Calendar Effect</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Organic Delta</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c>
                  <a:txBody>
                    <a:bodyPr/>
                    <a:lstStyle/>
                    <a:p>
                      <a:pPr algn="ctr" indent="0" marL="0">
                        <a:buNone/>
                      </a:pPr>
                      <a:r>
                        <a:rPr lang="en-US" sz="1050" b="1" dirty="0">
                          <a:solidFill>
                            <a:srgbClr val="FFFFFF"/>
                          </a:solidFill>
                        </a:rPr>
                        <a:t>Organic %</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4A148C"/>
                    </a:solidFill>
                  </a:tcPr>
                </a:tc>
              </a:tr>
              <a:tr h="329184">
                <a:tc>
                  <a:txBody>
                    <a:bodyPr/>
                    <a:lstStyle/>
                    <a:p>
                      <a:pPr algn="l" indent="0" marL="0">
                        <a:buNone/>
                      </a:pPr>
                      <a:r>
                        <a:rPr lang="en-US" sz="1050" dirty="0">
                          <a:solidFill>
                            <a:srgbClr val="222222"/>
                          </a:solidFill>
                        </a:rPr>
                        <a:t>Adult Race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50" dirty="0">
                          <a:solidFill>
                            <a:srgbClr val="1E7D34"/>
                          </a:solidFill>
                        </a:rPr>
                        <a:t>−1</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−2.4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+1.4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1E7D34"/>
                          </a:solidFill>
                        </a:rPr>
                        <a:t>+0.2%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329184">
                <a:tc>
                  <a:txBody>
                    <a:bodyPr/>
                    <a:lstStyle/>
                    <a:p>
                      <a:pPr algn="l" indent="0" marL="0">
                        <a:buNone/>
                      </a:pPr>
                      <a:r>
                        <a:rPr lang="en-US" sz="1050" dirty="0">
                          <a:solidFill>
                            <a:srgbClr val="222222"/>
                          </a:solidFill>
                        </a:rPr>
                        <a:t>Youth Race</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7D34"/>
                          </a:solidFill>
                        </a:rPr>
                        <a:t>−4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−1.2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−2.8</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C62828"/>
                          </a:solidFill>
                        </a:rPr>
                        <a:t>-1.2%</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329184">
                <a:tc>
                  <a:txBody>
                    <a:bodyPr/>
                    <a:lstStyle/>
                    <a:p>
                      <a:pPr algn="l" indent="0" marL="0">
                        <a:buNone/>
                      </a:pPr>
                      <a:r>
                        <a:rPr lang="en-US" sz="1050" b="1" dirty="0">
                          <a:solidFill>
                            <a:srgbClr val="C62828"/>
                          </a:solidFill>
                        </a:rPr>
                        <a:t>Adult Clinic</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50" b="1" dirty="0">
                          <a:solidFill>
                            <a:srgbClr val="1E7D34"/>
                          </a:solidFill>
                        </a:rPr>
                        <a:t>−13</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−2.0</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b="1" dirty="0">
                          <a:solidFill>
                            <a:srgbClr val="1E7D34"/>
                          </a:solidFill>
                        </a:rPr>
                        <a:t>−11.0</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b="1" dirty="0">
                          <a:solidFill>
                            <a:srgbClr val="C62828"/>
                          </a:solidFill>
                        </a:rPr>
                        <a:t>-11.3%</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r>
              <a:tr h="329184">
                <a:tc>
                  <a:txBody>
                    <a:bodyPr/>
                    <a:lstStyle/>
                    <a:p>
                      <a:pPr algn="l" indent="0" marL="0">
                        <a:buNone/>
                      </a:pPr>
                      <a:r>
                        <a:rPr lang="en-US" sz="1050" b="1" dirty="0">
                          <a:solidFill>
                            <a:srgbClr val="1E7D34"/>
                          </a:solidFill>
                        </a:rPr>
                        <a:t>Youth Clinic</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1E7D34"/>
                          </a:solidFill>
                        </a:rPr>
                        <a:t>+5</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dirty="0">
                          <a:solidFill>
                            <a:srgbClr val="E65100"/>
                          </a:solidFill>
                        </a:rPr>
                        <a:t>−0.6</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50" dirty="0">
                          <a:solidFill>
                            <a:srgbClr val="1E7D34"/>
                          </a:solidFill>
                        </a:rPr>
                        <a:t>+5.6</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50" b="1" dirty="0">
                          <a:solidFill>
                            <a:srgbClr val="1E7D34"/>
                          </a:solidFill>
                        </a:rPr>
                        <a:t>+19.4%</a:t>
                      </a:r>
                      <a:endParaRPr lang="en-US" sz="10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7" name="Shape 4"/>
          <p:cNvSpPr/>
          <p:nvPr/>
        </p:nvSpPr>
        <p:spPr>
          <a:xfrm>
            <a:off x="274320" y="2889504"/>
            <a:ext cx="8595360" cy="402336"/>
          </a:xfrm>
          <a:prstGeom prst="rect">
            <a:avLst/>
          </a:prstGeom>
          <a:solidFill>
            <a:srgbClr val="E3F2FD"/>
          </a:solidFill>
          <a:ln w="12700">
            <a:solidFill>
              <a:srgbClr val="1565C0"/>
            </a:solidFill>
            <a:prstDash val="solid"/>
          </a:ln>
        </p:spPr>
      </p:sp>
      <p:sp>
        <p:nvSpPr>
          <p:cNvPr id="8" name="Text 5"/>
          <p:cNvSpPr/>
          <p:nvPr/>
        </p:nvSpPr>
        <p:spPr>
          <a:xfrm>
            <a:off x="384048" y="2907792"/>
            <a:ext cx="8321040" cy="365760"/>
          </a:xfrm>
          <a:prstGeom prst="rect">
            <a:avLst/>
          </a:prstGeom>
          <a:noFill/>
          <a:ln/>
        </p:spPr>
        <p:txBody>
          <a:bodyPr wrap="square" rtlCol="0" anchor="ctr"/>
          <a:lstStyle/>
          <a:p>
            <a:pPr indent="0" marL="0">
              <a:buNone/>
            </a:pPr>
            <a:r>
              <a:rPr lang="en-US" sz="950" i="1" dirty="0">
                <a:solidFill>
                  <a:srgbClr val="1565C0"/>
                </a:solidFill>
                <a:latin typeface="Calibri" pitchFamily="34" charset="0"/>
                <a:ea typeface="Calibri" pitchFamily="34" charset="-122"/>
                <a:cs typeface="Calibri" pitchFamily="34" charset="-120"/>
              </a:rPr>
              <a:t>Organic Delta = Actual Delta - Calendar Expected Delta.   Calendar effect = Delta weekend days x 2025 events-per-weekend-day for that month &amp; type.</a:t>
            </a:r>
            <a:endParaRPr lang="en-US" sz="950" dirty="0"/>
          </a:p>
        </p:txBody>
      </p:sp>
      <p:sp>
        <p:nvSpPr>
          <p:cNvPr id="9" name="Shape 6"/>
          <p:cNvSpPr/>
          <p:nvPr/>
        </p:nvSpPr>
        <p:spPr>
          <a:xfrm>
            <a:off x="274320" y="3218688"/>
            <a:ext cx="4160520" cy="713232"/>
          </a:xfrm>
          <a:prstGeom prst="rect">
            <a:avLst/>
          </a:prstGeom>
          <a:solidFill>
            <a:srgbClr val="FDECEA"/>
          </a:solidFill>
          <a:ln w="12700">
            <a:solidFill>
              <a:srgbClr val="C62828"/>
            </a:solidFill>
            <a:prstDash val="solid"/>
          </a:ln>
        </p:spPr>
      </p:sp>
      <p:sp>
        <p:nvSpPr>
          <p:cNvPr id="10" name="Text 7"/>
          <p:cNvSpPr/>
          <p:nvPr/>
        </p:nvSpPr>
        <p:spPr>
          <a:xfrm>
            <a:off x="384048" y="3246120"/>
            <a:ext cx="3931920" cy="676656"/>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Adult Clinic: −11.3% organic
</a:t>
            </a:r>
            <a:pPr indent="0" marL="0">
              <a:buNone/>
            </a:pPr>
            <a:r>
              <a:rPr lang="en-US" sz="950" dirty="0">
                <a:solidFill>
                  <a:srgbClr val="C62828"/>
                </a:solidFill>
                <a:latin typeface="Calibri" pitchFamily="34" charset="0"/>
                <a:ea typeface="Calibri" pitchFamily="34" charset="-122"/>
                <a:cs typeface="Calibri" pitchFamily="34" charset="-120"/>
              </a:rPr>
              <a:t>Organic delta −11.0 (-11.3%). Calendar noise cannot explain it.</a:t>
            </a:r>
            <a:endParaRPr lang="en-US" sz="950" dirty="0"/>
          </a:p>
        </p:txBody>
      </p:sp>
      <p:sp>
        <p:nvSpPr>
          <p:cNvPr id="11" name="Shape 8"/>
          <p:cNvSpPr/>
          <p:nvPr/>
        </p:nvSpPr>
        <p:spPr>
          <a:xfrm>
            <a:off x="4617720" y="3218688"/>
            <a:ext cx="4251960" cy="713232"/>
          </a:xfrm>
          <a:prstGeom prst="rect">
            <a:avLst/>
          </a:prstGeom>
          <a:solidFill>
            <a:srgbClr val="E8F5E9"/>
          </a:solidFill>
          <a:ln w="12700">
            <a:solidFill>
              <a:srgbClr val="1E7D34"/>
            </a:solidFill>
            <a:prstDash val="solid"/>
          </a:ln>
        </p:spPr>
      </p:sp>
      <p:sp>
        <p:nvSpPr>
          <p:cNvPr id="12" name="Text 9"/>
          <p:cNvSpPr/>
          <p:nvPr/>
        </p:nvSpPr>
        <p:spPr>
          <a:xfrm>
            <a:off x="4727448" y="3246120"/>
            <a:ext cx="4023360" cy="676656"/>
          </a:xfrm>
          <a:prstGeom prst="rect">
            <a:avLst/>
          </a:prstGeom>
          <a:noFill/>
          <a:ln/>
        </p:spPr>
        <p:txBody>
          <a:bodyPr wrap="square" rtlCol="0" anchor="ctr"/>
          <a:lstStyle/>
          <a:p>
            <a:pPr indent="0" marL="0">
              <a:buNone/>
            </a:pPr>
            <a:r>
              <a:rPr lang="en-US" sz="1050" b="1" dirty="0">
                <a:solidFill>
                  <a:srgbClr val="1E7D34"/>
                </a:solidFill>
                <a:latin typeface="Calibri" pitchFamily="34" charset="0"/>
                <a:ea typeface="Calibri" pitchFamily="34" charset="-122"/>
                <a:cs typeface="Calibri" pitchFamily="34" charset="-120"/>
              </a:rPr>
              <a:t>Youth Clinic: +19.4% organic
</a:t>
            </a:r>
            <a:pPr indent="0" marL="0">
              <a:buNone/>
            </a:pPr>
            <a:r>
              <a:rPr lang="en-US" sz="950" dirty="0">
                <a:solidFill>
                  <a:srgbClr val="1E7D34"/>
                </a:solidFill>
                <a:latin typeface="Calibri" pitchFamily="34" charset="0"/>
                <a:ea typeface="Calibri" pitchFamily="34" charset="-122"/>
                <a:cs typeface="Calibri" pitchFamily="34" charset="-120"/>
              </a:rPr>
              <a:t>Organic delta +5.6 (+19.4%) -- no calendar help required.</a:t>
            </a:r>
            <a:endParaRPr lang="en-US" sz="950" dirty="0"/>
          </a:p>
        </p:txBody>
      </p:sp>
      <p:sp>
        <p:nvSpPr>
          <p:cNvPr id="13" name="Text 10"/>
          <p:cNvSpPr/>
          <p:nvPr/>
        </p:nvSpPr>
        <p:spPr>
          <a:xfrm>
            <a:off x="274320" y="4041648"/>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Best &amp; worst organic months (calendar-adjusted):</a:t>
            </a:r>
            <a:endParaRPr lang="en-US" sz="10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274320" y="4315968"/>
          <a:ext cx="8595360" cy="603504"/>
        </p:xfrm>
        <a:graphic>
          <a:graphicData uri="http://schemas.openxmlformats.org/drawingml/2006/table">
            <a:tbl>
              <a:tblPr/>
              <a:tblGrid>
                <a:gridCol w="1719072"/>
                <a:gridCol w="1719072"/>
                <a:gridCol w="1719072"/>
                <a:gridCol w="1719072"/>
                <a:gridCol w="1719072"/>
              </a:tblGrid>
              <a:tr h="283464">
                <a:tc>
                  <a:txBody>
                    <a:bodyPr/>
                    <a:lstStyle/>
                    <a:p>
                      <a:pPr algn="ctr" indent="0" marL="0">
                        <a:buNone/>
                      </a:pPr>
                      <a:r>
                        <a:rPr lang="en-US" sz="1000" b="1" dirty="0">
                          <a:solidFill>
                            <a:srgbClr val="FFFFFF"/>
                          </a:solidFill>
                        </a:rPr>
                        <a:t>Strongest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Jun +33.2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Mar +13.4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Jan +5.8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Apr +5.0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r>
              <a:tr h="283464">
                <a:tc>
                  <a:txBody>
                    <a:bodyPr/>
                    <a:lstStyle/>
                    <a:p>
                      <a:pPr algn="ctr" indent="0" marL="0">
                        <a:buNone/>
                      </a:pPr>
                      <a:r>
                        <a:rPr lang="en-US" sz="1000" b="1" dirty="0">
                          <a:solidFill>
                            <a:srgbClr val="FFFFFF"/>
                          </a:solidFill>
                        </a:rPr>
                        <a:t>Weakest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Aug −19.0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Jul −16.0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May −11.8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Feb −9.0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r>
            </a:tbl>
          </a:graphicData>
        </a:graphic>
      </p:graphicFrame>
      <p:sp>
        <p:nvSpPr>
          <p:cNvPr id="15" name="Shape 11"/>
          <p:cNvSpPr/>
          <p:nvPr/>
        </p:nvSpPr>
        <p:spPr>
          <a:xfrm>
            <a:off x="274320" y="4974336"/>
            <a:ext cx="8595360" cy="128016"/>
          </a:xfrm>
          <a:prstGeom prst="rect">
            <a:avLst/>
          </a:prstGeom>
          <a:solidFill>
            <a:srgbClr val="ECEFF1"/>
          </a:solidFill>
          <a:ln w="12700">
            <a:solidFill>
              <a:srgbClr val="CCCCCC"/>
            </a:solidFill>
            <a:prstDash val="solid"/>
          </a:ln>
        </p:spPr>
      </p:sp>
      <p:sp>
        <p:nvSpPr>
          <p:cNvPr id="16" name="Text 12"/>
          <p:cNvSpPr/>
          <p:nvPr/>
        </p:nvSpPr>
        <p:spPr>
          <a:xfrm>
            <a:off x="384048" y="4983480"/>
            <a:ext cx="8321040" cy="109728"/>
          </a:xfrm>
          <a:prstGeom prst="rect">
            <a:avLst/>
          </a:prstGeom>
          <a:noFill/>
          <a:ln/>
        </p:spPr>
        <p:txBody>
          <a:bodyPr wrap="square" rtlCol="0" anchor="ctr"/>
          <a:lstStyle/>
          <a:p>
            <a:pPr indent="0" marL="0">
              <a:buNone/>
            </a:pPr>
            <a:r>
              <a:rPr lang="en-US" sz="850" dirty="0">
                <a:solidFill>
                  <a:srgbClr val="222222"/>
                </a:solidFill>
                <a:latin typeface="Calibri" pitchFamily="34" charset="0"/>
                <a:ea typeface="Calibri" pitchFamily="34" charset="-122"/>
                <a:cs typeface="Calibri" pitchFamily="34" charset="-120"/>
              </a:rPr>
              <a:t>Adult Clinics' organic loss is −11% (calendar adds back only 2 percentage points), proving the decline is behavioral, not calendrical. Youth Clinics' +19% organic gain is genuine—and should be scaled immediately.</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37474F"/>
          </a:solidFill>
          <a:ln w="12700">
            <a:solidFill>
              <a:srgbClr val="37474F"/>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4  —  Did We Really Lose Events?  Event-Level Disposition</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6 / 8</a:t>
            </a:r>
            <a:endParaRPr lang="en-US" sz="900" dirty="0"/>
          </a:p>
        </p:txBody>
      </p:sp>
      <p:sp>
        <p:nvSpPr>
          <p:cNvPr id="5" name="Shape 3"/>
          <p:cNvSpPr/>
          <p:nvPr/>
        </p:nvSpPr>
        <p:spPr>
          <a:xfrm>
            <a:off x="274320" y="694944"/>
            <a:ext cx="2029968" cy="1152144"/>
          </a:xfrm>
          <a:prstGeom prst="rect">
            <a:avLst/>
          </a:prstGeom>
          <a:solidFill>
            <a:srgbClr val="E8F5E9"/>
          </a:solidFill>
          <a:ln w="12700">
            <a:solidFill>
              <a:srgbClr val="1E7D34"/>
            </a:solidFill>
            <a:prstDash val="solid"/>
          </a:ln>
        </p:spPr>
      </p:sp>
      <p:sp>
        <p:nvSpPr>
          <p:cNvPr id="6" name="Text 4"/>
          <p:cNvSpPr/>
          <p:nvPr/>
        </p:nvSpPr>
        <p:spPr>
          <a:xfrm>
            <a:off x="274320" y="722376"/>
            <a:ext cx="2029968" cy="475488"/>
          </a:xfrm>
          <a:prstGeom prst="rect">
            <a:avLst/>
          </a:prstGeom>
          <a:noFill/>
          <a:ln/>
        </p:spPr>
        <p:txBody>
          <a:bodyPr wrap="square" rtlCol="0" anchor="ctr"/>
          <a:lstStyle/>
          <a:p>
            <a:pPr algn="ctr" indent="0" marL="0">
              <a:buNone/>
            </a:pPr>
            <a:r>
              <a:rPr lang="en-US" sz="2700" b="1" dirty="0">
                <a:solidFill>
                  <a:srgbClr val="1E7D34"/>
                </a:solidFill>
                <a:latin typeface="Calibri" pitchFamily="34" charset="0"/>
                <a:ea typeface="Calibri" pitchFamily="34" charset="-122"/>
                <a:cs typeface="Calibri" pitchFamily="34" charset="-120"/>
              </a:rPr>
              <a:t>746</a:t>
            </a:r>
            <a:endParaRPr lang="en-US" sz="2700" dirty="0"/>
          </a:p>
        </p:txBody>
      </p:sp>
      <p:sp>
        <p:nvSpPr>
          <p:cNvPr id="7" name="Text 5"/>
          <p:cNvSpPr/>
          <p:nvPr/>
        </p:nvSpPr>
        <p:spPr>
          <a:xfrm>
            <a:off x="274320" y="1161288"/>
            <a:ext cx="2029968" cy="201168"/>
          </a:xfrm>
          <a:prstGeom prst="rect">
            <a:avLst/>
          </a:prstGeom>
          <a:noFill/>
          <a:ln/>
        </p:spPr>
        <p:txBody>
          <a:bodyPr wrap="square" rtlCol="0" anchor="ctr"/>
          <a:lstStyle/>
          <a:p>
            <a:pPr algn="ctr" indent="0" marL="0">
              <a:buNone/>
            </a:pPr>
            <a:r>
              <a:rPr lang="en-US" sz="900" i="1" dirty="0">
                <a:solidFill>
                  <a:srgbClr val="1E7D34"/>
                </a:solidFill>
                <a:latin typeface="Calibri" pitchFamily="34" charset="0"/>
                <a:ea typeface="Calibri" pitchFamily="34" charset="-122"/>
                <a:cs typeface="Calibri" pitchFamily="34" charset="-120"/>
              </a:rPr>
              <a:t>63% of 2025</a:t>
            </a:r>
            <a:endParaRPr lang="en-US" sz="900" dirty="0"/>
          </a:p>
        </p:txBody>
      </p:sp>
      <p:sp>
        <p:nvSpPr>
          <p:cNvPr id="8" name="Text 6"/>
          <p:cNvSpPr/>
          <p:nvPr/>
        </p:nvSpPr>
        <p:spPr>
          <a:xfrm>
            <a:off x="274320" y="1344168"/>
            <a:ext cx="2029968" cy="201168"/>
          </a:xfrm>
          <a:prstGeom prst="rect">
            <a:avLst/>
          </a:prstGeom>
          <a:noFill/>
          <a:ln/>
        </p:spPr>
        <p:txBody>
          <a:bodyPr wrap="square" rtlCol="0" anchor="ctr"/>
          <a:lstStyle/>
          <a:p>
            <a:pPr algn="ctr" indent="0" marL="0">
              <a:buNone/>
            </a:pPr>
            <a:r>
              <a:rPr lang="en-US" sz="1000" b="1" dirty="0">
                <a:solidFill>
                  <a:srgbClr val="1E7D34"/>
                </a:solidFill>
                <a:latin typeface="Calibri" pitchFamily="34" charset="0"/>
                <a:ea typeface="Calibri" pitchFamily="34" charset="-122"/>
                <a:cs typeface="Calibri" pitchFamily="34" charset="-120"/>
              </a:rPr>
              <a:t>Retained</a:t>
            </a:r>
            <a:endParaRPr lang="en-US" sz="1000" dirty="0"/>
          </a:p>
        </p:txBody>
      </p:sp>
      <p:sp>
        <p:nvSpPr>
          <p:cNvPr id="9" name="Text 7"/>
          <p:cNvSpPr/>
          <p:nvPr/>
        </p:nvSpPr>
        <p:spPr>
          <a:xfrm>
            <a:off x="274320"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Same event, same month</a:t>
            </a:r>
            <a:endParaRPr lang="en-US" sz="850" dirty="0"/>
          </a:p>
        </p:txBody>
      </p:sp>
      <p:sp>
        <p:nvSpPr>
          <p:cNvPr id="10" name="Shape 8"/>
          <p:cNvSpPr/>
          <p:nvPr/>
        </p:nvSpPr>
        <p:spPr>
          <a:xfrm>
            <a:off x="2450592" y="694944"/>
            <a:ext cx="2029968" cy="1152144"/>
          </a:xfrm>
          <a:prstGeom prst="rect">
            <a:avLst/>
          </a:prstGeom>
          <a:solidFill>
            <a:srgbClr val="FFF8E1"/>
          </a:solidFill>
          <a:ln w="12700">
            <a:solidFill>
              <a:srgbClr val="E65100"/>
            </a:solidFill>
            <a:prstDash val="solid"/>
          </a:ln>
        </p:spPr>
      </p:sp>
      <p:sp>
        <p:nvSpPr>
          <p:cNvPr id="11" name="Text 9"/>
          <p:cNvSpPr/>
          <p:nvPr/>
        </p:nvSpPr>
        <p:spPr>
          <a:xfrm>
            <a:off x="2450592" y="722376"/>
            <a:ext cx="2029968" cy="475488"/>
          </a:xfrm>
          <a:prstGeom prst="rect">
            <a:avLst/>
          </a:prstGeom>
          <a:noFill/>
          <a:ln/>
        </p:spPr>
        <p:txBody>
          <a:bodyPr wrap="square" rtlCol="0" anchor="ctr"/>
          <a:lstStyle/>
          <a:p>
            <a:pPr algn="ctr" indent="0" marL="0">
              <a:buNone/>
            </a:pPr>
            <a:r>
              <a:rPr lang="en-US" sz="2700" b="1" dirty="0">
                <a:solidFill>
                  <a:srgbClr val="E65100"/>
                </a:solidFill>
                <a:latin typeface="Calibri" pitchFamily="34" charset="0"/>
                <a:ea typeface="Calibri" pitchFamily="34" charset="-122"/>
                <a:cs typeface="Calibri" pitchFamily="34" charset="-120"/>
              </a:rPr>
              <a:t>123</a:t>
            </a:r>
            <a:endParaRPr lang="en-US" sz="2700" dirty="0"/>
          </a:p>
        </p:txBody>
      </p:sp>
      <p:sp>
        <p:nvSpPr>
          <p:cNvPr id="12" name="Text 10"/>
          <p:cNvSpPr/>
          <p:nvPr/>
        </p:nvSpPr>
        <p:spPr>
          <a:xfrm>
            <a:off x="2450592" y="1161288"/>
            <a:ext cx="2029968" cy="201168"/>
          </a:xfrm>
          <a:prstGeom prst="rect">
            <a:avLst/>
          </a:prstGeom>
          <a:noFill/>
          <a:ln/>
        </p:spPr>
        <p:txBody>
          <a:bodyPr wrap="square" rtlCol="0" anchor="ctr"/>
          <a:lstStyle/>
          <a:p>
            <a:pPr algn="ctr" indent="0" marL="0">
              <a:buNone/>
            </a:pPr>
            <a:r>
              <a:rPr lang="en-US" sz="900" i="1" dirty="0">
                <a:solidFill>
                  <a:srgbClr val="E65100"/>
                </a:solidFill>
                <a:latin typeface="Calibri" pitchFamily="34" charset="0"/>
                <a:ea typeface="Calibri" pitchFamily="34" charset="-122"/>
                <a:cs typeface="Calibri" pitchFamily="34" charset="-120"/>
              </a:rPr>
              <a:t>10% of 2025</a:t>
            </a:r>
            <a:endParaRPr lang="en-US" sz="900" dirty="0"/>
          </a:p>
        </p:txBody>
      </p:sp>
      <p:sp>
        <p:nvSpPr>
          <p:cNvPr id="13" name="Text 11"/>
          <p:cNvSpPr/>
          <p:nvPr/>
        </p:nvSpPr>
        <p:spPr>
          <a:xfrm>
            <a:off x="2450592" y="1344168"/>
            <a:ext cx="2029968" cy="201168"/>
          </a:xfrm>
          <a:prstGeom prst="rect">
            <a:avLst/>
          </a:prstGeom>
          <a:noFill/>
          <a:ln/>
        </p:spPr>
        <p:txBody>
          <a:bodyPr wrap="square" rtlCol="0" anchor="ctr"/>
          <a:lstStyle/>
          <a:p>
            <a:pPr algn="ctr" indent="0" marL="0">
              <a:buNone/>
            </a:pPr>
            <a:r>
              <a:rPr lang="en-US" sz="1000" b="1" dirty="0">
                <a:solidFill>
                  <a:srgbClr val="E65100"/>
                </a:solidFill>
                <a:latin typeface="Calibri" pitchFamily="34" charset="0"/>
                <a:ea typeface="Calibri" pitchFamily="34" charset="-122"/>
                <a:cs typeface="Calibri" pitchFamily="34" charset="-120"/>
              </a:rPr>
              <a:t>Shifted</a:t>
            </a:r>
            <a:endParaRPr lang="en-US" sz="1000" dirty="0"/>
          </a:p>
        </p:txBody>
      </p:sp>
      <p:sp>
        <p:nvSpPr>
          <p:cNvPr id="14" name="Text 12"/>
          <p:cNvSpPr/>
          <p:nvPr/>
        </p:nvSpPr>
        <p:spPr>
          <a:xfrm>
            <a:off x="2450592"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Same event, diff month</a:t>
            </a:r>
            <a:endParaRPr lang="en-US" sz="850" dirty="0"/>
          </a:p>
        </p:txBody>
      </p:sp>
      <p:sp>
        <p:nvSpPr>
          <p:cNvPr id="15" name="Shape 13"/>
          <p:cNvSpPr/>
          <p:nvPr/>
        </p:nvSpPr>
        <p:spPr>
          <a:xfrm>
            <a:off x="4626864" y="694944"/>
            <a:ext cx="2029968" cy="1152144"/>
          </a:xfrm>
          <a:prstGeom prst="rect">
            <a:avLst/>
          </a:prstGeom>
          <a:solidFill>
            <a:srgbClr val="FFCDD2"/>
          </a:solidFill>
          <a:ln w="12700">
            <a:solidFill>
              <a:srgbClr val="C62828"/>
            </a:solidFill>
            <a:prstDash val="solid"/>
          </a:ln>
        </p:spPr>
      </p:sp>
      <p:sp>
        <p:nvSpPr>
          <p:cNvPr id="16" name="Text 14"/>
          <p:cNvSpPr/>
          <p:nvPr/>
        </p:nvSpPr>
        <p:spPr>
          <a:xfrm>
            <a:off x="4626864" y="722376"/>
            <a:ext cx="2029968" cy="475488"/>
          </a:xfrm>
          <a:prstGeom prst="rect">
            <a:avLst/>
          </a:prstGeom>
          <a:noFill/>
          <a:ln/>
        </p:spPr>
        <p:txBody>
          <a:bodyPr wrap="square" rtlCol="0" anchor="ctr"/>
          <a:lstStyle/>
          <a:p>
            <a:pPr algn="ctr" indent="0" marL="0">
              <a:buNone/>
            </a:pPr>
            <a:r>
              <a:rPr lang="en-US" sz="2700" b="1" dirty="0">
                <a:solidFill>
                  <a:srgbClr val="C62828"/>
                </a:solidFill>
                <a:latin typeface="Calibri" pitchFamily="34" charset="0"/>
                <a:ea typeface="Calibri" pitchFamily="34" charset="-122"/>
                <a:cs typeface="Calibri" pitchFamily="34" charset="-120"/>
              </a:rPr>
              <a:t>296</a:t>
            </a:r>
            <a:endParaRPr lang="en-US" sz="2700" dirty="0"/>
          </a:p>
        </p:txBody>
      </p:sp>
      <p:sp>
        <p:nvSpPr>
          <p:cNvPr id="17" name="Text 15"/>
          <p:cNvSpPr/>
          <p:nvPr/>
        </p:nvSpPr>
        <p:spPr>
          <a:xfrm>
            <a:off x="4626864" y="1161288"/>
            <a:ext cx="2029968" cy="201168"/>
          </a:xfrm>
          <a:prstGeom prst="rect">
            <a:avLst/>
          </a:prstGeom>
          <a:noFill/>
          <a:ln/>
        </p:spPr>
        <p:txBody>
          <a:bodyPr wrap="square" rtlCol="0" anchor="ctr"/>
          <a:lstStyle/>
          <a:p>
            <a:pPr algn="ctr" indent="0" marL="0">
              <a:buNone/>
            </a:pPr>
            <a:r>
              <a:rPr lang="en-US" sz="900" i="1" dirty="0">
                <a:solidFill>
                  <a:srgbClr val="C62828"/>
                </a:solidFill>
                <a:latin typeface="Calibri" pitchFamily="34" charset="0"/>
                <a:ea typeface="Calibri" pitchFamily="34" charset="-122"/>
                <a:cs typeface="Calibri" pitchFamily="34" charset="-120"/>
              </a:rPr>
              <a:t>25% of 2025</a:t>
            </a:r>
            <a:endParaRPr lang="en-US" sz="900" dirty="0"/>
          </a:p>
        </p:txBody>
      </p:sp>
      <p:sp>
        <p:nvSpPr>
          <p:cNvPr id="18" name="Text 16"/>
          <p:cNvSpPr/>
          <p:nvPr/>
        </p:nvSpPr>
        <p:spPr>
          <a:xfrm>
            <a:off x="4626864" y="1344168"/>
            <a:ext cx="2029968" cy="201168"/>
          </a:xfrm>
          <a:prstGeom prst="rect">
            <a:avLst/>
          </a:prstGeom>
          <a:noFill/>
          <a:ln/>
        </p:spPr>
        <p:txBody>
          <a:bodyPr wrap="square" rtlCol="0" anchor="ctr"/>
          <a:lstStyle/>
          <a:p>
            <a:pPr algn="ctr" indent="0" marL="0">
              <a:buNone/>
            </a:pPr>
            <a:r>
              <a:rPr lang="en-US" sz="1000" b="1" dirty="0">
                <a:solidFill>
                  <a:srgbClr val="C62828"/>
                </a:solidFill>
                <a:latin typeface="Calibri" pitchFamily="34" charset="0"/>
                <a:ea typeface="Calibri" pitchFamily="34" charset="-122"/>
                <a:cs typeface="Calibri" pitchFamily="34" charset="-120"/>
              </a:rPr>
              <a:t>Lost</a:t>
            </a:r>
            <a:endParaRPr lang="en-US" sz="1000" dirty="0"/>
          </a:p>
        </p:txBody>
      </p:sp>
      <p:sp>
        <p:nvSpPr>
          <p:cNvPr id="19" name="Text 17"/>
          <p:cNvSpPr/>
          <p:nvPr/>
        </p:nvSpPr>
        <p:spPr>
          <a:xfrm>
            <a:off x="4626864"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Did not return to 2026</a:t>
            </a:r>
            <a:endParaRPr lang="en-US" sz="850" dirty="0"/>
          </a:p>
        </p:txBody>
      </p:sp>
      <p:sp>
        <p:nvSpPr>
          <p:cNvPr id="20" name="Shape 18"/>
          <p:cNvSpPr/>
          <p:nvPr/>
        </p:nvSpPr>
        <p:spPr>
          <a:xfrm>
            <a:off x="6803136" y="694944"/>
            <a:ext cx="2029968" cy="1152144"/>
          </a:xfrm>
          <a:prstGeom prst="rect">
            <a:avLst/>
          </a:prstGeom>
          <a:solidFill>
            <a:srgbClr val="E3F2FD"/>
          </a:solidFill>
          <a:ln w="12700">
            <a:solidFill>
              <a:srgbClr val="1565C0"/>
            </a:solidFill>
            <a:prstDash val="solid"/>
          </a:ln>
        </p:spPr>
      </p:sp>
      <p:sp>
        <p:nvSpPr>
          <p:cNvPr id="21" name="Text 19"/>
          <p:cNvSpPr/>
          <p:nvPr/>
        </p:nvSpPr>
        <p:spPr>
          <a:xfrm>
            <a:off x="6803136" y="722376"/>
            <a:ext cx="2029968" cy="475488"/>
          </a:xfrm>
          <a:prstGeom prst="rect">
            <a:avLst/>
          </a:prstGeom>
          <a:noFill/>
          <a:ln/>
        </p:spPr>
        <p:txBody>
          <a:bodyPr wrap="square" rtlCol="0" anchor="ctr"/>
          <a:lstStyle/>
          <a:p>
            <a:pPr algn="ctr" indent="0" marL="0">
              <a:buNone/>
            </a:pPr>
            <a:r>
              <a:rPr lang="en-US" sz="2700" b="1" dirty="0">
                <a:solidFill>
                  <a:srgbClr val="1565C0"/>
                </a:solidFill>
                <a:latin typeface="Calibri" pitchFamily="34" charset="0"/>
                <a:ea typeface="Calibri" pitchFamily="34" charset="-122"/>
                <a:cs typeface="Calibri" pitchFamily="34" charset="-120"/>
              </a:rPr>
              <a:t>265</a:t>
            </a:r>
            <a:endParaRPr lang="en-US" sz="2700" dirty="0"/>
          </a:p>
        </p:txBody>
      </p:sp>
      <p:sp>
        <p:nvSpPr>
          <p:cNvPr id="22" name="Text 20"/>
          <p:cNvSpPr/>
          <p:nvPr/>
        </p:nvSpPr>
        <p:spPr>
          <a:xfrm>
            <a:off x="6803136" y="1161288"/>
            <a:ext cx="2029968" cy="201168"/>
          </a:xfrm>
          <a:prstGeom prst="rect">
            <a:avLst/>
          </a:prstGeom>
          <a:noFill/>
          <a:ln/>
        </p:spPr>
        <p:txBody>
          <a:bodyPr wrap="square" rtlCol="0" anchor="ctr"/>
          <a:lstStyle/>
          <a:p>
            <a:pPr algn="ctr" indent="0" marL="0">
              <a:buNone/>
            </a:pPr>
            <a:r>
              <a:rPr lang="en-US" sz="900" i="1" dirty="0">
                <a:solidFill>
                  <a:srgbClr val="1565C0"/>
                </a:solidFill>
                <a:latin typeface="Calibri" pitchFamily="34" charset="0"/>
                <a:ea typeface="Calibri" pitchFamily="34" charset="-122"/>
                <a:cs typeface="Calibri" pitchFamily="34" charset="-120"/>
              </a:rPr>
              <a:t>22% of 2025</a:t>
            </a:r>
            <a:endParaRPr lang="en-US" sz="900" dirty="0"/>
          </a:p>
        </p:txBody>
      </p:sp>
      <p:sp>
        <p:nvSpPr>
          <p:cNvPr id="23" name="Text 21"/>
          <p:cNvSpPr/>
          <p:nvPr/>
        </p:nvSpPr>
        <p:spPr>
          <a:xfrm>
            <a:off x="6803136" y="1344168"/>
            <a:ext cx="2029968" cy="201168"/>
          </a:xfrm>
          <a:prstGeom prst="rect">
            <a:avLst/>
          </a:prstGeom>
          <a:noFill/>
          <a:ln/>
        </p:spPr>
        <p:txBody>
          <a:bodyPr wrap="square" rtlCol="0" anchor="ctr"/>
          <a:lstStyle/>
          <a:p>
            <a:pPr algn="ctr" indent="0" marL="0">
              <a:buNone/>
            </a:pPr>
            <a:r>
              <a:rPr lang="en-US" sz="1000" b="1" dirty="0">
                <a:solidFill>
                  <a:srgbClr val="1565C0"/>
                </a:solidFill>
                <a:latin typeface="Calibri" pitchFamily="34" charset="0"/>
                <a:ea typeface="Calibri" pitchFamily="34" charset="-122"/>
                <a:cs typeface="Calibri" pitchFamily="34" charset="-120"/>
              </a:rPr>
              <a:t>New</a:t>
            </a:r>
            <a:endParaRPr lang="en-US" sz="1000" dirty="0"/>
          </a:p>
        </p:txBody>
      </p:sp>
      <p:sp>
        <p:nvSpPr>
          <p:cNvPr id="24" name="Text 22"/>
          <p:cNvSpPr/>
          <p:nvPr/>
        </p:nvSpPr>
        <p:spPr>
          <a:xfrm>
            <a:off x="6803136" y="1527048"/>
            <a:ext cx="2029968" cy="256032"/>
          </a:xfrm>
          <a:prstGeom prst="rect">
            <a:avLst/>
          </a:prstGeom>
          <a:noFill/>
          <a:ln/>
        </p:spPr>
        <p:txBody>
          <a:bodyPr wrap="square" rtlCol="0" anchor="ctr"/>
          <a:lstStyle/>
          <a:p>
            <a:pPr algn="ctr" indent="0" marL="0">
              <a:buNone/>
            </a:pPr>
            <a:r>
              <a:rPr lang="en-US" sz="850" dirty="0">
                <a:solidFill>
                  <a:srgbClr val="555555"/>
                </a:solidFill>
                <a:latin typeface="Calibri" pitchFamily="34" charset="0"/>
                <a:ea typeface="Calibri" pitchFamily="34" charset="-122"/>
                <a:cs typeface="Calibri" pitchFamily="34" charset="-120"/>
              </a:rPr>
              <a:t>Brand new to 2026</a:t>
            </a:r>
            <a:endParaRPr lang="en-US" sz="850" dirty="0"/>
          </a:p>
        </p:txBody>
      </p:sp>
      <p:sp>
        <p:nvSpPr>
          <p:cNvPr id="25" name="Text 23"/>
          <p:cNvSpPr/>
          <p:nvPr/>
        </p:nvSpPr>
        <p:spPr>
          <a:xfrm>
            <a:off x="274320" y="1920240"/>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Replacement Rates -- selected months:</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2194560"/>
          <a:ext cx="8595360" cy="1261872"/>
        </p:xfrm>
        <a:graphic>
          <a:graphicData uri="http://schemas.openxmlformats.org/drawingml/2006/table">
            <a:tbl>
              <a:tblPr/>
              <a:tblGrid>
                <a:gridCol w="955040"/>
                <a:gridCol w="955040"/>
                <a:gridCol w="955040"/>
                <a:gridCol w="955040"/>
                <a:gridCol w="955040"/>
                <a:gridCol w="955040"/>
                <a:gridCol w="955040"/>
                <a:gridCol w="955040"/>
                <a:gridCol w="955040"/>
              </a:tblGrid>
              <a:tr h="347472">
                <a:tc>
                  <a:txBody>
                    <a:bodyPr/>
                    <a:lstStyle/>
                    <a:p>
                      <a:pPr algn="ctr" indent="0" marL="0">
                        <a:buNone/>
                      </a:pPr>
                      <a:r>
                        <a:rPr lang="en-US" sz="1000" b="1" dirty="0">
                          <a:solidFill>
                            <a:srgbClr val="FFFFFF"/>
                          </a:solidFill>
                        </a:rPr>
                        <a:t>Month</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2025</a:t>
                      </a:r>
                      <a:endParaRPr lang="en-US" sz="1000" dirty="0"/>
                    </a:p>
                    <a:p>
                      <a:pPr algn="ctr" indent="0" marL="0">
                        <a:buNone/>
                      </a:pPr>
                      <a:r>
                        <a:rPr lang="en-US" sz="1000" b="1" dirty="0">
                          <a:solidFill>
                            <a:srgbClr val="FFFFFF"/>
                          </a:solidFill>
                        </a:rPr>
                        <a:t>Events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Retained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7D34"/>
                    </a:solidFill>
                  </a:tcPr>
                </a:tc>
                <a:tc>
                  <a:txBody>
                    <a:bodyPr/>
                    <a:lstStyle/>
                    <a:p>
                      <a:pPr algn="ctr" indent="0" marL="0">
                        <a:buNone/>
                      </a:pPr>
                      <a:r>
                        <a:rPr lang="en-US" sz="1000" b="1" dirty="0">
                          <a:solidFill>
                            <a:srgbClr val="FFFFFF"/>
                          </a:solidFill>
                        </a:rPr>
                        <a:t>Shifted</a:t>
                      </a:r>
                      <a:endParaRPr lang="en-US" sz="1000" dirty="0"/>
                    </a:p>
                    <a:p>
                      <a:pPr algn="ctr" indent="0" marL="0">
                        <a:buNone/>
                      </a:pPr>
                      <a:r>
                        <a:rPr lang="en-US" sz="1000" b="1" dirty="0">
                          <a:solidFill>
                            <a:srgbClr val="FFFFFF"/>
                          </a:solidFill>
                        </a:rPr>
                        <a:t>Out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65100"/>
                    </a:solidFill>
                  </a:tcPr>
                </a:tc>
                <a:tc>
                  <a:txBody>
                    <a:bodyPr/>
                    <a:lstStyle/>
                    <a:p>
                      <a:pPr algn="ctr" indent="0" marL="0">
                        <a:buNone/>
                      </a:pPr>
                      <a:r>
                        <a:rPr lang="en-US" sz="1000" b="1" dirty="0">
                          <a:solidFill>
                            <a:srgbClr val="FFFFFF"/>
                          </a:solidFill>
                        </a:rPr>
                        <a:t>Lost</a:t>
                      </a:r>
                      <a:endParaRPr lang="en-US" sz="1000" dirty="0"/>
                    </a:p>
                    <a:p>
                      <a:pPr algn="ctr" indent="0" marL="0">
                        <a:buNone/>
                      </a:pPr>
                      <a:r>
                        <a:rPr lang="en-US" sz="1000" b="1" dirty="0">
                          <a:solidFill>
                            <a:srgbClr val="FFFFFF"/>
                          </a:solidFill>
                        </a:rPr>
                        <a:t>(truly lost)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1000" b="1" dirty="0">
                          <a:solidFill>
                            <a:srgbClr val="FFFFFF"/>
                          </a:solidFill>
                        </a:rPr>
                        <a:t>Shifted</a:t>
                      </a:r>
                      <a:endParaRPr lang="en-US" sz="1000" dirty="0"/>
                    </a:p>
                    <a:p>
                      <a:pPr algn="ctr" indent="0" marL="0">
                        <a:buNone/>
                      </a:pPr>
                      <a:r>
                        <a:rPr lang="en-US" sz="1000" b="1" dirty="0">
                          <a:solidFill>
                            <a:srgbClr val="FFFFFF"/>
                          </a:solidFill>
                        </a:rPr>
                        <a:t>In</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000" b="1" dirty="0">
                          <a:solidFill>
                            <a:srgbClr val="FFFFFF"/>
                          </a:solidFill>
                        </a:rPr>
                        <a:t>New</a:t>
                      </a:r>
                      <a:endParaRPr lang="en-US" sz="1000" dirty="0"/>
                    </a:p>
                    <a:p>
                      <a:pPr algn="ctr" indent="0" marL="0">
                        <a:buNone/>
                      </a:pPr>
                      <a:r>
                        <a:rPr lang="en-US" sz="1000" b="1" dirty="0">
                          <a:solidFill>
                            <a:srgbClr val="FFFFFF"/>
                          </a:solidFill>
                        </a:rPr>
                        <a:t>Added</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565C0"/>
                    </a:solidFill>
                  </a:tcPr>
                </a:tc>
                <a:tc>
                  <a:txBody>
                    <a:bodyPr/>
                    <a:lstStyle/>
                    <a:p>
                      <a:pPr algn="ctr" indent="0" marL="0">
                        <a:buNone/>
                      </a:pPr>
                      <a:r>
                        <a:rPr lang="en-US" sz="1000" b="1" dirty="0">
                          <a:solidFill>
                            <a:srgbClr val="FFFFFF"/>
                          </a:solidFill>
                        </a:rPr>
                        <a:t>2026</a:t>
                      </a:r>
                      <a:endParaRPr lang="en-US" sz="1000" dirty="0"/>
                    </a:p>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Repl.</a:t>
                      </a:r>
                      <a:endParaRPr lang="en-US" sz="1000" dirty="0"/>
                    </a:p>
                    <a:p>
                      <a:pPr algn="ctr" indent="0" marL="0">
                        <a:buNone/>
                      </a:pPr>
                      <a:r>
                        <a:rPr lang="en-US" sz="1000" b="1" dirty="0">
                          <a:solidFill>
                            <a:srgbClr val="FFFFFF"/>
                          </a:solidFill>
                        </a:rPr>
                        <a:t>Rate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347472">
                <a:tc>
                  <a:txBody>
                    <a:bodyPr/>
                    <a:lstStyle/>
                    <a:p>
                      <a:pPr algn="l" indent="0" marL="0">
                        <a:buNone/>
                      </a:pPr>
                      <a:r>
                        <a:rPr lang="en-US" sz="1000" b="1" dirty="0">
                          <a:solidFill>
                            <a:srgbClr val="C62828"/>
                          </a:solidFill>
                        </a:rPr>
                        <a:t>August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220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56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201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70%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47472">
                <a:tc>
                  <a:txBody>
                    <a:bodyPr/>
                    <a:lstStyle/>
                    <a:p>
                      <a:pPr algn="l" indent="0" marL="0">
                        <a:buNone/>
                      </a:pPr>
                      <a:r>
                        <a:rPr lang="en-US" sz="1000" b="1" dirty="0">
                          <a:solidFill>
                            <a:srgbClr val="C62828"/>
                          </a:solidFill>
                        </a:rPr>
                        <a:t>July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222222"/>
                          </a:solidFill>
                        </a:rPr>
                        <a:t>181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E7D34"/>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49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165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78%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347472">
                <a:tc>
                  <a:txBody>
                    <a:bodyPr/>
                    <a:lstStyle/>
                    <a:p>
                      <a:pPr algn="l" indent="0" marL="0">
                        <a:buNone/>
                      </a:pPr>
                      <a:r>
                        <a:rPr lang="en-US" sz="1000" b="1" dirty="0">
                          <a:solidFill>
                            <a:srgbClr val="1E7D34"/>
                          </a:solidFill>
                        </a:rPr>
                        <a:t>October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222222"/>
                          </a:solidFill>
                        </a:rPr>
                        <a:t>60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42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E65100"/>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E1"/>
                    </a:solidFill>
                  </a:tcPr>
                </a:tc>
                <a:tc>
                  <a:txBody>
                    <a:bodyPr/>
                    <a:lstStyle/>
                    <a:p>
                      <a:pPr algn="ctr" indent="0" marL="0">
                        <a:buNone/>
                      </a:pPr>
                      <a:r>
                        <a:rPr lang="en-US" sz="1000" b="1" dirty="0">
                          <a:solidFill>
                            <a:srgbClr val="C62828"/>
                          </a:solidFill>
                        </a:rPr>
                        <a:t>17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1565C0"/>
                          </a:solidFill>
                        </a:rPr>
                        <a:t>10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1565C0"/>
                          </a:solidFill>
                        </a:rPr>
                        <a:t>14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3F2FD"/>
                    </a:solidFill>
                  </a:tcPr>
                </a:tc>
                <a:tc>
                  <a:txBody>
                    <a:bodyPr/>
                    <a:lstStyle/>
                    <a:p>
                      <a:pPr algn="ctr" indent="0" marL="0">
                        <a:buNone/>
                      </a:pPr>
                      <a:r>
                        <a:rPr lang="en-US" sz="1000" dirty="0">
                          <a:solidFill>
                            <a:srgbClr val="222222"/>
                          </a:solidFill>
                        </a:rPr>
                        <a:t>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&gt;100%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27" name="Shape 24"/>
          <p:cNvSpPr/>
          <p:nvPr/>
        </p:nvSpPr>
        <p:spPr>
          <a:xfrm>
            <a:off x="274320" y="3547872"/>
            <a:ext cx="4160520" cy="548640"/>
          </a:xfrm>
          <a:prstGeom prst="rect">
            <a:avLst/>
          </a:prstGeom>
          <a:solidFill>
            <a:srgbClr val="F3E5F5"/>
          </a:solidFill>
          <a:ln w="12700">
            <a:solidFill>
              <a:srgbClr val="6A1B9A"/>
            </a:solidFill>
            <a:prstDash val="solid"/>
          </a:ln>
        </p:spPr>
      </p:sp>
      <p:sp>
        <p:nvSpPr>
          <p:cNvPr id="28" name="Text 25"/>
          <p:cNvSpPr/>
          <p:nvPr/>
        </p:nvSpPr>
        <p:spPr>
          <a:xfrm>
            <a:off x="384048" y="3566160"/>
            <a:ext cx="3931920" cy="512064"/>
          </a:xfrm>
          <a:prstGeom prst="rect">
            <a:avLst/>
          </a:prstGeom>
          <a:noFill/>
          <a:ln/>
        </p:spPr>
        <p:txBody>
          <a:bodyPr wrap="square" rtlCol="0" anchor="ctr"/>
          <a:lstStyle/>
          <a:p>
            <a:pPr indent="0" marL="0">
              <a:buNone/>
            </a:pPr>
            <a:r>
              <a:rPr lang="en-US" sz="950" dirty="0">
                <a:solidFill>
                  <a:srgbClr val="6A1B9A"/>
                </a:solidFill>
                <a:latin typeface="Calibri" pitchFamily="34" charset="0"/>
                <a:ea typeface="Calibri" pitchFamily="34" charset="-122"/>
                <a:cs typeface="Calibri" pitchFamily="34" charset="-120"/>
              </a:rPr>
              <a:t>13 events Tried to Return -- filed a 2026 application but were cancelled/declined. 31 events Recovered -- cancelled in 2025 but came back in 2026.</a:t>
            </a:r>
            <a:endParaRPr lang="en-US" sz="950" dirty="0"/>
          </a:p>
        </p:txBody>
      </p:sp>
      <p:sp>
        <p:nvSpPr>
          <p:cNvPr id="29" name="Shape 26"/>
          <p:cNvSpPr/>
          <p:nvPr/>
        </p:nvSpPr>
        <p:spPr>
          <a:xfrm>
            <a:off x="4617720" y="3547872"/>
            <a:ext cx="4251960" cy="548640"/>
          </a:xfrm>
          <a:prstGeom prst="rect">
            <a:avLst/>
          </a:prstGeom>
          <a:solidFill>
            <a:srgbClr val="ECEFF1"/>
          </a:solidFill>
          <a:ln w="12700">
            <a:solidFill>
              <a:srgbClr val="555555"/>
            </a:solidFill>
            <a:prstDash val="solid"/>
          </a:ln>
        </p:spPr>
      </p:sp>
      <p:sp>
        <p:nvSpPr>
          <p:cNvPr id="30" name="Text 27"/>
          <p:cNvSpPr/>
          <p:nvPr/>
        </p:nvSpPr>
        <p:spPr>
          <a:xfrm>
            <a:off x="4727448" y="3566160"/>
            <a:ext cx="4023360" cy="512064"/>
          </a:xfrm>
          <a:prstGeom prst="rect">
            <a:avLst/>
          </a:prstGeom>
          <a:noFill/>
          <a:ln/>
        </p:spPr>
        <p:txBody>
          <a:bodyPr wrap="square" rtlCol="0" anchor="ctr"/>
          <a:lstStyle/>
          <a:p>
            <a:pPr indent="0" marL="0">
              <a:buNone/>
            </a:pPr>
            <a:r>
              <a:rPr lang="en-US" sz="950" dirty="0">
                <a:solidFill>
                  <a:srgbClr val="222222"/>
                </a:solidFill>
                <a:latin typeface="Calibri" pitchFamily="34" charset="0"/>
                <a:ea typeface="Calibri" pitchFamily="34" charset="-122"/>
                <a:cs typeface="Calibri" pitchFamily="34" charset="-120"/>
              </a:rPr>
              <a:t>Overall replacement: 296 new/recovered vs 296 truly lost -- 100% gross replacement.</a:t>
            </a:r>
            <a:endParaRPr lang="en-US" sz="950" dirty="0"/>
          </a:p>
        </p:txBody>
      </p:sp>
      <p:sp>
        <p:nvSpPr>
          <p:cNvPr id="31" name="Shape 28"/>
          <p:cNvSpPr/>
          <p:nvPr/>
        </p:nvSpPr>
        <p:spPr>
          <a:xfrm>
            <a:off x="274320" y="4206240"/>
            <a:ext cx="8595360" cy="594360"/>
          </a:xfrm>
          <a:prstGeom prst="rect">
            <a:avLst/>
          </a:prstGeom>
          <a:solidFill>
            <a:srgbClr val="ECEFF1"/>
          </a:solidFill>
          <a:ln w="12700">
            <a:solidFill>
              <a:srgbClr val="CCCCCC"/>
            </a:solidFill>
            <a:prstDash val="solid"/>
          </a:ln>
        </p:spPr>
      </p:sp>
      <p:sp>
        <p:nvSpPr>
          <p:cNvPr id="32" name="Text 29"/>
          <p:cNvSpPr/>
          <p:nvPr/>
        </p:nvSpPr>
        <p:spPr>
          <a:xfrm>
            <a:off x="384048" y="4233672"/>
            <a:ext cx="8321040" cy="539496"/>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You retained 746 events but lost 296 net; replacement rate hits 100%, meaning new+recovered events (296 total) offset attrition. November's 29% replacement and August's 70% show you where win-back is hardest.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1B5E20"/>
          </a:solidFill>
          <a:ln w="12700">
            <a:solidFill>
              <a:srgbClr val="1B5E20"/>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5  —  Application Pipeline -- Who Is Filing and When</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7 / 8</a:t>
            </a:r>
            <a:endParaRPr lang="en-US" sz="900" dirty="0"/>
          </a:p>
        </p:txBody>
      </p:sp>
      <p:sp>
        <p:nvSpPr>
          <p:cNvPr id="5" name="Text 3"/>
          <p:cNvSpPr/>
          <p:nvPr/>
        </p:nvSpPr>
        <p:spPr>
          <a:xfrm>
            <a:off x="274320" y="694944"/>
            <a:ext cx="8595360" cy="219456"/>
          </a:xfrm>
          <a:prstGeom prst="rect">
            <a:avLst/>
          </a:prstGeom>
          <a:noFill/>
          <a:ln/>
        </p:spPr>
        <p:txBody>
          <a:bodyPr wrap="square" rtlCol="0" anchor="ctr"/>
          <a:lstStyle/>
          <a:p>
            <a:pPr indent="0" marL="0">
              <a:buNone/>
            </a:pPr>
            <a:r>
              <a:rPr lang="en-US" sz="1050" dirty="0">
                <a:solidFill>
                  <a:srgbClr val="222222"/>
                </a:solidFill>
                <a:latin typeface="Calibri" pitchFamily="34" charset="0"/>
                <a:ea typeface="Calibri" pitchFamily="34" charset="-122"/>
                <a:cs typeface="Calibri" pitchFamily="34" charset="-120"/>
              </a:rPr>
              <a:t>Total applications: 1,271 for 2025 vs 1,188 for 2026. The story is in WHEN and WHICH type is filing:</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74320" y="950976"/>
          <a:ext cx="8595360" cy="1591056"/>
        </p:xfrm>
        <a:graphic>
          <a:graphicData uri="http://schemas.openxmlformats.org/drawingml/2006/table">
            <a:tbl>
              <a:tblPr/>
              <a:tblGrid>
                <a:gridCol w="955040"/>
                <a:gridCol w="955040"/>
                <a:gridCol w="955040"/>
                <a:gridCol w="955040"/>
                <a:gridCol w="955040"/>
                <a:gridCol w="955040"/>
                <a:gridCol w="955040"/>
                <a:gridCol w="955040"/>
                <a:gridCol w="955040"/>
              </a:tblGrid>
              <a:tr h="256032">
                <a:tc>
                  <a:txBody>
                    <a:bodyPr/>
                    <a:lstStyle/>
                    <a:p>
                      <a:pPr algn="ctr" indent="0" marL="0">
                        <a:buNone/>
                      </a:pPr>
                      <a:r>
                        <a:rPr lang="en-US" sz="1000" b="1" dirty="0">
                          <a:solidFill>
                            <a:srgbClr val="FFFFFF"/>
                          </a:solidFill>
                        </a:rPr>
                        <a:t>Event Type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Q4 2024</a:t>
                      </a:r>
                      <a:endParaRPr lang="en-US" sz="1000" dirty="0"/>
                    </a:p>
                    <a:p>
                      <a:pPr algn="ctr" indent="0" marL="0">
                        <a:buNone/>
                      </a:pPr>
                      <a:r>
                        <a:rPr lang="en-US" sz="1000" b="1" dirty="0">
                          <a:solidFill>
                            <a:srgbClr val="FFFFFF"/>
                          </a:solidFill>
                        </a:rPr>
                        <a:t>Pre-Filing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Jan-May</a:t>
                      </a:r>
                      <a:endParaRPr lang="en-US" sz="1000" dirty="0"/>
                    </a:p>
                    <a:p>
                      <a:pPr algn="ctr" indent="0" marL="0">
                        <a:buNone/>
                      </a:pPr>
                      <a:r>
                        <a:rPr lang="en-US" sz="1000" b="1" dirty="0">
                          <a:solidFill>
                            <a:srgbClr val="FFFFFF"/>
                          </a:solidFill>
                        </a:rPr>
                        <a:t>2025 In-Yr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2025</a:t>
                      </a:r>
                      <a:endParaRPr lang="en-US" sz="1000" dirty="0"/>
                    </a:p>
                    <a:p>
                      <a:pPr algn="ctr" indent="0" marL="0">
                        <a:buNone/>
                      </a:pPr>
                      <a:r>
                        <a:rPr lang="en-US" sz="1000" b="1" dirty="0">
                          <a:solidFill>
                            <a:srgbClr val="FFFFFF"/>
                          </a:solidFill>
                        </a:rPr>
                        <a:t>Total Apps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B5E20"/>
                    </a:solidFill>
                  </a:tcPr>
                </a:tc>
                <a:tc>
                  <a:txBody>
                    <a:bodyPr/>
                    <a:lstStyle/>
                    <a:p>
                      <a:pPr algn="ctr" indent="0" marL="0">
                        <a:buNone/>
                      </a:pPr>
                      <a:r>
                        <a:rPr lang="en-US" sz="1000" b="1" dirty="0">
                          <a:solidFill>
                            <a:srgbClr val="FFFFFF"/>
                          </a:solidFill>
                        </a:rPr>
                        <a:t>Q4 2025</a:t>
                      </a:r>
                      <a:endParaRPr lang="en-US" sz="1000" dirty="0"/>
                    </a:p>
                    <a:p>
                      <a:pPr algn="ctr" indent="0" marL="0">
                        <a:buNone/>
                      </a:pPr>
                      <a:r>
                        <a:rPr lang="en-US" sz="1000" b="1" dirty="0">
                          <a:solidFill>
                            <a:srgbClr val="FFFFFF"/>
                          </a:solidFill>
                        </a:rPr>
                        <a:t>Pre-Filing</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Jan-May</a:t>
                      </a:r>
                      <a:endParaRPr lang="en-US" sz="1000" dirty="0"/>
                    </a:p>
                    <a:p>
                      <a:pPr algn="ctr" indent="0" marL="0">
                        <a:buNone/>
                      </a:pPr>
                      <a:r>
                        <a:rPr lang="en-US" sz="1000" b="1" dirty="0">
                          <a:solidFill>
                            <a:srgbClr val="FFFFFF"/>
                          </a:solidFill>
                        </a:rPr>
                        <a:t>2026 In-Yr</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2026</a:t>
                      </a:r>
                      <a:endParaRPr lang="en-US" sz="1000" dirty="0"/>
                    </a:p>
                    <a:p>
                      <a:pPr algn="ctr" indent="0" marL="0">
                        <a:buNone/>
                      </a:pPr>
                      <a:r>
                        <a:rPr lang="en-US" sz="1000" b="1" dirty="0">
                          <a:solidFill>
                            <a:srgbClr val="FFFFFF"/>
                          </a:solidFill>
                        </a:rPr>
                        <a:t>Total Apps</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6064"/>
                    </a:solidFill>
                  </a:tcPr>
                </a:tc>
                <a:tc>
                  <a:txBody>
                    <a:bodyPr/>
                    <a:lstStyle/>
                    <a:p>
                      <a:pPr algn="ctr" indent="0" marL="0">
                        <a:buNone/>
                      </a:pPr>
                      <a:r>
                        <a:rPr lang="en-US" sz="1000" b="1" dirty="0">
                          <a:solidFill>
                            <a:srgbClr val="FFFFFF"/>
                          </a:solidFill>
                        </a:rPr>
                        <a:t>Delta Q4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Delta</a:t>
                      </a:r>
                      <a:endParaRPr lang="en-US" sz="1000" dirty="0"/>
                    </a:p>
                    <a:p>
                      <a:pPr algn="ctr" indent="0" marL="0">
                        <a:buNone/>
                      </a:pPr>
                      <a:r>
                        <a:rPr lang="en-US" sz="1000" b="1" dirty="0">
                          <a:solidFill>
                            <a:srgbClr val="FFFFFF"/>
                          </a:solidFill>
                        </a:rPr>
                        <a:t>Jan-May</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56032">
                <a:tc>
                  <a:txBody>
                    <a:bodyPr/>
                    <a:lstStyle/>
                    <a:p>
                      <a:pPr algn="l" indent="0" marL="0">
                        <a:buNone/>
                      </a:pPr>
                      <a:r>
                        <a:rPr lang="en-US" sz="1000"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453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222222"/>
                          </a:solidFill>
                        </a:rPr>
                        <a:t>876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415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186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222222"/>
                          </a:solidFill>
                        </a:rPr>
                        <a:t>837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−38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88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246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102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94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229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b="1" dirty="0">
                          <a:solidFill>
                            <a:srgbClr val="C62828"/>
                          </a:solidFill>
                        </a:rPr>
                        <a:t>Adult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25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73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222222"/>
                          </a:solidFill>
                        </a:rPr>
                        <a:t>112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24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222222"/>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b="1" dirty="0">
                          <a:solidFill>
                            <a:srgbClr val="222222"/>
                          </a:solidFill>
                        </a:rPr>
                        <a:t>87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−18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l" indent="0" marL="0">
                        <a:buNone/>
                      </a:pPr>
                      <a:r>
                        <a:rPr lang="en-US" sz="1000" dirty="0">
                          <a:solidFill>
                            <a:srgbClr val="222222"/>
                          </a:solidFill>
                        </a:rPr>
                        <a:t>Youth Clinic</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37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22222"/>
                          </a:solidFill>
                        </a:rPr>
                        <a:t>20</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22222"/>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1E7D34"/>
                          </a:solidFill>
                        </a:rPr>
                        <a:t>+5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56032">
                <a:tc>
                  <a:txBody>
                    <a:bodyPr/>
                    <a:lstStyle/>
                    <a:p>
                      <a:pPr algn="ctr" indent="0" marL="0">
                        <a:buNone/>
                      </a:pPr>
                      <a:r>
                        <a:rPr lang="en-US" sz="1000" b="1" dirty="0">
                          <a:solidFill>
                            <a:srgbClr val="FFFFFF"/>
                          </a:solidFill>
                        </a:rPr>
                        <a:t>TOTAL</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596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331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1,271</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553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355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1,188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−43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1000" b="1" dirty="0">
                          <a:solidFill>
                            <a:srgbClr val="FFFFFF"/>
                          </a:solidFill>
                        </a:rPr>
                        <a:t>+24</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bl>
          </a:graphicData>
        </a:graphic>
      </p:graphicFrame>
      <p:sp>
        <p:nvSpPr>
          <p:cNvPr id="7" name="Text 4"/>
          <p:cNvSpPr/>
          <p:nvPr/>
        </p:nvSpPr>
        <p:spPr>
          <a:xfrm>
            <a:off x="274320" y="2633472"/>
            <a:ext cx="8595360" cy="237744"/>
          </a:xfrm>
          <a:prstGeom prst="rect">
            <a:avLst/>
          </a:prstGeom>
          <a:noFill/>
          <a:ln/>
        </p:spPr>
        <p:txBody>
          <a:bodyPr wrap="square" rtlCol="0" anchor="ctr"/>
          <a:lstStyle/>
          <a:p>
            <a:pPr indent="0" marL="0">
              <a:buNone/>
            </a:pPr>
            <a:r>
              <a:rPr lang="en-US" sz="1050" b="1" dirty="0">
                <a:solidFill>
                  <a:srgbClr val="222222"/>
                </a:solidFill>
                <a:latin typeface="Calibri" pitchFamily="34" charset="0"/>
                <a:ea typeface="Calibri" pitchFamily="34" charset="-122"/>
                <a:cs typeface="Calibri" pitchFamily="34" charset="-120"/>
              </a:rPr>
              <a:t>Highest-Probability Opportunities — May through December 2026:</a:t>
            </a:r>
            <a:endParaRPr lang="en-US" sz="1050" dirty="0"/>
          </a:p>
        </p:txBody>
      </p:sp>
      <p:sp>
        <p:nvSpPr>
          <p:cNvPr id="8" name="Shape 5"/>
          <p:cNvSpPr/>
          <p:nvPr/>
        </p:nvSpPr>
        <p:spPr>
          <a:xfrm>
            <a:off x="274320" y="2907792"/>
            <a:ext cx="4160520" cy="914400"/>
          </a:xfrm>
          <a:prstGeom prst="rect">
            <a:avLst/>
          </a:prstGeom>
          <a:solidFill>
            <a:srgbClr val="FDECEA"/>
          </a:solidFill>
          <a:ln w="12700">
            <a:solidFill>
              <a:srgbClr val="C62828"/>
            </a:solidFill>
            <a:prstDash val="solid"/>
          </a:ln>
        </p:spPr>
      </p:sp>
      <p:sp>
        <p:nvSpPr>
          <p:cNvPr id="9" name="Text 6"/>
          <p:cNvSpPr/>
          <p:nvPr/>
        </p:nvSpPr>
        <p:spPr>
          <a:xfrm>
            <a:off x="384048" y="2944368"/>
            <a:ext cx="3931920" cy="841248"/>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Adult Clinic — Highest ROI Opportunity
</a:t>
            </a:r>
            <a:pPr indent="0" marL="0">
              <a:buNone/>
            </a:pPr>
            <a:r>
              <a:rPr lang="en-US" sz="950" dirty="0">
                <a:solidFill>
                  <a:srgbClr val="C62828"/>
                </a:solidFill>
                <a:latin typeface="Calibri" pitchFamily="34" charset="0"/>
                <a:ea typeface="Calibri" pitchFamily="34" charset="-122"/>
                <a:cs typeface="Calibri" pitchFamily="34" charset="-120"/>
              </a:rPr>
              <a:t>Adult Clinic is the structural decliner (−11.0 organic). Proactive outreach in the spontaneous-filing window can close part of the gap.</a:t>
            </a:r>
            <a:endParaRPr lang="en-US" sz="950" dirty="0"/>
          </a:p>
        </p:txBody>
      </p:sp>
      <p:sp>
        <p:nvSpPr>
          <p:cNvPr id="10" name="Shape 7"/>
          <p:cNvSpPr/>
          <p:nvPr/>
        </p:nvSpPr>
        <p:spPr>
          <a:xfrm>
            <a:off x="4617720" y="2907792"/>
            <a:ext cx="4251960" cy="914400"/>
          </a:xfrm>
          <a:prstGeom prst="rect">
            <a:avLst/>
          </a:prstGeom>
          <a:solidFill>
            <a:srgbClr val="E8F5E9"/>
          </a:solidFill>
          <a:ln w="12700">
            <a:solidFill>
              <a:srgbClr val="1E7D34"/>
            </a:solidFill>
            <a:prstDash val="solid"/>
          </a:ln>
        </p:spPr>
      </p:sp>
      <p:sp>
        <p:nvSpPr>
          <p:cNvPr id="11" name="Text 8"/>
          <p:cNvSpPr/>
          <p:nvPr/>
        </p:nvSpPr>
        <p:spPr>
          <a:xfrm>
            <a:off x="4727448" y="2944368"/>
            <a:ext cx="4023360" cy="841248"/>
          </a:xfrm>
          <a:prstGeom prst="rect">
            <a:avLst/>
          </a:prstGeom>
          <a:noFill/>
          <a:ln/>
        </p:spPr>
        <p:txBody>
          <a:bodyPr wrap="square" rtlCol="0" anchor="ctr"/>
          <a:lstStyle/>
          <a:p>
            <a:pPr indent="0" marL="0">
              <a:buNone/>
            </a:pPr>
            <a:r>
              <a:rPr lang="en-US" sz="1050" b="1" dirty="0">
                <a:solidFill>
                  <a:srgbClr val="1E7D34"/>
                </a:solidFill>
                <a:latin typeface="Calibri" pitchFamily="34" charset="0"/>
                <a:ea typeface="Calibri" pitchFamily="34" charset="-122"/>
                <a:cs typeface="Calibri" pitchFamily="34" charset="-120"/>
              </a:rPr>
              <a:t>Youth Clinic -- Reinforce
</a:t>
            </a:r>
            <a:pPr indent="0" marL="0">
              <a:buNone/>
            </a:pPr>
            <a:r>
              <a:rPr lang="en-US" sz="950" dirty="0">
                <a:solidFill>
                  <a:srgbClr val="1E7D34"/>
                </a:solidFill>
                <a:latin typeface="Calibri" pitchFamily="34" charset="0"/>
                <a:ea typeface="Calibri" pitchFamily="34" charset="-122"/>
                <a:cs typeface="Calibri" pitchFamily="34" charset="-120"/>
              </a:rPr>
              <a:t>Youth Clinic is the organic leader (+5.6 organic, +19.4%). Fast-track approvals so momentum is not lost.</a:t>
            </a:r>
            <a:endParaRPr lang="en-US" sz="950" dirty="0"/>
          </a:p>
        </p:txBody>
      </p:sp>
      <p:sp>
        <p:nvSpPr>
          <p:cNvPr id="12" name="Shape 9"/>
          <p:cNvSpPr/>
          <p:nvPr/>
        </p:nvSpPr>
        <p:spPr>
          <a:xfrm>
            <a:off x="274320" y="3913632"/>
            <a:ext cx="4160520" cy="457200"/>
          </a:xfrm>
          <a:prstGeom prst="rect">
            <a:avLst/>
          </a:prstGeom>
          <a:solidFill>
            <a:srgbClr val="FFCDD2"/>
          </a:solidFill>
          <a:ln w="12700">
            <a:solidFill>
              <a:srgbClr val="C62828"/>
            </a:solidFill>
            <a:prstDash val="solid"/>
          </a:ln>
        </p:spPr>
      </p:sp>
      <p:sp>
        <p:nvSpPr>
          <p:cNvPr id="13" name="Text 10"/>
          <p:cNvSpPr/>
          <p:nvPr/>
        </p:nvSpPr>
        <p:spPr>
          <a:xfrm>
            <a:off x="384048" y="3931920"/>
            <a:ext cx="3931920" cy="420624"/>
          </a:xfrm>
          <a:prstGeom prst="rect">
            <a:avLst/>
          </a:prstGeom>
          <a:noFill/>
          <a:ln/>
        </p:spPr>
        <p:txBody>
          <a:bodyPr wrap="square" rtlCol="0" anchor="ctr"/>
          <a:lstStyle/>
          <a:p>
            <a:pPr indent="0" marL="0">
              <a:buNone/>
            </a:pPr>
            <a:r>
              <a:rPr lang="en-US" sz="900" dirty="0">
                <a:solidFill>
                  <a:srgbClr val="C62828"/>
                </a:solidFill>
                <a:latin typeface="Calibri" pitchFamily="34" charset="0"/>
                <a:ea typeface="Calibri" pitchFamily="34" charset="-122"/>
                <a:cs typeface="Calibri" pitchFamily="34" charset="-120"/>
              </a:rPr>
              <a:t>Adult Clinic action: target organizers in the spontaneous-filing window. Low effort, high impact.</a:t>
            </a:r>
            <a:endParaRPr lang="en-US" sz="900" dirty="0"/>
          </a:p>
        </p:txBody>
      </p:sp>
      <p:sp>
        <p:nvSpPr>
          <p:cNvPr id="14" name="Shape 11"/>
          <p:cNvSpPr/>
          <p:nvPr/>
        </p:nvSpPr>
        <p:spPr>
          <a:xfrm>
            <a:off x="4617720" y="3913632"/>
            <a:ext cx="4251960" cy="457200"/>
          </a:xfrm>
          <a:prstGeom prst="rect">
            <a:avLst/>
          </a:prstGeom>
          <a:solidFill>
            <a:srgbClr val="E3F2FD"/>
          </a:solidFill>
          <a:ln w="12700">
            <a:solidFill>
              <a:srgbClr val="1565C0"/>
            </a:solidFill>
            <a:prstDash val="solid"/>
          </a:ln>
        </p:spPr>
      </p:sp>
      <p:sp>
        <p:nvSpPr>
          <p:cNvPr id="15" name="Text 12"/>
          <p:cNvSpPr/>
          <p:nvPr/>
        </p:nvSpPr>
        <p:spPr>
          <a:xfrm>
            <a:off x="4727448" y="3931920"/>
            <a:ext cx="4023360" cy="420624"/>
          </a:xfrm>
          <a:prstGeom prst="rect">
            <a:avLst/>
          </a:prstGeom>
          <a:noFill/>
          <a:ln/>
        </p:spPr>
        <p:txBody>
          <a:bodyPr wrap="square" rtlCol="0" anchor="ctr"/>
          <a:lstStyle/>
          <a:p>
            <a:pPr indent="0" marL="0">
              <a:buNone/>
            </a:pPr>
            <a:r>
              <a:rPr lang="en-US" sz="900" dirty="0">
                <a:solidFill>
                  <a:srgbClr val="1565C0"/>
                </a:solidFill>
                <a:latin typeface="Calibri" pitchFamily="34" charset="0"/>
                <a:ea typeface="Calibri" pitchFamily="34" charset="-122"/>
                <a:cs typeface="Calibri" pitchFamily="34" charset="-120"/>
              </a:rPr>
              <a:t>Overall pipeline is +7% (+24 in-yr apps) vs 2025 pace through May.</a:t>
            </a:r>
            <a:endParaRPr lang="en-US" sz="900" dirty="0"/>
          </a:p>
        </p:txBody>
      </p:sp>
      <p:sp>
        <p:nvSpPr>
          <p:cNvPr id="16" name="Shape 13"/>
          <p:cNvSpPr/>
          <p:nvPr/>
        </p:nvSpPr>
        <p:spPr>
          <a:xfrm>
            <a:off x="274320" y="4480560"/>
            <a:ext cx="8595360" cy="420624"/>
          </a:xfrm>
          <a:prstGeom prst="rect">
            <a:avLst/>
          </a:prstGeom>
          <a:solidFill>
            <a:srgbClr val="ECEFF1"/>
          </a:solidFill>
          <a:ln w="12700">
            <a:solidFill>
              <a:srgbClr val="CCCCCC"/>
            </a:solidFill>
            <a:prstDash val="solid"/>
          </a:ln>
        </p:spPr>
      </p:sp>
      <p:sp>
        <p:nvSpPr>
          <p:cNvPr id="17" name="Text 14"/>
          <p:cNvSpPr/>
          <p:nvPr/>
        </p:nvSpPr>
        <p:spPr>
          <a:xfrm>
            <a:off x="384048" y="4507992"/>
            <a:ext cx="8321040" cy="384048"/>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Application pipeline mirrors the event loss—no separate creation surge can save a retention problem. Pipeline discipline is essential; so is honest event-level attribution.</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C62828"/>
          </a:solidFill>
          <a:ln w="12700">
            <a:solidFill>
              <a:srgbClr val="C62828"/>
            </a:solidFill>
            <a:prstDash val="solid"/>
          </a:ln>
        </p:spPr>
      </p:sp>
      <p:sp>
        <p:nvSpPr>
          <p:cNvPr id="3" name="Text 1"/>
          <p:cNvSpPr/>
          <p:nvPr/>
        </p:nvSpPr>
        <p:spPr>
          <a:xfrm>
            <a:off x="164592" y="73152"/>
            <a:ext cx="8229600" cy="420624"/>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Step 6  —  July and August: Organic Churn and the Win-Back Opportunity</a:t>
            </a:r>
            <a:endParaRPr lang="en-US" sz="1350" dirty="0"/>
          </a:p>
        </p:txBody>
      </p:sp>
      <p:sp>
        <p:nvSpPr>
          <p:cNvPr id="4" name="Text 2"/>
          <p:cNvSpPr/>
          <p:nvPr/>
        </p:nvSpPr>
        <p:spPr>
          <a:xfrm>
            <a:off x="8458200" y="91440"/>
            <a:ext cx="594360" cy="365760"/>
          </a:xfrm>
          <a:prstGeom prst="rect">
            <a:avLst/>
          </a:prstGeom>
          <a:noFill/>
          <a:ln/>
        </p:spPr>
        <p:txBody>
          <a:bodyPr wrap="square" rtlCol="0" anchor="ctr"/>
          <a:lstStyle/>
          <a:p>
            <a:pPr algn="r" indent="0" marL="0">
              <a:buNone/>
            </a:pPr>
            <a:r>
              <a:rPr lang="en-US" sz="900" dirty="0">
                <a:solidFill>
                  <a:srgbClr val="AAAAAA"/>
                </a:solidFill>
                <a:latin typeface="Calibri" pitchFamily="34" charset="0"/>
                <a:ea typeface="Calibri" pitchFamily="34" charset="-122"/>
                <a:cs typeface="Calibri" pitchFamily="34" charset="-120"/>
              </a:rPr>
              <a:t>8 / 8</a:t>
            </a:r>
            <a:endParaRPr lang="en-US" sz="900" dirty="0"/>
          </a:p>
        </p:txBody>
      </p:sp>
      <p:sp>
        <p:nvSpPr>
          <p:cNvPr id="5" name="Text 3"/>
          <p:cNvSpPr/>
          <p:nvPr/>
        </p:nvSpPr>
        <p:spPr>
          <a:xfrm>
            <a:off x="274320" y="694944"/>
            <a:ext cx="8595360" cy="182880"/>
          </a:xfrm>
          <a:prstGeom prst="rect">
            <a:avLst/>
          </a:prstGeom>
          <a:noFill/>
          <a:ln/>
        </p:spPr>
        <p:txBody>
          <a:bodyPr wrap="square" rtlCol="0" anchor="ctr"/>
          <a:lstStyle/>
          <a:p>
            <a:pPr indent="0" marL="0">
              <a:buNone/>
            </a:pPr>
            <a:r>
              <a:rPr lang="en-US" sz="1000" dirty="0">
                <a:solidFill>
                  <a:srgbClr val="222222"/>
                </a:solidFill>
                <a:latin typeface="Calibri" pitchFamily="34" charset="0"/>
                <a:ea typeface="Calibri" pitchFamily="34" charset="-122"/>
                <a:cs typeface="Calibri" pitchFamily="34" charset="-120"/>
              </a:rPr>
              <a:t>Replacement is partial — the volume of churn is the problem more than the rate. The actionable target is August.</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914400"/>
          <a:ext cx="4160520" cy="1335024"/>
        </p:xfrm>
        <a:graphic>
          <a:graphicData uri="http://schemas.openxmlformats.org/drawingml/2006/table">
            <a:tbl>
              <a:tblPr/>
              <a:tblGrid>
                <a:gridCol w="1386840"/>
                <a:gridCol w="1386840"/>
                <a:gridCol w="1386840"/>
              </a:tblGrid>
              <a:tr h="210312">
                <a:tc>
                  <a:txBody>
                    <a:bodyPr/>
                    <a:lstStyle/>
                    <a:p>
                      <a:pPr algn="ctr" indent="0" marL="0">
                        <a:buNone/>
                      </a:pPr>
                      <a:r>
                        <a:rPr lang="en-US" sz="950" b="1" dirty="0">
                          <a:solidFill>
                            <a:srgbClr val="FFFFFF"/>
                          </a:solidFill>
                        </a:rPr>
                        <a:t>July</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2025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950" b="1" dirty="0">
                          <a:solidFill>
                            <a:srgbClr val="FFFFFF"/>
                          </a:solidFill>
                        </a:rPr>
                        <a:t>2026</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10312">
                <a:tc>
                  <a:txBody>
                    <a:bodyPr/>
                    <a:lstStyle/>
                    <a:p>
                      <a:pPr algn="l" indent="0" marL="0">
                        <a:buNone/>
                      </a:pPr>
                      <a:r>
                        <a:rPr lang="en-US" sz="950" dirty="0">
                          <a:solidFill>
                            <a:srgbClr val="222222"/>
                          </a:solidFill>
                        </a:rPr>
                        <a:t>Retained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222222"/>
                          </a:solidFill>
                        </a:rPr>
                        <a:t>Shifted Out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10312">
                <a:tc>
                  <a:txBody>
                    <a:bodyPr/>
                    <a:lstStyle/>
                    <a:p>
                      <a:pPr algn="l" indent="0" marL="0">
                        <a:buNone/>
                      </a:pPr>
                      <a:r>
                        <a:rPr lang="en-US" sz="950" b="1" dirty="0">
                          <a:solidFill>
                            <a:srgbClr val="C62828"/>
                          </a:solidFill>
                        </a:rPr>
                        <a:t>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-49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10312">
                <a:tc>
                  <a:txBody>
                    <a:bodyPr/>
                    <a:lstStyle/>
                    <a:p>
                      <a:pPr algn="l" indent="0" marL="0">
                        <a:buNone/>
                      </a:pPr>
                      <a:r>
                        <a:rPr lang="en-US" sz="950" dirty="0">
                          <a:solidFill>
                            <a:srgbClr val="1E7D34"/>
                          </a:solidFill>
                        </a:rPr>
                        <a:t>Shift In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1E7D34"/>
                          </a:solidFill>
                        </a:rPr>
                        <a:t>New / Rec'd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7" name="Shape 4"/>
          <p:cNvSpPr/>
          <p:nvPr/>
        </p:nvSpPr>
        <p:spPr>
          <a:xfrm>
            <a:off x="274320" y="2322576"/>
            <a:ext cx="4160520" cy="329184"/>
          </a:xfrm>
          <a:prstGeom prst="rect">
            <a:avLst/>
          </a:prstGeom>
          <a:solidFill>
            <a:srgbClr val="37474F"/>
          </a:solidFill>
          <a:ln w="12700">
            <a:solidFill>
              <a:srgbClr val="37474F"/>
            </a:solidFill>
            <a:prstDash val="solid"/>
          </a:ln>
        </p:spPr>
      </p:sp>
      <p:sp>
        <p:nvSpPr>
          <p:cNvPr id="8" name="Text 5"/>
          <p:cNvSpPr/>
          <p:nvPr/>
        </p:nvSpPr>
        <p:spPr>
          <a:xfrm>
            <a:off x="292608" y="2331720"/>
            <a:ext cx="4114800" cy="310896"/>
          </a:xfrm>
          <a:prstGeom prst="rect">
            <a:avLst/>
          </a:prstGeom>
          <a:noFill/>
          <a:ln/>
        </p:spPr>
        <p:txBody>
          <a:bodyPr wrap="square" rtlCol="0" anchor="ctr"/>
          <a:lstStyle/>
          <a:p>
            <a:pPr algn="ctr" indent="0" marL="0">
              <a:buNone/>
            </a:pPr>
            <a:r>
              <a:rPr lang="en-US" sz="900" b="1" dirty="0">
                <a:solidFill>
                  <a:srgbClr val="E8F5E9"/>
                </a:solidFill>
                <a:latin typeface="Calibri" pitchFamily="34" charset="0"/>
                <a:ea typeface="Calibri" pitchFamily="34" charset="-122"/>
                <a:cs typeface="Calibri" pitchFamily="34" charset="-120"/>
              </a:rPr>
              <a:t>2025: 181 events  -&gt;  2026: 165       Replacement: 38/49 = 78%</a:t>
            </a:r>
            <a:endParaRPr lang="en-US" sz="9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617720" y="914400"/>
          <a:ext cx="4251960" cy="1335024"/>
        </p:xfrm>
        <a:graphic>
          <a:graphicData uri="http://schemas.openxmlformats.org/drawingml/2006/table">
            <a:tbl>
              <a:tblPr/>
              <a:tblGrid>
                <a:gridCol w="1417320"/>
                <a:gridCol w="1417320"/>
                <a:gridCol w="1417320"/>
              </a:tblGrid>
              <a:tr h="210312">
                <a:tc>
                  <a:txBody>
                    <a:bodyPr/>
                    <a:lstStyle/>
                    <a:p>
                      <a:pPr algn="ctr" indent="0" marL="0">
                        <a:buNone/>
                      </a:pPr>
                      <a:r>
                        <a:rPr lang="en-US" sz="950" b="1" dirty="0">
                          <a:solidFill>
                            <a:srgbClr val="FFFFFF"/>
                          </a:solidFill>
                        </a:rPr>
                        <a:t>August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2025</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c>
                  <a:txBody>
                    <a:bodyPr/>
                    <a:lstStyle/>
                    <a:p>
                      <a:pPr algn="ctr" indent="0" marL="0">
                        <a:buNone/>
                      </a:pPr>
                      <a:r>
                        <a:rPr lang="en-US" sz="950" b="1" dirty="0">
                          <a:solidFill>
                            <a:srgbClr val="FFFFFF"/>
                          </a:solidFill>
                        </a:rPr>
                        <a:t>2026</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237E"/>
                    </a:solidFill>
                  </a:tcPr>
                </a:tc>
              </a:tr>
              <a:tr h="210312">
                <a:tc>
                  <a:txBody>
                    <a:bodyPr/>
                    <a:lstStyle/>
                    <a:p>
                      <a:pPr algn="l" indent="0" marL="0">
                        <a:buNone/>
                      </a:pPr>
                      <a:r>
                        <a:rPr lang="en-US" sz="950" dirty="0">
                          <a:solidFill>
                            <a:srgbClr val="222222"/>
                          </a:solidFill>
                        </a:rPr>
                        <a:t>Retained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dirty="0">
                          <a:solidFill>
                            <a:srgbClr val="222222"/>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1E7D34"/>
                          </a:solidFill>
                        </a:rPr>
                        <a:t>147</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222222"/>
                          </a:solidFill>
                        </a:rPr>
                        <a:t>Shifted Out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C62828"/>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DECEA"/>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210312">
                <a:tc>
                  <a:txBody>
                    <a:bodyPr/>
                    <a:lstStyle/>
                    <a:p>
                      <a:pPr algn="l" indent="0" marL="0">
                        <a:buNone/>
                      </a:pPr>
                      <a:r>
                        <a:rPr lang="en-US" sz="950" b="1" dirty="0">
                          <a:solidFill>
                            <a:srgbClr val="C62828"/>
                          </a:solidFill>
                        </a:rPr>
                        <a:t>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-56</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10312">
                <a:tc>
                  <a:txBody>
                    <a:bodyPr/>
                    <a:lstStyle/>
                    <a:p>
                      <a:pPr algn="l" indent="0" marL="0">
                        <a:buNone/>
                      </a:pPr>
                      <a:r>
                        <a:rPr lang="en-US" sz="950" dirty="0">
                          <a:solidFill>
                            <a:srgbClr val="1E7D34"/>
                          </a:solidFill>
                        </a:rPr>
                        <a:t>Shift In</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E7D34"/>
                          </a:solidFill>
                        </a:rPr>
                        <a:t>+15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r h="210312">
                <a:tc>
                  <a:txBody>
                    <a:bodyPr/>
                    <a:lstStyle/>
                    <a:p>
                      <a:pPr algn="l" indent="0" marL="0">
                        <a:buNone/>
                      </a:pPr>
                      <a:r>
                        <a:rPr lang="en-US" sz="950" dirty="0">
                          <a:solidFill>
                            <a:srgbClr val="1E7D34"/>
                          </a:solidFill>
                        </a:rPr>
                        <a:t>New / Rec'd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dirty="0">
                          <a:solidFill>
                            <a:srgbClr val="AAAAAA"/>
                          </a:solidFill>
                        </a:rPr>
                        <a:t>--</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c>
                  <a:txBody>
                    <a:bodyPr/>
                    <a:lstStyle/>
                    <a:p>
                      <a:pPr algn="ctr" indent="0" marL="0">
                        <a:buNone/>
                      </a:pPr>
                      <a:r>
                        <a:rPr lang="en-US" sz="1000" b="1" dirty="0">
                          <a:solidFill>
                            <a:srgbClr val="1E7D34"/>
                          </a:solidFill>
                        </a:rPr>
                        <a:t>+39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8F5E9"/>
                    </a:solidFill>
                  </a:tcPr>
                </a:tc>
              </a:tr>
            </a:tbl>
          </a:graphicData>
        </a:graphic>
      </p:graphicFrame>
      <p:sp>
        <p:nvSpPr>
          <p:cNvPr id="10" name="Shape 6"/>
          <p:cNvSpPr/>
          <p:nvPr/>
        </p:nvSpPr>
        <p:spPr>
          <a:xfrm>
            <a:off x="4617720" y="2322576"/>
            <a:ext cx="4251960" cy="329184"/>
          </a:xfrm>
          <a:prstGeom prst="rect">
            <a:avLst/>
          </a:prstGeom>
          <a:solidFill>
            <a:srgbClr val="37474F"/>
          </a:solidFill>
          <a:ln w="12700">
            <a:solidFill>
              <a:srgbClr val="37474F"/>
            </a:solidFill>
            <a:prstDash val="solid"/>
          </a:ln>
        </p:spPr>
      </p:sp>
      <p:sp>
        <p:nvSpPr>
          <p:cNvPr id="11" name="Text 7"/>
          <p:cNvSpPr/>
          <p:nvPr/>
        </p:nvSpPr>
        <p:spPr>
          <a:xfrm>
            <a:off x="4636008" y="2331720"/>
            <a:ext cx="4206240" cy="310896"/>
          </a:xfrm>
          <a:prstGeom prst="rect">
            <a:avLst/>
          </a:prstGeom>
          <a:noFill/>
          <a:ln/>
        </p:spPr>
        <p:txBody>
          <a:bodyPr wrap="square" rtlCol="0" anchor="ctr"/>
          <a:lstStyle/>
          <a:p>
            <a:pPr algn="ctr" indent="0" marL="0">
              <a:buNone/>
            </a:pPr>
            <a:r>
              <a:rPr lang="en-US" sz="900" b="1" dirty="0">
                <a:solidFill>
                  <a:srgbClr val="E8F5E9"/>
                </a:solidFill>
                <a:latin typeface="Calibri" pitchFamily="34" charset="0"/>
                <a:ea typeface="Calibri" pitchFamily="34" charset="-122"/>
                <a:cs typeface="Calibri" pitchFamily="34" charset="-120"/>
              </a:rPr>
              <a:t>2025: 220 events  -&gt;  2026: 201       Replacement: 39/56 = 70%</a:t>
            </a:r>
            <a:endParaRPr lang="en-US" sz="900" dirty="0"/>
          </a:p>
        </p:txBody>
      </p:sp>
      <p:sp>
        <p:nvSpPr>
          <p:cNvPr id="12" name="Text 8"/>
          <p:cNvSpPr/>
          <p:nvPr/>
        </p:nvSpPr>
        <p:spPr>
          <a:xfrm>
            <a:off x="274320" y="2724912"/>
            <a:ext cx="8595360" cy="164592"/>
          </a:xfrm>
          <a:prstGeom prst="rect">
            <a:avLst/>
          </a:prstGeom>
          <a:noFill/>
          <a:ln/>
        </p:spPr>
        <p:txBody>
          <a:bodyPr wrap="square" rtlCol="0" anchor="ctr"/>
          <a:lstStyle/>
          <a:p>
            <a:pPr indent="0" marL="0">
              <a:buNone/>
            </a:pPr>
            <a:r>
              <a:rPr lang="en-US" sz="1000" b="1" dirty="0">
                <a:solidFill>
                  <a:srgbClr val="222222"/>
                </a:solidFill>
                <a:latin typeface="Calibri" pitchFamily="34" charset="0"/>
                <a:ea typeface="Calibri" pitchFamily="34" charset="-122"/>
                <a:cs typeface="Calibri" pitchFamily="34" charset="-120"/>
              </a:rPr>
              <a:t>Lost events by type (combined Jul + Aug):</a:t>
            </a:r>
            <a:endParaRPr lang="en-US" sz="1000" dirty="0"/>
          </a:p>
        </p:txBody>
      </p:sp>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274320" y="2916936"/>
          <a:ext cx="8595360" cy="621792"/>
        </p:xfrm>
        <a:graphic>
          <a:graphicData uri="http://schemas.openxmlformats.org/drawingml/2006/table">
            <a:tbl>
              <a:tblPr/>
              <a:tblGrid>
                <a:gridCol w="1719072"/>
                <a:gridCol w="1719072"/>
                <a:gridCol w="1719072"/>
                <a:gridCol w="1719072"/>
                <a:gridCol w="1719072"/>
              </a:tblGrid>
              <a:tr h="201168">
                <a:tc>
                  <a:txBody>
                    <a:bodyPr/>
                    <a:lstStyle/>
                    <a:p>
                      <a:pPr algn="ctr" indent="0" marL="0">
                        <a:buNone/>
                      </a:pPr>
                      <a:r>
                        <a:rPr lang="en-US" sz="950" b="1" dirty="0">
                          <a:solidFill>
                            <a:srgbClr val="FFFFFF"/>
                          </a:solidFill>
                        </a:rPr>
                        <a:t>Type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Jul 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950" b="1" dirty="0">
                          <a:solidFill>
                            <a:srgbClr val="FFFFFF"/>
                          </a:solidFill>
                        </a:rPr>
                        <a:t>Aug Lost</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C62828"/>
                    </a:solidFill>
                  </a:tcPr>
                </a:tc>
                <a:tc>
                  <a:txBody>
                    <a:bodyPr/>
                    <a:lstStyle/>
                    <a:p>
                      <a:pPr algn="ctr" indent="0" marL="0">
                        <a:buNone/>
                      </a:pPr>
                      <a:r>
                        <a:rPr lang="en-US" sz="950" b="1" dirty="0">
                          <a:solidFill>
                            <a:srgbClr val="FFFFFF"/>
                          </a:solidFill>
                        </a:rPr>
                        <a:t>Combined</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c>
                  <a:txBody>
                    <a:bodyPr/>
                    <a:lstStyle/>
                    <a:p>
                      <a:pPr algn="ctr" indent="0" marL="0">
                        <a:buNone/>
                      </a:pPr>
                      <a:r>
                        <a:rPr lang="en-US" sz="950" b="1" dirty="0">
                          <a:solidFill>
                            <a:srgbClr val="FFFFFF"/>
                          </a:solidFill>
                        </a:rPr>
                        <a:t>Share</a:t>
                      </a:r>
                      <a:endParaRPr lang="en-US" sz="95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37474F"/>
                    </a:solidFill>
                  </a:tcPr>
                </a:tc>
              </a:tr>
              <a:tr h="201168">
                <a:tc>
                  <a:txBody>
                    <a:bodyPr/>
                    <a:lstStyle/>
                    <a:p>
                      <a:pPr algn="l" indent="0" marL="0">
                        <a:buNone/>
                      </a:pPr>
                      <a:r>
                        <a:rPr lang="en-US" sz="1000" b="1" dirty="0">
                          <a:solidFill>
                            <a:srgbClr val="222222"/>
                          </a:solidFill>
                        </a:rPr>
                        <a:t>Adult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29</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58</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55%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r h="201168">
                <a:tc>
                  <a:txBody>
                    <a:bodyPr/>
                    <a:lstStyle/>
                    <a:p>
                      <a:pPr algn="l" indent="0" marL="0">
                        <a:buNone/>
                      </a:pPr>
                      <a:r>
                        <a:rPr lang="en-US" sz="1000" b="1" dirty="0">
                          <a:solidFill>
                            <a:srgbClr val="222222"/>
                          </a:solidFill>
                        </a:rPr>
                        <a:t>Youth Race</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5F5"/>
                    </a:solidFill>
                  </a:tcPr>
                </a:tc>
                <a:tc>
                  <a:txBody>
                    <a:bodyPr/>
                    <a:lstStyle/>
                    <a:p>
                      <a:pPr algn="ctr" indent="0" marL="0">
                        <a:buNone/>
                      </a:pPr>
                      <a:r>
                        <a:rPr lang="en-US" sz="1000" b="1" dirty="0">
                          <a:solidFill>
                            <a:srgbClr val="C62828"/>
                          </a:solidFill>
                        </a:rPr>
                        <a:t>13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22</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35</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c>
                  <a:txBody>
                    <a:bodyPr/>
                    <a:lstStyle/>
                    <a:p>
                      <a:pPr algn="ctr" indent="0" marL="0">
                        <a:buNone/>
                      </a:pPr>
                      <a:r>
                        <a:rPr lang="en-US" sz="1000" b="1" dirty="0">
                          <a:solidFill>
                            <a:srgbClr val="C62828"/>
                          </a:solidFill>
                        </a:rPr>
                        <a:t>33%</a:t>
                      </a:r>
                      <a:endParaRPr lang="en-US" sz="1000" dirty="0"/>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CDD2"/>
                    </a:solidFill>
                  </a:tcPr>
                </a:tc>
              </a:tr>
            </a:tbl>
          </a:graphicData>
        </a:graphic>
      </p:graphicFrame>
      <p:sp>
        <p:nvSpPr>
          <p:cNvPr id="14" name="Text 9"/>
          <p:cNvSpPr/>
          <p:nvPr/>
        </p:nvSpPr>
        <p:spPr>
          <a:xfrm>
            <a:off x="274320" y="3575304"/>
            <a:ext cx="8595360" cy="137160"/>
          </a:xfrm>
          <a:prstGeom prst="rect">
            <a:avLst/>
          </a:prstGeom>
          <a:noFill/>
          <a:ln/>
        </p:spPr>
        <p:txBody>
          <a:bodyPr wrap="square" rtlCol="0" anchor="ctr"/>
          <a:lstStyle/>
          <a:p>
            <a:pPr indent="0" marL="0">
              <a:buNone/>
            </a:pPr>
            <a:r>
              <a:rPr lang="en-US" sz="850" i="1" dirty="0">
                <a:solidFill>
                  <a:srgbClr val="777777"/>
                </a:solidFill>
                <a:latin typeface="Calibri" pitchFamily="34" charset="0"/>
                <a:ea typeface="Calibri" pitchFamily="34" charset="-122"/>
                <a:cs typeface="Calibri" pitchFamily="34" charset="-120"/>
              </a:rPr>
              <a:t>Adult Clinic: 8 lost (8%)  |  Youth Clinic: 4 lost (4%)  --  minor; not material to win-back prioritisation</a:t>
            </a:r>
            <a:endParaRPr lang="en-US" sz="850" dirty="0"/>
          </a:p>
        </p:txBody>
      </p:sp>
      <p:sp>
        <p:nvSpPr>
          <p:cNvPr id="15" name="Shape 10"/>
          <p:cNvSpPr/>
          <p:nvPr/>
        </p:nvSpPr>
        <p:spPr>
          <a:xfrm>
            <a:off x="274320" y="3785616"/>
            <a:ext cx="4160520" cy="713232"/>
          </a:xfrm>
          <a:prstGeom prst="rect">
            <a:avLst/>
          </a:prstGeom>
          <a:solidFill>
            <a:srgbClr val="FFCDD2"/>
          </a:solidFill>
          <a:ln w="12700">
            <a:solidFill>
              <a:srgbClr val="C62828"/>
            </a:solidFill>
            <a:prstDash val="solid"/>
          </a:ln>
        </p:spPr>
      </p:sp>
      <p:sp>
        <p:nvSpPr>
          <p:cNvPr id="16" name="Text 11"/>
          <p:cNvSpPr/>
          <p:nvPr/>
        </p:nvSpPr>
        <p:spPr>
          <a:xfrm>
            <a:off x="384048" y="3813048"/>
            <a:ext cx="3931920" cy="658368"/>
          </a:xfrm>
          <a:prstGeom prst="rect">
            <a:avLst/>
          </a:prstGeom>
          <a:noFill/>
          <a:ln/>
        </p:spPr>
        <p:txBody>
          <a:bodyPr wrap="square"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August -- Act Now (2026 Window)
</a:t>
            </a:r>
            <a:pPr indent="0" marL="0">
              <a:buNone/>
            </a:pPr>
            <a:r>
              <a:rPr lang="en-US" sz="950" dirty="0">
                <a:solidFill>
                  <a:srgbClr val="C62828"/>
                </a:solidFill>
                <a:latin typeface="Calibri" pitchFamily="34" charset="0"/>
                <a:ea typeface="Calibri" pitchFamily="34" charset="-122"/>
                <a:cs typeface="Calibri" pitchFamily="34" charset="-120"/>
              </a:rPr>
              <a:t>56 lost in 2025. Reach all known organizers; a 20% win-back recovers ~11 events.</a:t>
            </a:r>
            <a:endParaRPr lang="en-US" sz="1050" dirty="0"/>
          </a:p>
        </p:txBody>
      </p:sp>
      <p:sp>
        <p:nvSpPr>
          <p:cNvPr id="17" name="Shape 12"/>
          <p:cNvSpPr/>
          <p:nvPr/>
        </p:nvSpPr>
        <p:spPr>
          <a:xfrm>
            <a:off x="4617720" y="3785616"/>
            <a:ext cx="4251960" cy="713232"/>
          </a:xfrm>
          <a:prstGeom prst="rect">
            <a:avLst/>
          </a:prstGeom>
          <a:solidFill>
            <a:srgbClr val="E3F2FD"/>
          </a:solidFill>
          <a:ln w="12700">
            <a:solidFill>
              <a:srgbClr val="1565C0"/>
            </a:solidFill>
            <a:prstDash val="solid"/>
          </a:ln>
        </p:spPr>
      </p:sp>
      <p:sp>
        <p:nvSpPr>
          <p:cNvPr id="18" name="Text 13"/>
          <p:cNvSpPr/>
          <p:nvPr/>
        </p:nvSpPr>
        <p:spPr>
          <a:xfrm>
            <a:off x="4727448" y="3813048"/>
            <a:ext cx="4023360" cy="658368"/>
          </a:xfrm>
          <a:prstGeom prst="rect">
            <a:avLst/>
          </a:prstGeom>
          <a:noFill/>
          <a:ln/>
        </p:spPr>
        <p:txBody>
          <a:bodyPr wrap="square" rtlCol="0" anchor="ctr"/>
          <a:lstStyle/>
          <a:p>
            <a:pPr indent="0" marL="0">
              <a:buNone/>
            </a:pPr>
            <a:r>
              <a:rPr lang="en-US" sz="1050" b="1" dirty="0">
                <a:solidFill>
                  <a:srgbClr val="1565C0"/>
                </a:solidFill>
                <a:latin typeface="Calibri" pitchFamily="34" charset="0"/>
                <a:ea typeface="Calibri" pitchFamily="34" charset="-122"/>
                <a:cs typeface="Calibri" pitchFamily="34" charset="-120"/>
              </a:rPr>
              <a:t>July -- Diagnose for 2027
</a:t>
            </a:r>
            <a:pPr indent="0" marL="0">
              <a:buNone/>
            </a:pPr>
            <a:r>
              <a:rPr lang="en-US" sz="950" dirty="0">
                <a:solidFill>
                  <a:srgbClr val="1565C0"/>
                </a:solidFill>
                <a:latin typeface="Calibri" pitchFamily="34" charset="0"/>
                <a:ea typeface="Calibri" pitchFamily="34" charset="-122"/>
                <a:cs typeface="Calibri" pitchFamily="34" charset="-120"/>
              </a:rPr>
              <a:t>49 lost in 2025. Too late for 2026; outreach to understand WHY is the highest-ROI 2027 planning action.</a:t>
            </a:r>
            <a:endParaRPr lang="en-US" sz="1050" dirty="0"/>
          </a:p>
        </p:txBody>
      </p:sp>
      <p:sp>
        <p:nvSpPr>
          <p:cNvPr id="19" name="Shape 14"/>
          <p:cNvSpPr/>
          <p:nvPr/>
        </p:nvSpPr>
        <p:spPr>
          <a:xfrm>
            <a:off x="274320" y="4590288"/>
            <a:ext cx="8595360" cy="329184"/>
          </a:xfrm>
          <a:prstGeom prst="rect">
            <a:avLst/>
          </a:prstGeom>
          <a:solidFill>
            <a:srgbClr val="ECEFF1"/>
          </a:solidFill>
          <a:ln w="12700">
            <a:solidFill>
              <a:srgbClr val="CCCCCC"/>
            </a:solidFill>
            <a:prstDash val="solid"/>
          </a:ln>
        </p:spPr>
      </p:sp>
      <p:sp>
        <p:nvSpPr>
          <p:cNvPr id="20" name="Text 15"/>
          <p:cNvSpPr/>
          <p:nvPr/>
        </p:nvSpPr>
        <p:spPr>
          <a:xfrm>
            <a:off x="384048" y="4617720"/>
            <a:ext cx="8321040" cy="292608"/>
          </a:xfrm>
          <a:prstGeom prst="rect">
            <a:avLst/>
          </a:prstGeom>
          <a:noFill/>
          <a:ln/>
        </p:spPr>
        <p:txBody>
          <a:bodyPr wrap="square" rtlCol="0" anchor="ctr"/>
          <a:lstStyle/>
          <a:p>
            <a:pPr indent="0" marL="0">
              <a:buNone/>
            </a:pPr>
            <a:r>
              <a:rPr lang="en-US" sz="950" b="1" dirty="0">
                <a:solidFill>
                  <a:srgbClr val="222222"/>
                </a:solidFill>
                <a:latin typeface="Calibri" pitchFamily="34" charset="0"/>
                <a:ea typeface="Calibri" pitchFamily="34" charset="-122"/>
                <a:cs typeface="Calibri" pitchFamily="34" charset="-120"/>
              </a:rPr>
              <a:t>Narrative:  </a:t>
            </a:r>
            <a:pPr indent="0" marL="0">
              <a:buNone/>
            </a:pPr>
            <a:r>
              <a:rPr lang="en-US" sz="950" dirty="0">
                <a:solidFill>
                  <a:srgbClr val="222222"/>
                </a:solidFill>
                <a:latin typeface="Calibri" pitchFamily="34" charset="0"/>
                <a:ea typeface="Calibri" pitchFamily="34" charset="-122"/>
                <a:cs typeface="Calibri" pitchFamily="34" charset="-120"/>
              </a:rPr>
              <a:t>August lost 56 events (70% replacement rate); July lost 16. August is the immediate crisis; July suggests a pattern. Immediate win-back in August; diagnostic deep-dive in July for systemic fix.</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Sanctioned Events 2025 vs 2026</dc:title>
  <dc:subject>PptxGenJS Presentation</dc:subject>
  <dc:creator>PptxGenJS</dc:creator>
  <cp:lastModifiedBy>PptxGenJS</cp:lastModifiedBy>
  <cp:revision>1</cp:revision>
  <dcterms:created xsi:type="dcterms:W3CDTF">2026-05-17T15:02:38Z</dcterms:created>
  <dcterms:modified xsi:type="dcterms:W3CDTF">2026-05-17T15:02:38Z</dcterms:modified>
</cp:coreProperties>
</file>