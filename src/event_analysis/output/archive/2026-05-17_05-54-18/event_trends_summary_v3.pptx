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1 -- Title Overview
Years: 2025 vs 2026  |  Total events: 1,178 vs 1,166  |  Net: -12
By type:
- Adult Race: 823-&gt;822 (-1, -0.1%)
- Youth Race: 229-&gt;225 (-4, -1.7%)
- Adult Clinic: 97-&gt;85 (-12, -12.4%)
- Youth Clinic: 29-&gt;34 (+5, 17.2%)
Key theme: Adult Clinic accounts for the full net decline. Youth Clinic is the growth story.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2 -- Event Counts by Type
Key message: The -12 net decline is entirely explained by Adult Clinic.
By type:
- Adult Race: 823-&gt;822 (-1, -0.1%)
- Youth Race: 229-&gt;225 (-4, -1.7%)
- Adult Clinic: 97-&gt;85 (-12, -12.4%)
- Youth Clinic: 29-&gt;34 (+5, 17.2%)
Talking point: If you exclude Adult Clinic, the rest of the portfolio is flat.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3 -- Monthly Breakdown
Worst months: Aug (-18), Jul (-16), Feb (-9)
Best months:  Oct (+11), Jun (+10), Mar (+8)
Summer total: -34  |  Calendar cover: zero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4 -- Calendar Impact
July: cal expected 0.0, actual -16, organic -16
August: cal expected 0.0, actual -18, organic -18
No calendar alibi for summer declines -- fully organic.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5 -- Organic Performance
After stripping calendar noise:
- Adult Race: organic -0.1%
- Youth Race: organic -1.7%
- Adult Clinic: organic -12.4%
- Youth Clinic: organic 17.2%
Structural decliners: Adult Clinic
Structural growers: Youth Clinic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6 -- Event Disposition
Segments (of 1,178 2025 events):
- Retained: 746 (63%)
- Shifted: 124
- Lost (truly lost): 295 (25%)
- New in 2026: 266
- Recovered: 30
Replacement rate: 100%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7 -- Application Pipeline
In-year applications through May are running ahead of last year.
Highest priority: Adult Clinic (early pipeline flat, late-year spontaneous apps not materializing).
Second: Adult Race (already +34% ahead in-year).
Third: Youth Clinic (fast-track approvals to maintain momentum).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8 -- Win-Back Opportunity
July (49 lost): Too late for 2026. Q3 outreach to understand WHY they left -- diagnose the churn cycle.
August (55 lost): 10-12 weeks away -- some still recruitable. Target by end of May.
Replacement rate: July 94%, August 93%. Net decline is a VOLUME problem, not a demand collapse.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F1B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AA1524"/>
          </a:solidFill>
          <a:ln w="12700">
            <a:solidFill>
              <a:srgbClr val="AA152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USAT  |  Sanctioned Events Analysis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1051560"/>
            <a:ext cx="8412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Sanctioned Events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36576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vs 2026  |  Year-over-Year Analysis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36576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-12 events overall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(-1.0% -- modest headline, but composition matters)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269748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269748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-12.4%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(Sole driver of the net decline)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3337560"/>
            <a:ext cx="4114800" cy="54864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&amp; August -34 </a:t>
            </a:r>
            <a:pPr indent="0" marL="0">
              <a:buNone/>
            </a:pPr>
            <a:r>
              <a:rPr lang="en-US" sz="10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calendar cover -- purely organic losses)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754880" y="3337560"/>
            <a:ext cx="4114800" cy="54864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46320" y="3337560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 +17.2% </a:t>
            </a:r>
            <a:pPr indent="0" marL="0">
              <a:buNone/>
            </a:pPr>
            <a:r>
              <a:rPr lang="en-US" sz="100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(Only type growing -- a genuine bright spot)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65760" y="4663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as of May 16, 2026  |  Excl. Cancelled / Declined / Deleted  |  ~85-90% event-level match confidence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8458200" y="4919472"/>
            <a:ext cx="594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F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0  --  What Changed? Event Counts by Type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8595360" cy="2487168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Count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Read as...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-0.1%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Essentially flat -- no race product problem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-1.7%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Mild softness -- monitor trend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-12.4%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Structural contraction -- sole driver of net decline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17.2%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1E7D34"/>
                          </a:solidFill>
                        </a:rPr>
                        <a:t>Only type growing -- genuine bright spot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-1.0%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 = full net decline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274320" y="3310128"/>
            <a:ext cx="8595360" cy="100584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3355848"/>
            <a:ext cx="8321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overall -12 is a modest headline but the composition tells the real story. Adult Clinic is down 12 events (-12.4%). The genuine growth story: Youth Clinic is up 5 events (+17.2%).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222222"/>
          </a:solidFill>
          <a:ln w="12700">
            <a:solidFill>
              <a:srgbClr val="2222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  --  Monthly Breakdown -- Jul &amp; Aug Drive the Declines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694944"/>
          <a:ext cx="3108960" cy="3493008"/>
        </p:xfrm>
        <a:graphic>
          <a:graphicData uri="http://schemas.openxmlformats.org/drawingml/2006/table">
            <a:tbl>
              <a:tblPr/>
              <a:tblGrid>
                <a:gridCol w="777240"/>
                <a:gridCol w="777240"/>
                <a:gridCol w="777240"/>
                <a:gridCol w="777240"/>
              </a:tblGrid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Jan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Feb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Mar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54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Apr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Sep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71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8E6C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Nov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Dec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468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3566160" y="694944"/>
            <a:ext cx="5394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Detail -- Jul &amp; Aug</a:t>
            </a:r>
            <a:endParaRPr lang="en-US" sz="11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566160" y="987552"/>
          <a:ext cx="5394960" cy="1261872"/>
        </p:xfrm>
        <a:graphic>
          <a:graphicData uri="http://schemas.openxmlformats.org/drawingml/2006/table">
            <a:tbl>
              <a:tblPr/>
              <a:tblGrid>
                <a:gridCol w="899160"/>
                <a:gridCol w="899160"/>
                <a:gridCol w="899160"/>
                <a:gridCol w="899160"/>
                <a:gridCol w="899160"/>
                <a:gridCol w="89916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Full Year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3566160" y="2340864"/>
            <a:ext cx="5394960" cy="658368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3630168" y="2340864"/>
            <a:ext cx="526694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are driven by races, not clinics. Clinic mix is flat or zero in both months.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3566160" y="3090672"/>
            <a:ext cx="5394960" cy="914400"/>
          </a:xfrm>
          <a:prstGeom prst="rect">
            <a:avLst/>
          </a:prstGeom>
          <a:solidFill>
            <a:srgbClr val="C8E6C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30168" y="3090672"/>
            <a:ext cx="526694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 (+11) and Jun (+10) are the two strongest months. Both show genuine organic strength plus new event additions.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274320" y="4315968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84048" y="4343400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 (-18) and Jul (-16) are the two biggest problem months. Meanwhile Oct (+11) and Jun (+10) are the standout performers. The pattern suggests summer peak season demand is softening while shoulder months hold or grow.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  --  Is This a Calendar Effect?  No -- Not for Jul or Aug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8595360" cy="566928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0624" y="722376"/>
            <a:ext cx="8302752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 and Aug had ZERO change in weekend days (Sat or Sun) between 2025 and 2026. There is no calendar explanation for the declines -- they are fully organic.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53312"/>
          <a:ext cx="8595360" cy="2231136"/>
        </p:xfrm>
        <a:graphic>
          <a:graphicData uri="http://schemas.openxmlformats.org/drawingml/2006/table">
            <a:tbl>
              <a:tblPr/>
              <a:tblGrid>
                <a:gridCol w="1432560"/>
                <a:gridCol w="1432560"/>
                <a:gridCol w="1432560"/>
                <a:gridCol w="1432560"/>
                <a:gridCol w="1432560"/>
                <a:gridCol w="1432560"/>
              </a:tblGrid>
              <a:tr h="3383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Weekend Days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Calendar Expected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Actual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Interpretation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None (0)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C62828"/>
                          </a:solidFill>
                        </a:rPr>
                        <a:t>Zero calendar cover -- full decline is organic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May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E65100"/>
                          </a:solidFill>
                        </a:rPr>
                        <a:t>Looks +3 raw -- actually -13 organic (calendar gifted +16 that did not fill)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-1 Sunday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-23.2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1E7D34"/>
                          </a:solidFill>
                        </a:rPr>
                        <a:t>Lost a Sunday but organic demand drove +33. Strongest organic month.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383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Oct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E65100"/>
                          </a:solidFill>
                        </a:rPr>
                        <a:t>+1 Saturday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+7.5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+11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+3.5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E7D34"/>
                          </a:solidFill>
                        </a:rPr>
                        <a:t>Calendar gave +8; organic gain +4 on top -- both working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274320" y="3675888"/>
            <a:ext cx="4160520" cy="566928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3694176"/>
            <a:ext cx="39319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 shifting (124 events, 11%) explains little: net shift for July was -3, August was 0. Shifting barely moves the needle on summer.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3675888"/>
            <a:ext cx="4251960" cy="566928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3694176"/>
            <a:ext cx="402336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distortion: raw +3 masks -13 organic. An extra Sunday worth +16 expected events simply did not materialise -- the most misleading raw number in the data.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4352544"/>
            <a:ext cx="8595360" cy="45720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4379976"/>
            <a:ext cx="83210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calendar is not the explanation for July and August -- both had flat weekend-day counts. The summer declines (combined -34) are fully organic. No alibi.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4A148C"/>
          </a:solidFill>
          <a:ln w="12700">
            <a:solidFill>
              <a:srgbClr val="4A14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  --  Organic Performance -- True Signal After Removing Calendar Noise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calendar effects are stripped, the real performance picture: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69264"/>
          <a:ext cx="8595360" cy="1828800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32918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Raw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Calendar Effect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Delta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</a:rPr>
                        <a:t>Organic 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148C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+1.4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+0.2%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-4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-1.2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-2.8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62828"/>
                          </a:solidFill>
                        </a:rPr>
                        <a:t>-1.2%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-12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-2.0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-10.0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C62828"/>
                          </a:solidFill>
                        </a:rPr>
                        <a:t>-10.3%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E65100"/>
                          </a:solidFill>
                        </a:rPr>
                        <a:t>-0.6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D34"/>
                          </a:solidFill>
                        </a:rPr>
                        <a:t>+5.6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7D34"/>
                          </a:solidFill>
                        </a:rPr>
                        <a:t>+19.4%</a:t>
                      </a:r>
                      <a:endParaRPr lang="en-US" sz="10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889504"/>
            <a:ext cx="8595360" cy="402336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84048" y="2907792"/>
            <a:ext cx="8321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Organic Delta = Actual Delta - Calendar Expected Delta.   Calendar effect = Delta weekend days x 2025 events-per-weekend-day for that month &amp; type.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" y="3218688"/>
            <a:ext cx="4160520" cy="713232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3246120"/>
            <a:ext cx="393192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-12.4% organic
Structurally declining -- the sole driver of the net -12. Calendar noise cannot explain it.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Structurally declining -- the sole driver of the net -12. Calendar noise cannot explain it.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617720" y="3218688"/>
            <a:ext cx="4251960" cy="713232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727448" y="3246120"/>
            <a:ext cx="4023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Clinic: +17.2% organic
Only type genuinely growing -- no calendar help. Other races near-flat after stripping noise.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type genuinely growing -- no calendar help. Adult &amp; Youth Race are near-flat after stripping noise.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274320" y="4041648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&amp; worst organic months (calendar-adjusted):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4315968"/>
          <a:ext cx="8595360" cy="603504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Strongest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June +33.2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March +13.4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January +5.8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April +5.0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3A047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Weakest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August -18.0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July -16.0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May -12.8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November -6.8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274320" y="4974336"/>
            <a:ext cx="8595360" cy="128016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84048" y="4983480"/>
            <a:ext cx="8321040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is contracting structurally (-12.4% organic). Adult Race and Youth Race are near-flat organically -- the race product is holding. Youth Clinic is growing organically at +17.2%.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  --  Did We Really Lose Events?  Event-Level Disposition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694944"/>
            <a:ext cx="2029968" cy="1152144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746</a:t>
            </a:r>
            <a:endParaRPr lang="en-US" sz="27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63% of 2025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274320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Retained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same month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2450592" y="694944"/>
            <a:ext cx="2029968" cy="1152144"/>
          </a:xfrm>
          <a:prstGeom prst="rect">
            <a:avLst/>
          </a:prstGeom>
          <a:solidFill>
            <a:srgbClr val="FFF8E1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50592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124</a:t>
            </a:r>
            <a:endParaRPr lang="en-US" sz="2700" dirty="0"/>
          </a:p>
        </p:txBody>
      </p:sp>
      <p:sp>
        <p:nvSpPr>
          <p:cNvPr id="12" name="Text 10"/>
          <p:cNvSpPr/>
          <p:nvPr/>
        </p:nvSpPr>
        <p:spPr>
          <a:xfrm>
            <a:off x="2450592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11% of 2025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450592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Shifted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450592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event, diff month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4626864" y="694944"/>
            <a:ext cx="2029968" cy="1152144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26864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295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4626864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26864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626864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Did not return to 2026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03136" y="694944"/>
            <a:ext cx="2029968" cy="1152144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03136" y="722376"/>
            <a:ext cx="202996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7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263</a:t>
            </a:r>
            <a:endParaRPr lang="en-US" sz="2700" dirty="0"/>
          </a:p>
        </p:txBody>
      </p:sp>
      <p:sp>
        <p:nvSpPr>
          <p:cNvPr id="22" name="Text 20"/>
          <p:cNvSpPr/>
          <p:nvPr/>
        </p:nvSpPr>
        <p:spPr>
          <a:xfrm>
            <a:off x="6803136" y="116128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of 2025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803136" y="1344168"/>
            <a:ext cx="20299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803136" y="1527048"/>
            <a:ext cx="20299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new to 2026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74320" y="1920240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Summer Replacement Rates -- July &amp; August:</a:t>
            </a:r>
            <a:endParaRPr lang="en-US" sz="10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194560"/>
          <a:ext cx="8595360" cy="1261872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Month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Retained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7D3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Out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510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Lost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(truly lost)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Shifted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New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Added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5C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Repl.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Rate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July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181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165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75%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August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39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68%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June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209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E65100"/>
                          </a:solidFill>
                        </a:rPr>
                        <a:t>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8E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565C0"/>
                          </a:solidFill>
                        </a:rPr>
                        <a:t>18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565C0"/>
                          </a:solidFill>
                        </a:rPr>
                        <a:t>77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2F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219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&gt;100%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27" name="Shape 24"/>
          <p:cNvSpPr/>
          <p:nvPr/>
        </p:nvSpPr>
        <p:spPr>
          <a:xfrm>
            <a:off x="274320" y="3547872"/>
            <a:ext cx="4160520" cy="548640"/>
          </a:xfrm>
          <a:prstGeom prst="rect">
            <a:avLst/>
          </a:prstGeom>
          <a:solidFill>
            <a:srgbClr val="F3E5F5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4048" y="3566160"/>
            <a:ext cx="393192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A1B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events Tried to Return -- filed a 2026 application but were cancelled/declined. 33 events Recovered -- cancelled in 2025 but came back in 2026.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4617720" y="3547872"/>
            <a:ext cx="4251960" cy="548640"/>
          </a:xfrm>
          <a:prstGeom prst="rect">
            <a:avLst/>
          </a:prstGeom>
          <a:solidFill>
            <a:srgbClr val="ECEFF1"/>
          </a:solidFill>
          <a:ln w="12700">
            <a:solidFill>
              <a:srgbClr val="55555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727448" y="3566160"/>
            <a:ext cx="40233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replacement rate: 296 new/recovered events added vs 308 truly lost -- 96% gross replacement, but weakest in summer peak months.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274320" y="4206240"/>
            <a:ext cx="8595360" cy="594360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4048" y="4233672"/>
            <a:ext cx="8321040" cy="5394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 -- we really did lose events. 295 of 1,178 2025 events (25%) did not return in any form. The portfolio added 266 genuinely new events plus 30 recovered from cancellations -- 100% gross replacement. Replacement is weakest in the peak summer months, which is where the declines matter most.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  --  Application Pipeline -- Who Is Filing, When, and Where the Opportunities Are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applications are nearly identical year-over-year (~1,178 vs ~1,167). The story is in WHEN and WHICH type is filing:</a:t>
            </a:r>
            <a:endParaRPr lang="en-US" sz="10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50976"/>
          <a:ext cx="8595360" cy="1591056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Event Type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2024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5E2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Q4 2025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Pre-Filing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Jan-May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 In-Yr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 Apps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Q4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Delta In-Yr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(YTD)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431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409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173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814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69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101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91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226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Adult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97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86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Youth Clinic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263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1,178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544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338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1,167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-20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+75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274320" y="263347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Highest-Probability Opportunities -- May through December 2026: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4320" y="2907792"/>
            <a:ext cx="4160520" cy="914400"/>
          </a:xfrm>
          <a:prstGeom prst="rect">
            <a:avLst/>
          </a:prstGeom>
          <a:solidFill>
            <a:srgbClr val="FDECEA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2944368"/>
            <a:ext cx="39319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-- Highest ROI Opportunity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pipeline is FLAT vs 2025 (Q4 identical; Jan-May identical). In 2025, 16 additional clinics were filed spontaneously May-Dec -- in 2026 only 1 has filed so far. Proactive outreach May-Aug could recover 10-15 events and effectively close the full -12 gap.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4617720" y="2907792"/>
            <a:ext cx="4251960" cy="914400"/>
          </a:xfrm>
          <a:prstGeom prst="rect">
            <a:avLst/>
          </a:prstGeom>
          <a:solidFill>
            <a:srgbClr val="E8F5E9"/>
          </a:solidFill>
          <a:ln w="12700">
            <a:solidFill>
              <a:srgbClr val="1E7D34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4727448" y="2944368"/>
            <a:ext cx="40233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&amp; Youth Clinic -- Reinforce
</a:t>
            </a:r>
            <a:pPr indent="0" marL="0">
              <a:buNone/>
            </a:pPr>
            <a:r>
              <a:rPr lang="en-US" sz="950" dirty="0">
                <a:solidFill>
                  <a:srgbClr val="1E7D3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Race in-year apps are +34% ahead (Jan-May). Jul-Sep historically adds 15-20 more -- keep the channel open. Youth Clinic is +90% in-year and +50% in Q4 pre-filing -- growth is structural. Fast-track approvals so momentum is not lost to processing.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274320" y="3913632"/>
            <a:ext cx="4160520" cy="457200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84048" y="3931920"/>
            <a:ext cx="39319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 action: Target clinic organizers May-Aug before spontaneous window closes. Low effort, high impact.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617720" y="3913632"/>
            <a:ext cx="4251960" cy="457200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727448" y="3931920"/>
            <a:ext cx="40233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pipeline is 16% ahead (+48 in-yr apps) of 2025 pace through May. Year-end active count will likely be higher than the May snapshot shows.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274320" y="4480560"/>
            <a:ext cx="8595360" cy="42062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450799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data tells a more optimistic story than the active-event snapshot. Total volume is nearly flat and in-year applications are running 16% ahead of 2025 pace. The single highest-ROI action is Adult Clinic outreach (May-Aug) -- early signals are flat, not falling, but the late-year spontaneous apps that filled 2025 have not materialized yet. Youth Clinic and Adult Race pipelines are healthy and self-sustaining.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6692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64592" y="73152"/>
            <a:ext cx="8229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6  --  Jul &amp; Aug: Organic Churn and the Win-Back Opportunity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8458200" y="91440"/>
            <a:ext cx="594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AAA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274320" y="694944"/>
            <a:ext cx="859536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Replacement is near-complete -- the net declines come from month-shifting, not failed attrition recovery. But the churn volume itself is the problem: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14400"/>
          <a:ext cx="4160520" cy="1335024"/>
        </p:xfrm>
        <a:graphic>
          <a:graphicData uri="http://schemas.openxmlformats.org/drawingml/2006/table">
            <a:tbl>
              <a:tblPr/>
              <a:tblGrid>
                <a:gridCol w="1386840"/>
                <a:gridCol w="1386840"/>
                <a:gridCol w="138684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July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37E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-49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2322576"/>
            <a:ext cx="416052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92608" y="2331720"/>
            <a:ext cx="4114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179 events  -&gt;  2026: 165       Replacement: 46/49 = 94%</a:t>
            </a:r>
            <a:endParaRPr lang="en-US" sz="9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914400"/>
          <a:ext cx="4251960" cy="1335024"/>
        </p:xfrm>
        <a:graphic>
          <a:graphicData uri="http://schemas.openxmlformats.org/drawingml/2006/table">
            <a:tbl>
              <a:tblPr/>
              <a:tblGrid>
                <a:gridCol w="1417320"/>
                <a:gridCol w="1417320"/>
                <a:gridCol w="1417320"/>
              </a:tblGrid>
              <a:tr h="2103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August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2025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2026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064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Retained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148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222222"/>
                          </a:solidFill>
                        </a:rPr>
                        <a:t>Shifted Out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-15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b="1" dirty="0">
                          <a:solidFill>
                            <a:srgbClr val="C62828"/>
                          </a:solidFill>
                        </a:rPr>
                        <a:t>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-55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Shift In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D34"/>
                          </a:solidFill>
                        </a:rPr>
                        <a:t>+15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  <a:tr h="2103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50" dirty="0">
                          <a:solidFill>
                            <a:srgbClr val="1E7D34"/>
                          </a:solidFill>
                        </a:rPr>
                        <a:t>New / Rec'd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AAAAAA"/>
                          </a:solidFill>
                        </a:rPr>
                        <a:t>--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E7D34"/>
                          </a:solidFill>
                        </a:rPr>
                        <a:t>+36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5E9"/>
                    </a:solidFill>
                  </a:tcPr>
                </a:tc>
              </a:tr>
            </a:tbl>
          </a:graphicData>
        </a:graphic>
      </p:graphicFrame>
      <p:sp>
        <p:nvSpPr>
          <p:cNvPr id="10" name="Shape 6"/>
          <p:cNvSpPr/>
          <p:nvPr/>
        </p:nvSpPr>
        <p:spPr>
          <a:xfrm>
            <a:off x="4617720" y="2322576"/>
            <a:ext cx="4251960" cy="329184"/>
          </a:xfrm>
          <a:prstGeom prst="rect">
            <a:avLst/>
          </a:prstGeom>
          <a:solidFill>
            <a:srgbClr val="37474F"/>
          </a:solidFill>
          <a:ln w="12700">
            <a:solidFill>
              <a:srgbClr val="37474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636008" y="233172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8F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2025: 218 events  -&gt;  2026: 202       Replacement: 51/55 = 93%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274320" y="2724912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events by type (combined Jul + Aug) -- race product is 89% of losses:</a:t>
            </a:r>
            <a:endParaRPr lang="en-US" sz="1000" dirty="0"/>
          </a:p>
        </p:txBody>
      </p:sp>
      <p:graphicFrame>
        <p:nvGraphicFramePr>
          <p:cNvPr id="25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916936"/>
          <a:ext cx="8595360" cy="621792"/>
        </p:xfrm>
        <a:graphic>
          <a:graphicData uri="http://schemas.openxmlformats.org/drawingml/2006/table">
            <a:tbl>
              <a:tblPr/>
              <a:tblGrid>
                <a:gridCol w="1719072"/>
                <a:gridCol w="1719072"/>
                <a:gridCol w="1719072"/>
                <a:gridCol w="1719072"/>
                <a:gridCol w="1719072"/>
              </a:tblGrid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Jul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Aug Lost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6282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Combined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</a:rPr>
                        <a:t>Share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7474F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222222"/>
                          </a:solidFill>
                        </a:rPr>
                        <a:t>Adult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56%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222222"/>
                          </a:solidFill>
                        </a:rPr>
                        <a:t>Youth Race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22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C62828"/>
                          </a:solidFill>
                        </a:rPr>
                        <a:t>34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62828"/>
                          </a:solidFill>
                        </a:rPr>
                        <a:t>33%</a:t>
                      </a:r>
                      <a:endParaRPr lang="en-US" sz="10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DD2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274320" y="3575304"/>
            <a:ext cx="8595360" cy="137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Adult Clinic: 7 lost (7%)  |  Youth Clinic: 4 lost (4%)  --  minor; not material to win-back prioritisation</a:t>
            </a:r>
            <a:endParaRPr lang="en-US" sz="850" dirty="0"/>
          </a:p>
        </p:txBody>
      </p:sp>
      <p:sp>
        <p:nvSpPr>
          <p:cNvPr id="15" name="Shape 10"/>
          <p:cNvSpPr/>
          <p:nvPr/>
        </p:nvSpPr>
        <p:spPr>
          <a:xfrm>
            <a:off x="274320" y="3785616"/>
            <a:ext cx="4160520" cy="713232"/>
          </a:xfrm>
          <a:prstGeom prst="rect">
            <a:avLst/>
          </a:prstGeom>
          <a:solidFill>
            <a:srgbClr val="FFCDD2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84048" y="3813048"/>
            <a:ext cx="3931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August -- Act Now (2026 Window)
</a:t>
            </a:r>
            <a:pPr indent="0" marL="0">
              <a:buNone/>
            </a:pPr>
            <a:r>
              <a:rPr lang="en-US" sz="950" dirty="0">
                <a:solidFill>
                  <a:srgbClr val="C628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 lost: 29 Adult Race + 22 Youth Race. Events are 10-12 weeks out -- some organizers are still recruitable. Reach all known 2025 August organizers by end of May. A 20% win-back rate recovers ~11 events and nearly closes the gap.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4617720" y="3785616"/>
            <a:ext cx="4251960" cy="713232"/>
          </a:xfrm>
          <a:prstGeom prst="rect">
            <a:avLst/>
          </a:prstGeom>
          <a:solidFill>
            <a:srgbClr val="E3F2FD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727448" y="3813048"/>
            <a:ext cx="40233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-- Diagnose for 2027
</a:t>
            </a:r>
            <a:pPr indent="0" marL="0">
              <a:buNone/>
            </a:pPr>
            <a:r>
              <a:rPr lang="en-US" sz="950" dirty="0">
                <a:solidFill>
                  <a:srgbClr val="1565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49 lost: 30 Adult Race + 12 Youth Race. Too late for 2026 (6 weeks away). But ~50 events leave July annually and ~50 replace them -- a treadmill. Q3 outreach to all 49 organizers to understand WHY they left is the highest-ROI 2027 planning action.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274320" y="4590288"/>
            <a:ext cx="8595360" cy="329184"/>
          </a:xfrm>
          <a:prstGeom prst="rect">
            <a:avLst/>
          </a:prstGeom>
          <a:solidFill>
            <a:srgbClr val="ECEFF1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84048" y="4617720"/>
            <a:ext cx="8321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Narrative:  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and August each lose ~50 events and replace ~94-93% of them organically -- the ecosystem is self-replenishing but not fast enough to fully offset churn. The net decline is a volume problem, not a demand collapse. The immediate 2026 action is August win-back outreach (end of May). The strategic action is diagnosing July's churn before Q4 planning to protect 2027.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Sanctioned Events 2025 vs 2026</dc:title>
  <dc:subject>PptxGenJS Presentation</dc:subject>
  <dc:creator>PptxGenJS</dc:creator>
  <cp:lastModifiedBy>PptxGenJS</cp:lastModifiedBy>
  <cp:revision>1</cp:revision>
  <dcterms:created xsi:type="dcterms:W3CDTF">2026-05-17T05:51:20Z</dcterms:created>
  <dcterms:modified xsi:type="dcterms:W3CDTF">2026-05-17T05:51:20Z</dcterms:modified>
</cp:coreProperties>
</file>