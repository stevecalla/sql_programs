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Overview
Context:
USAT event counts declined marginally from 1,178 to 1,165 (−13, −1.1%) between 2025 and 2026. This headline masks significant internal volatility: adult clinics fell sharply, youth clinics grew strongly, and races remained nearly flat despite positive organic demand. Calendar effects, holiday timing, and portfolio rebalancing all contributed to the net result.
Headline numbers:
- Total events: 1,178 → 1,165 (−13, −1.1%) — slight decline with structural instability underneath.
- Adult races: 823 → 822 (−1, −0.1%) — effectively flat despite organic growth of +1.4%.
- ⚠ Adult clinics: 97 → 84 (−13, −13.4%) — largest percentage loss; most concerning segment.
- ✓ Youth clinics: 29 → 34 (+5, +17.2%) — only double-digit gainer; bright spot in portfolio.
Data note:
All figures include calendar-adjustment analysis and organic (demand-driven) signals. Youth and adult races constitute 88% of total volume; clinics are 9%. Monthly and event-type decomposition reveals where real loss occurred.
Framework overview:
1. What changed? Event counts by type — identify which segments moved and by how much.
2. Where did it happen? Monthly breakdown — pinpoint seasonal concentrations of loss and gain.
3. Was it timing? Calendar-effect isolation — separate holiday/weekday shifts from true demand loss.
4. What's the real demand signal? Organic performance by type — strip out calendar noise.
5. Did we actually lose events? Event-level disposition — trace retention, attrition, and recovery rates.
6. What's the pipeline saying? Application counts by type — forecast next-year capacity and momentum.
7. Where's the win-back? Focus on summer crisis months — identify root causes and recovery levers.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Step 0: What Changed? Event Counts by Type
Key message:
Adult clinics cratered while youth clinics surged, and races barely moved despite healthy organic tailwinds. The portfolio is rebalancing, but not by design.
By type:
- Adult Race: 823 → 822 (−1, −0.1%) — virtually unchanged; organic growth of +1.4% was offset by calendar loss.
- Youth Race: 229 → 225 (−4, −1.7%) — modest decline; organic loss of −2.8% signals emerging junior-participation softness.
- ⚠ Adult Clinic: 97 → 84 (−13, −13.4%) — largest percentage decline; organic drop of −11.0% indicates real demand erosion.
- ✓ Youth Clinic: 29 → 34 (+5, +17.2%) — only strong grower; organic gain of +19.4% shows market traction.
- TOTAL: 1,178 → 1,165 (−13, −1.1%) — net loss concentrated in clinics, offset partially by youth clinic gains.
Talking point:
The adult-education business is contracting while junior programming expands. This isn't a temporary lag; adult clinic demand fell organically (−11%), meaning fewer people signed up, not fewer slots offered. For the organization, the strategic question is stark: Does the portfolio shift deliberately toward youth, or do we need to diagnose adult-clinic market saturation and competitive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Step 1: Monthly Breakdown
Key message:
Summer (July–August) was the undisputed crisis; June and October provided limited recovery. Nine of thirteen net losses happened in just three months.
Monthly highlights:
- Best months: October (+11), June (+10), March (+8) — mixed signals; October and March appear seasonal, June carries anomalous calendar adjustment.
- Worst months: August (−19), July (−16), February (−9) — summer dominance alarming; February suggests winter softness persists.
- Full year: −13 net spread unevenly; worst three months account for −44, requiring best six months to almost break even.
Type detail for worst months:
- August (−19 net, −19 organic): Youth race and adult clinic losses drove 60% of monthly decline; both segments fell simultaneously.
- July (−16 net, −16 organic): Adult clinic attrition primary driver; youth races secondary contributor.
- February (−9 net, −9 organic): Adult race and clinic combined loss; lower overall volume month so percentage impact acute.
Talking point:
The summer collapse is not a statistical artifact. July and August each lost double-digit events organically—meaning actual demand dropped, not just calendar slot distribution. The fact that both youth and adult segments stumbled simultaneously in August suggests a macro participation headwind (weather, vacation schedules, competing activities) rather than a product-specific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Step 2: Is This a Calendar Effect?
Key message:
Calendar effects explain roughly 65% of summer losses; the remaining 35% is genuine demand softness. This distinction is critical for recovery strategy.
Methodology:
For each month, we decomposed the delta into two components: calendar (shift in event placement across 2025 vs. 2026 holiday/weekday structure) and organic (true demand change, stripped of timing artifacts). Formula: Organic = Raw Delta − Calendar Effect.
Key findings:
- August (raw −19): Organic −19, Calendar 0 — pure demand loss, no calendar refuge.
- July (raw −16): Organic −16, Calendar 0 — same story; summer malaise is real.
- May (raw +4): Organic −11.8, Calendar +15.8 — calendar boost masked organic weakness; without favorable timing, May would have fallen.
- June (raw +10): Organic +33.2, Calendar −23.2 — strong organic demand suppressed by calendar headwind; genuine strength here.
- October (raw +11): Organic +3.5, Calendar +7.5 — half organic recovery, half seasonal timing.
Event shifting note:
May presents the classic "misleading month" risk: headline +4 gain is entirely calendar-driven holiday placement, covering an underlying −11.8 organic loss. Conversely, June's organic +33.2 was dampened by calendar friction, revealing hidden strength in demand.
Talking point:
The summer crisis cannot be blamed on calendar quirks. July and August faced zero calendar tailwind and still lost events organically—suggesting competitive pressure, participant fatigue, or logistics constraints (coach availability, venue scheduling) rather than holiday timing. October's recovery was half-real, half-lucky calendar placement, making it an unreliable baseline for 2026 planning.
Holidays in 2025:
- New Year's: January 1, 2025 (Wed)
- Memorial Day: May 26, 2025 (Mon)
- July 4th: July 4, 2025 (Fri)
- Labor Day: September 1, 2025 (Mon)
- Thanksgiving: November 27, 2025 (Thu)
- Christmas: December 25, 2025 (Thu)
Holidays in 2026:
- New Year's: January 1, 2026 (Thu)
- Memorial Day: May 25, 2026 (Mon)
- July 4th: July 4, 2026 (Sat)
- Labor Day: September 7, 2026 (Mon)
- Thanksgiving: November 26, 2026 (Thu)
- Christmas: December 25, 2026 (Fri)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Step 3: Organic Performance
Key message:
Only youth clinics showed meaningful organic growth; all other segments either stalled or contracted organically. This reveals fundamental demand patterns stripped of calendar noise.
Organic results by type:
- Adult Race: +1.4% organic (Raw +1.4, Calendar 0) — minimal true demand growth; races are mature/saturated.
- Youth Race: −2.8% organic (Raw −4, Calendar +1.2) — underlying softness masked slightly by favorable timing.
- ⚠ Adult Clinic: −11.0% organic (Raw −13, Calendar +2) — severe organic erosion in adult education market.
- ✓ Youth Clinic: +19.4% organic (Raw +17.2, Calendar 0) — genuine, unambiguous demand surge.
Formula:
Organic Demand = Raw Delta − Calendar Effect. This isolates true participation shifts from holiday/weekday artifacts.
Best organic months:
- June: +33.2 organic — exceptional demand surge, undercut by calendar headwinds (−23.2).
- March: +13.4 organic — spring participation rebound, driven primarily by adult races.
- January: +5.75 organic — post-holiday engagement modest but positive.
Worst organic months:
- August: −19 organic — wholesale attrition across youth and adult segments.
- July: −16 organic — sustained summer softness, adult clinic primary drag.
- May: −11.8 organic — hidden weakness masked by calendar boost (+15.8).
Talking point:
The youth-clinic spike is the lone positive organic story; it's not a seasonal mirage. Adult clinics and youth races are both shedding demand, not just calendar allocation. The organization's ability to grow 2026 hinges on reversing the adult-clinic trajectory and stabilizing youth races—both of which require product or market intervention, not scheduling tweaks.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Step 4: Did We Really Lose Events? Event-Level Disposition
Key message:
We replaced losses numerically (100% replacement rate) but with the wrong mix: more youth clinics, fewer adult clinics. Retention was strong at 63%, but attrition of 296 events signals selective segment weakness.
Segment breakdown:
- Retained: 746 events (63% of 2025) — strong core stability in races and some adult clinics.
- Shifted: 123 events — calendar-driven rescheduling; minimal strategic concern.
- Attrited: 296 events (25% of 2025) — genuine cancellations; adult clinics over-represented here.
- New events: 265 events — offsetting new supply, concentrated in youth clinics.
- Recovered: 31 events — prior-year cancellations returning; modest rebound signal.
- Tried to return: 13 events — insufficient to reverse momentum; recovery friction high.
Replacement rates—selected months:
- August (−56 lost, +37 new): 70% replacement rate — heavy attrition, modest recovery.
- November (−7 lost, +2 new): 29% replacement rate — weak replacement depth; severe shortfall.
- June (+10 gain): Organic recovery evident; new cohort formation strong.
Overall:
Gross replacement (265 new ÷ 296 attrited) yields 100% nominal replacement, but the composition mismatch is the real story. We lost 13 adult clinics but added 5 youth clinics—a deliberate or accidental rebalancing with no growth lever engaged.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Step 5: Application Pipeline and Opportunities
Key message:
Applications for youth clinics remain robust, but adult race and clinic applications show concerning softness. The pipeline supports youth growth but flags adult segment pressure.
Application totals:
- Adult Race applications: Strong volume base, but year-over-year momentum flat to slightly positive; conversion pipeline healthy but not expanding.
- Youth Race applications: Modest decline in applications mirrors event-count drop; pipeline weakness preceding participation loss.
- ⚠ Adult Clinic applications: Significant decline in applications; earlier warning signal than event attrition.
- ✓ Youth Clinic applications: Surge in applications outpacing event growth; capacity constraint possible.
In-year comparison:
Adult clinic applications fell in tandem with events (−13), signaling demand-side pressure rather than conversion slippage. Youth clinic applications grew faster than events (+19.4% organic), suggesting we may be capping supply below market demand.
Opportunities:
1. Expand youth clinic capacity and cohort size — applications exceed current offering; scaling can drive revenue.
2. Diagnose adult clinic application decline — interview lost applicants; assess curriculum fit, pricing, or instructor availability.
3. Stabilize youth race application pipeline — modest slide suggests mid-season dropout or age-cohort maturation risk.
4. Reactivate recovered adult race participants — 31 recovery events hint at dormant cohort; targeted re-engagement may unlock pent-up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Step 6: July &amp; August Win-Back Opportunity
Key message:
July and August lost −32 events organically with zero calendar excuse—a genuine participation crisis requiring immediate two-speed action. August is the larger breach; July warrants root-cause analysis.
Disposition:
- July: −16 organic loss, primarily adult clinics (−10 events) and youth races (−6 events); attrition rate 70%.
- August: −19 organic loss, split between youth races (−8 events) and adult clinics (−11 events); attrition rate more severe across segments.
Lost events by type:
- Adult clinics: −21 combined (July −10, August −11) — bulk of clinic erosion concentrated in summer.
- Youth races: −14 combined (July −6, August −8) — junior participation flight during peak season.
- Adult races: Minor loss (−2 combined) — races weather summer better than education programs.
Two-speed action plan:
ACT NOW (the later worst month):
- August is the larger absolute loss (−19 vs. −16). Immediate interventions:
  - Launch emergency retention campaign for August 2026; identify 2025 participants who dropped and offer incentive re-enrollment.
  - Survey youth race families who attrited: competing sports, schedule conflict, or cost sensitivity?
  - Audit adult clinic instructor availability and pricing in July–August; supply-side constraint may be masking demand.
  - Pre-book August 2026 venues and coaches by Q1 to eliminate last-minute cancellations.
DIAGNOSE (the earlier worst month):
- July's −16 loss was less severe but carries diagnostic value. Investigate:
  - Is July a perennial soft month, or is 2025 an anomaly? Multi-year trend analysis required.
  - Adult clinic collapse in July (−10): Is this curriculum-specific, coach-driven, or market-wide summer doldrums?
  - Youth race dip (−6): Does this correlate with school summer break, travel, or competing event density?
  - Interview 10–15 families who canceled or no-showed July 2025 events; specific barriers (logistics, cost, alternative activities) will inform 2026 prevention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5F5F5"/>
          </a:solidFill>
          <a:ln w="12700">
            <a:solidFill>
              <a:srgbClr val="222222"/>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Total events </a:t>
            </a:r>
            <a:pPr indent="0" marL="0">
              <a:buNone/>
            </a:pPr>
            <a:r>
              <a:rPr lang="en-US" sz="1000" dirty="0">
                <a:solidFill>
                  <a:srgbClr val="222222"/>
                </a:solidFill>
                <a:latin typeface="Calibri" pitchFamily="34" charset="0"/>
                <a:ea typeface="Calibri" pitchFamily="34" charset="-122"/>
                <a:cs typeface="Calibri" pitchFamily="34" charset="-120"/>
              </a:rPr>
              <a:t>(Marginal 1% decline masks internal shifts and opportunity.)</a:t>
            </a:r>
            <a:endParaRPr lang="en-US" sz="1000" dirty="0"/>
          </a:p>
        </p:txBody>
      </p:sp>
      <p:sp>
        <p:nvSpPr>
          <p:cNvPr id="8" name="Shape 6"/>
          <p:cNvSpPr/>
          <p:nvPr/>
        </p:nvSpPr>
        <p:spPr>
          <a:xfrm>
            <a:off x="4754880" y="2697480"/>
            <a:ext cx="4114800" cy="548640"/>
          </a:xfrm>
          <a:prstGeom prst="rect">
            <a:avLst/>
          </a:prstGeom>
          <a:solidFill>
            <a:srgbClr val="F5F5F5"/>
          </a:solidFill>
          <a:ln w="12700">
            <a:solidFill>
              <a:srgbClr val="222222"/>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Adult races </a:t>
            </a:r>
            <a:pPr indent="0" marL="0">
              <a:buNone/>
            </a:pPr>
            <a:r>
              <a:rPr lang="en-US" sz="1000" dirty="0">
                <a:solidFill>
                  <a:srgbClr val="222222"/>
                </a:solidFill>
                <a:latin typeface="Calibri" pitchFamily="34" charset="0"/>
                <a:ea typeface="Calibri" pitchFamily="34" charset="-122"/>
                <a:cs typeface="Calibri" pitchFamily="34" charset="-120"/>
              </a:rPr>
              <a:t>(Flat despite organic growth; calendar headwind offset gains.)</a:t>
            </a:r>
            <a:endParaRPr lang="en-US" sz="1000" dirty="0"/>
          </a:p>
        </p:txBody>
      </p:sp>
      <p:sp>
        <p:nvSpPr>
          <p:cNvPr id="10" name="Shape 8"/>
          <p:cNvSpPr/>
          <p:nvPr/>
        </p:nvSpPr>
        <p:spPr>
          <a:xfrm>
            <a:off x="365760" y="3337560"/>
            <a:ext cx="4114800" cy="548640"/>
          </a:xfrm>
          <a:prstGeom prst="rect">
            <a:avLst/>
          </a:prstGeom>
          <a:solidFill>
            <a:srgbClr val="FDECEA"/>
          </a:solidFill>
          <a:ln w="12700">
            <a:solidFill>
              <a:srgbClr val="C62828"/>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 Adult clinics </a:t>
            </a:r>
            <a:pPr indent="0" marL="0">
              <a:buNone/>
            </a:pPr>
            <a:r>
              <a:rPr lang="en-US" sz="1000" dirty="0">
                <a:solidFill>
                  <a:srgbClr val="C62828"/>
                </a:solidFill>
                <a:latin typeface="Calibri" pitchFamily="34" charset="0"/>
                <a:ea typeface="Calibri" pitchFamily="34" charset="-122"/>
                <a:cs typeface="Calibri" pitchFamily="34" charset="-120"/>
              </a:rPr>
              <a:t>(Sharp 13% drop; largest structural loss in portfolio.)</a:t>
            </a:r>
            <a:endParaRPr lang="en-US" sz="1000" dirty="0"/>
          </a:p>
        </p:txBody>
      </p:sp>
      <p:sp>
        <p:nvSpPr>
          <p:cNvPr id="12" name="Shape 10"/>
          <p:cNvSpPr/>
          <p:nvPr/>
        </p:nvSpPr>
        <p:spPr>
          <a:xfrm>
            <a:off x="4754880" y="3337560"/>
            <a:ext cx="4114800" cy="548640"/>
          </a:xfrm>
          <a:prstGeom prst="rect">
            <a:avLst/>
          </a:prstGeom>
          <a:solidFill>
            <a:srgbClr val="E8F5E9"/>
          </a:solidFill>
          <a:ln w="12700">
            <a:solidFill>
              <a:srgbClr val="1E7D34"/>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1E7D34"/>
                </a:solidFill>
                <a:latin typeface="Calibri" pitchFamily="34" charset="0"/>
                <a:ea typeface="Calibri" pitchFamily="34" charset="-122"/>
                <a:cs typeface="Calibri" pitchFamily="34" charset="-120"/>
              </a:rPr>
              <a:t>✓ Youth clinics </a:t>
            </a:r>
            <a:pPr indent="0" marL="0">
              <a:buNone/>
            </a:pPr>
            <a:r>
              <a:rPr lang="en-US" sz="1000" dirty="0">
                <a:solidFill>
                  <a:srgbClr val="1E7D34"/>
                </a:solidFill>
                <a:latin typeface="Calibri" pitchFamily="34" charset="0"/>
                <a:ea typeface="Calibri" pitchFamily="34" charset="-122"/>
                <a:cs typeface="Calibri" pitchFamily="34" charset="-120"/>
              </a:rPr>
              <a:t>(17% surge signals strong program resonance among juniors.)</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Adult clinics collapsed −13% while youth clinics surged +17%, revealing a stark portfolio rebalancing away from adult education. The net −13 event loss masks genuine organic growth in races that was erased by unfavorable calendar placement.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and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and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and August are driven by Youth Race and Adult Race — not clinic-related.</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October (+11) and June (+10) are the strongest months. Both show genuine organic strength plus new event additions.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and August hemorrhaged −35 combined events, driven primarily by youth race attrition and adult clinic cancellations. June and October recovered 21 events, but summer weakness proved decisive in the annual tally.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and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Calendar effects explain roughly −23 of the −35 summer loss, meaning July–August faced genuine demand softness beyond holiday timing. October's +11 gain was entirely calendar-driven, exposing the unreliability of seasonal shifts.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1E7D34"/>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4"/>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1E7D34"/>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1E7D34"/>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Organic demand for adult races grew +1.4%, but youth races dropped −2.8% and adult clinics fell −11%, indicating portfolio attrition in education segments. Only youth clinics showed organic momentum at +19.4%.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We retained 746 events (63% of 2025) while 296 genuinely attrited and 265 were new, yielding a 100% replacement rate on paper but masking segment collapse. November and August exhibited replacement rates of 29% and 70% respectively, signaling inconsistent recovery.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The application pipeline remained robust, but conversion momentum into youth clinics masks weakness in adult education demand. Real opportunity lies in recovering adult clinic applications and rebalancing the portfolio mix.</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and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(−16 organic) and August (−19 organic) are the twin crisis points; August's damage was deeper and more structural. Immediate win-back of lost youth-race participants is urgent, while July's attrition requires root-cause diagnosis.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2026-05-17T15:13:08Z</dcterms:created>
  <dcterms:modified xsi:type="dcterms:W3CDTF">2026-05-17T15:13:08Z</dcterms:modified>
</cp:coreProperties>
</file>